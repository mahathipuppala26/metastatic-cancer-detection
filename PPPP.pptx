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87" r:id="rId5"/>
    <p:sldId id="259" r:id="rId6"/>
    <p:sldId id="260" r:id="rId7"/>
    <p:sldId id="263" r:id="rId8"/>
    <p:sldId id="264" r:id="rId9"/>
    <p:sldId id="266" r:id="rId10"/>
    <p:sldId id="280" r:id="rId11"/>
    <p:sldId id="282" r:id="rId12"/>
    <p:sldId id="273" r:id="rId13"/>
    <p:sldId id="290" r:id="rId14"/>
    <p:sldId id="292" r:id="rId15"/>
    <p:sldId id="274" r:id="rId16"/>
    <p:sldId id="293" r:id="rId17"/>
    <p:sldId id="286" r:id="rId18"/>
    <p:sldId id="294" r:id="rId19"/>
    <p:sldId id="295" r:id="rId20"/>
    <p:sldId id="279" r:id="rId21"/>
    <p:sldId id="296" r:id="rId22"/>
    <p:sldId id="288" r:id="rId23"/>
    <p:sldId id="289" r:id="rId24"/>
  </p:sldIdLst>
  <p:sldSz cx="12192000" cy="6858000"/>
  <p:notesSz cx="6858000" cy="9144000"/>
  <p:embeddedFontLst>
    <p:embeddedFont>
      <p:font typeface="Tahoma" panose="020B0604030504040204" pitchFamily="34" charset="0"/>
      <p:regular r:id="rId26"/>
      <p:bold r:id="rId27"/>
    </p:embeddedFont>
    <p:embeddedFont>
      <p:font typeface="Calibri" panose="020F0502020204030204"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KBACanNtOLeP5rNngF2kEpKg8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21998D0-8782-49B7-B685-5BC57A70C0FD}">
  <a:tblStyle styleId="{D21998D0-8782-49B7-B685-5BC57A70C0F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2F534F7-F204-4C2F-A4B8-F7D2F43E3E65}"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79" d="100"/>
          <a:sy n="79" d="100"/>
        </p:scale>
        <p:origin x="84"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9303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2955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7902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0484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4" name="Google Shape;23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6392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2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8" name="Google Shape;2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3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3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3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4"/>
          <p:cNvSpPr>
            <a:spLocks noGrp="1"/>
          </p:cNvSpPr>
          <p:nvPr>
            <p:ph type="pic" idx="2"/>
          </p:nvPr>
        </p:nvSpPr>
        <p:spPr>
          <a:xfrm>
            <a:off x="5183188" y="987425"/>
            <a:ext cx="6172200" cy="4873625"/>
          </a:xfrm>
          <a:prstGeom prst="rect">
            <a:avLst/>
          </a:prstGeom>
          <a:noFill/>
          <a:ln>
            <a:noFill/>
          </a:ln>
        </p:spPr>
      </p:sp>
      <p:sp>
        <p:nvSpPr>
          <p:cNvPr id="68" name="Google Shape;68;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kaggle.com/datasets/andrewmvd/metastatic-tissue-classification-patchcamelyo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562226" y="1772004"/>
            <a:ext cx="11372850" cy="762000"/>
          </a:xfrm>
          <a:prstGeom prst="rect">
            <a:avLst/>
          </a:prstGeom>
          <a:noFill/>
          <a:ln>
            <a:noFill/>
          </a:ln>
        </p:spPr>
        <p:txBody>
          <a:bodyPr spcFirstLastPara="1" wrap="square" lIns="91425" tIns="45700" rIns="91425" bIns="45700" anchor="ctr" anchorCtr="0">
            <a:noAutofit/>
          </a:bodyPr>
          <a:lstStyle/>
          <a:p>
            <a:pPr lvl="0" algn="ctr">
              <a:buClr>
                <a:srgbClr val="00B050"/>
              </a:buClr>
              <a:buSzPts val="3600"/>
            </a:pPr>
            <a:r>
              <a:rPr lang="en-IN" sz="2800" b="0" i="0" u="none" strike="noStrike" cap="none" dirty="0">
                <a:solidFill>
                  <a:srgbClr val="00B050"/>
                </a:solidFill>
                <a:latin typeface="Times New Roman" panose="02020603050405020304" pitchFamily="18" charset="0"/>
                <a:ea typeface="Times New Roman"/>
                <a:cs typeface="Times New Roman" panose="02020603050405020304" pitchFamily="18" charset="0"/>
                <a:sym typeface="Times New Roman"/>
              </a:rPr>
              <a:t>  </a:t>
            </a:r>
            <a:r>
              <a:rPr lang="en-US" sz="2800" b="1" dirty="0" smtClean="0">
                <a:solidFill>
                  <a:schemeClr val="tx1"/>
                </a:solidFill>
                <a:latin typeface="Times New Roman" panose="02020603050405020304" pitchFamily="18" charset="0"/>
                <a:cs typeface="Times New Roman" panose="02020603050405020304" pitchFamily="18" charset="0"/>
              </a:rPr>
              <a:t>DEEP </a:t>
            </a:r>
            <a:r>
              <a:rPr lang="en-US" sz="2800" b="1" dirty="0">
                <a:solidFill>
                  <a:schemeClr val="tx1"/>
                </a:solidFill>
                <a:latin typeface="Times New Roman" panose="02020603050405020304" pitchFamily="18" charset="0"/>
                <a:cs typeface="Times New Roman" panose="02020603050405020304" pitchFamily="18" charset="0"/>
              </a:rPr>
              <a:t>LEARNING AND TRANSFORMER-BASED APPROACHES FOR METASTATIC CANCER </a:t>
            </a:r>
            <a:r>
              <a:rPr lang="en-US" sz="2800" b="1" dirty="0" smtClean="0">
                <a:solidFill>
                  <a:schemeClr val="tx1"/>
                </a:solidFill>
                <a:latin typeface="Times New Roman" panose="02020603050405020304" pitchFamily="18" charset="0"/>
                <a:cs typeface="Times New Roman" panose="02020603050405020304" pitchFamily="18" charset="0"/>
              </a:rPr>
              <a:t>DETECTION</a:t>
            </a:r>
            <a:endParaRPr sz="2800" b="1" i="0"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89" name="Google Shape;89;p1"/>
          <p:cNvSpPr/>
          <p:nvPr/>
        </p:nvSpPr>
        <p:spPr>
          <a:xfrm>
            <a:off x="2150433" y="3958285"/>
            <a:ext cx="8153401" cy="1752600"/>
          </a:xfrm>
          <a:prstGeom prst="rect">
            <a:avLst/>
          </a:prstGeom>
          <a:noFill/>
          <a:ln>
            <a:noFill/>
          </a:ln>
        </p:spPr>
        <p:txBody>
          <a:bodyPr spcFirstLastPara="1" wrap="square" lIns="91425" tIns="45700" rIns="91425" bIns="45700" anchor="t" anchorCtr="0">
            <a:normAutofit/>
          </a:bodyPr>
          <a:lstStyle/>
          <a:p>
            <a:pPr marL="0" marR="0" lvl="0" indent="0" algn="ctr" rtl="0">
              <a:lnSpc>
                <a:spcPct val="80000"/>
              </a:lnSpc>
              <a:spcBef>
                <a:spcPts val="0"/>
              </a:spcBef>
              <a:spcAft>
                <a:spcPts val="0"/>
              </a:spcAft>
              <a:buClr>
                <a:schemeClr val="dk1"/>
              </a:buClr>
              <a:buSzPts val="3884"/>
              <a:buFont typeface="Arial"/>
              <a:buNone/>
            </a:pPr>
            <a:r>
              <a:rPr lang="en-IN" sz="2800" b="0" i="0" u="none" strike="noStrike" cap="none" dirty="0">
                <a:solidFill>
                  <a:schemeClr val="dk1"/>
                </a:solidFill>
                <a:latin typeface="Times New Roman"/>
                <a:ea typeface="Times New Roman"/>
                <a:cs typeface="Times New Roman"/>
                <a:sym typeface="Times New Roman"/>
              </a:rPr>
              <a:t>PRESENTED BY</a:t>
            </a:r>
            <a:endParaRPr sz="28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80000"/>
              </a:lnSpc>
              <a:spcBef>
                <a:spcPts val="925"/>
              </a:spcBef>
              <a:spcAft>
                <a:spcPts val="0"/>
              </a:spcAft>
              <a:buClr>
                <a:srgbClr val="7030A0"/>
              </a:buClr>
              <a:buSzPts val="4625"/>
              <a:buFont typeface="Arial"/>
              <a:buNone/>
            </a:pPr>
            <a:r>
              <a:rPr lang="en-IN" sz="4625" b="1" i="0" u="none" strike="noStrike" cap="none" dirty="0">
                <a:solidFill>
                  <a:srgbClr val="7030A0"/>
                </a:solidFill>
                <a:latin typeface="Tahoma"/>
                <a:ea typeface="Tahoma"/>
                <a:cs typeface="Tahoma"/>
                <a:sym typeface="Tahoma"/>
              </a:rPr>
              <a:t>  </a:t>
            </a:r>
            <a:r>
              <a:rPr lang="en-IN" sz="2405" b="1" i="0" u="none" strike="noStrike" cap="none" dirty="0">
                <a:solidFill>
                  <a:srgbClr val="7030A0"/>
                </a:solidFill>
                <a:latin typeface="Times New Roman"/>
                <a:ea typeface="Times New Roman"/>
                <a:cs typeface="Times New Roman"/>
                <a:sym typeface="Times New Roman"/>
              </a:rPr>
              <a:t>Ms. Mahathi </a:t>
            </a:r>
            <a:r>
              <a:rPr lang="en-IN" sz="2405" b="1" i="0" u="none" strike="noStrike" cap="none" dirty="0" err="1">
                <a:solidFill>
                  <a:srgbClr val="7030A0"/>
                </a:solidFill>
                <a:latin typeface="Times New Roman"/>
                <a:ea typeface="Times New Roman"/>
                <a:cs typeface="Times New Roman"/>
                <a:sym typeface="Times New Roman"/>
              </a:rPr>
              <a:t>Puppala</a:t>
            </a:r>
            <a:r>
              <a:rPr lang="en-IN" sz="2405" b="1" i="0" u="none" strike="noStrike" cap="none" dirty="0">
                <a:solidFill>
                  <a:srgbClr val="7030A0"/>
                </a:solidFill>
                <a:latin typeface="Times New Roman"/>
                <a:ea typeface="Times New Roman"/>
                <a:cs typeface="Times New Roman"/>
                <a:sym typeface="Times New Roman"/>
              </a:rPr>
              <a:t> (228W1A1252)</a:t>
            </a:r>
            <a:endParaRPr dirty="0"/>
          </a:p>
          <a:p>
            <a:pPr marL="0" marR="0" lvl="0" indent="0" algn="ctr" rtl="0">
              <a:lnSpc>
                <a:spcPct val="80000"/>
              </a:lnSpc>
              <a:spcBef>
                <a:spcPts val="481"/>
              </a:spcBef>
              <a:spcAft>
                <a:spcPts val="0"/>
              </a:spcAft>
              <a:buClr>
                <a:srgbClr val="7030A0"/>
              </a:buClr>
              <a:buSzPts val="2405"/>
              <a:buFont typeface="Arial"/>
              <a:buNone/>
            </a:pPr>
            <a:r>
              <a:rPr lang="en-IN" sz="2405" b="1" i="0" u="none" strike="noStrike" cap="none" dirty="0">
                <a:solidFill>
                  <a:srgbClr val="7030A0"/>
                </a:solidFill>
                <a:latin typeface="Times New Roman"/>
                <a:ea typeface="Times New Roman"/>
                <a:cs typeface="Times New Roman"/>
                <a:sym typeface="Times New Roman"/>
              </a:rPr>
              <a:t>Mr. Kiran Kumar </a:t>
            </a:r>
            <a:r>
              <a:rPr lang="en-IN" sz="2405" b="1" i="0" u="none" strike="noStrike" cap="none" dirty="0" err="1">
                <a:solidFill>
                  <a:srgbClr val="7030A0"/>
                </a:solidFill>
                <a:latin typeface="Times New Roman"/>
                <a:ea typeface="Times New Roman"/>
                <a:cs typeface="Times New Roman"/>
                <a:sym typeface="Times New Roman"/>
              </a:rPr>
              <a:t>Cherukuri</a:t>
            </a:r>
            <a:r>
              <a:rPr lang="en-IN" sz="2405" b="1" i="0" u="none" strike="noStrike" cap="none" dirty="0">
                <a:solidFill>
                  <a:srgbClr val="7030A0"/>
                </a:solidFill>
                <a:latin typeface="Times New Roman"/>
                <a:ea typeface="Times New Roman"/>
                <a:cs typeface="Times New Roman"/>
                <a:sym typeface="Times New Roman"/>
              </a:rPr>
              <a:t> (228W1A1213)</a:t>
            </a:r>
            <a:endParaRPr sz="2405" b="1" i="0" u="none" strike="noStrike" cap="none" dirty="0">
              <a:solidFill>
                <a:srgbClr val="7030A0"/>
              </a:solidFill>
              <a:latin typeface="Times New Roman"/>
              <a:ea typeface="Times New Roman"/>
              <a:cs typeface="Times New Roman"/>
              <a:sym typeface="Times New Roman"/>
            </a:endParaRPr>
          </a:p>
          <a:p>
            <a:pPr marL="0" marR="0" lvl="0" indent="0" algn="ctr" rtl="0">
              <a:lnSpc>
                <a:spcPct val="80000"/>
              </a:lnSpc>
              <a:spcBef>
                <a:spcPts val="592"/>
              </a:spcBef>
              <a:spcAft>
                <a:spcPts val="0"/>
              </a:spcAft>
              <a:buClr>
                <a:srgbClr val="888888"/>
              </a:buClr>
              <a:buSzPts val="2960"/>
              <a:buFont typeface="Arial"/>
              <a:buNone/>
            </a:pPr>
            <a:endParaRPr sz="2960" b="1" i="0" u="none" strike="noStrike" cap="none" dirty="0">
              <a:solidFill>
                <a:srgbClr val="7030A0"/>
              </a:solidFill>
              <a:latin typeface="Tahoma"/>
              <a:ea typeface="Tahoma"/>
              <a:cs typeface="Tahoma"/>
              <a:sym typeface="Tahoma"/>
            </a:endParaRPr>
          </a:p>
          <a:p>
            <a:pPr marL="0" marR="0" lvl="0" indent="0" algn="ctr" rtl="0">
              <a:lnSpc>
                <a:spcPct val="80000"/>
              </a:lnSpc>
              <a:spcBef>
                <a:spcPts val="592"/>
              </a:spcBef>
              <a:spcAft>
                <a:spcPts val="0"/>
              </a:spcAft>
              <a:buClr>
                <a:srgbClr val="888888"/>
              </a:buClr>
              <a:buSzPts val="2960"/>
              <a:buFont typeface="Arial"/>
              <a:buNone/>
            </a:pPr>
            <a:endParaRPr sz="2960" b="0" i="0" u="none" strike="noStrike" cap="none" dirty="0">
              <a:solidFill>
                <a:srgbClr val="888888"/>
              </a:solidFill>
              <a:latin typeface="Calibri"/>
              <a:ea typeface="Calibri"/>
              <a:cs typeface="Calibri"/>
              <a:sym typeface="Calibri"/>
            </a:endParaRPr>
          </a:p>
        </p:txBody>
      </p:sp>
      <p:pic>
        <p:nvPicPr>
          <p:cNvPr id="90" name="Google Shape;90;p1"/>
          <p:cNvPicPr preferRelativeResize="0"/>
          <p:nvPr/>
        </p:nvPicPr>
        <p:blipFill rotWithShape="1">
          <a:blip r:embed="rId3">
            <a:alphaModFix/>
          </a:blip>
          <a:srcRect/>
          <a:stretch/>
        </p:blipFill>
        <p:spPr>
          <a:xfrm>
            <a:off x="205894" y="54645"/>
            <a:ext cx="1944539" cy="1372621"/>
          </a:xfrm>
          <a:prstGeom prst="rect">
            <a:avLst/>
          </a:prstGeom>
          <a:noFill/>
          <a:ln>
            <a:noFill/>
          </a:ln>
        </p:spPr>
      </p:pic>
      <p:pic>
        <p:nvPicPr>
          <p:cNvPr id="91" name="Google Shape;91;p1" descr="Image result for vrsec"/>
          <p:cNvPicPr preferRelativeResize="0"/>
          <p:nvPr/>
        </p:nvPicPr>
        <p:blipFill rotWithShape="1">
          <a:blip r:embed="rId4">
            <a:alphaModFix/>
          </a:blip>
          <a:srcRect/>
          <a:stretch/>
        </p:blipFill>
        <p:spPr>
          <a:xfrm>
            <a:off x="10612685" y="0"/>
            <a:ext cx="1299008" cy="1411823"/>
          </a:xfrm>
          <a:prstGeom prst="rect">
            <a:avLst/>
          </a:prstGeom>
          <a:noFill/>
          <a:ln>
            <a:noFill/>
          </a:ln>
        </p:spPr>
      </p:pic>
      <p:sp>
        <p:nvSpPr>
          <p:cNvPr id="92" name="Google Shape;92;p1"/>
          <p:cNvSpPr txBox="1"/>
          <p:nvPr/>
        </p:nvSpPr>
        <p:spPr>
          <a:xfrm>
            <a:off x="2981075" y="333892"/>
            <a:ext cx="6210802" cy="881968"/>
          </a:xfrm>
          <a:prstGeom prst="rect">
            <a:avLst/>
          </a:prstGeom>
          <a:noFill/>
          <a:ln>
            <a:noFill/>
          </a:ln>
        </p:spPr>
        <p:txBody>
          <a:bodyPr spcFirstLastPara="1" wrap="square" lIns="19975" tIns="9975" rIns="19975" bIns="9975" anchor="t" anchorCtr="0">
            <a:spAutoFit/>
          </a:bodyPr>
          <a:lstStyle/>
          <a:p>
            <a:pPr marL="0" marR="0" lvl="0" indent="0" algn="ctr" rtl="0">
              <a:spcBef>
                <a:spcPts val="0"/>
              </a:spcBef>
              <a:spcAft>
                <a:spcPts val="0"/>
              </a:spcAft>
              <a:buNone/>
            </a:pPr>
            <a:r>
              <a:rPr lang="en-IN" sz="2800" b="1" i="0" u="none" strike="noStrike" cap="none">
                <a:solidFill>
                  <a:srgbClr val="0000FF"/>
                </a:solidFill>
                <a:latin typeface="Times New Roman"/>
                <a:ea typeface="Times New Roman"/>
                <a:cs typeface="Times New Roman"/>
                <a:sym typeface="Times New Roman"/>
              </a:rPr>
              <a:t>Department of Information Technology</a:t>
            </a:r>
            <a:endParaRPr/>
          </a:p>
          <a:p>
            <a:pPr marL="0" marR="0" lvl="0" indent="0" algn="ctr" rtl="0">
              <a:spcBef>
                <a:spcPts val="0"/>
              </a:spcBef>
              <a:spcAft>
                <a:spcPts val="0"/>
              </a:spcAft>
              <a:buNone/>
            </a:pPr>
            <a:r>
              <a:rPr lang="en-IN" sz="2800" b="1" i="0" u="none" strike="noStrike" cap="none">
                <a:solidFill>
                  <a:srgbClr val="FF0000"/>
                </a:solidFill>
                <a:latin typeface="Times New Roman"/>
                <a:ea typeface="Times New Roman"/>
                <a:cs typeface="Times New Roman"/>
                <a:sym typeface="Times New Roman"/>
              </a:rPr>
              <a:t>V R Siddhartha Engineering College </a:t>
            </a:r>
            <a:endParaRPr/>
          </a:p>
        </p:txBody>
      </p:sp>
      <p:sp>
        <p:nvSpPr>
          <p:cNvPr id="93" name="Google Shape;93;p1"/>
          <p:cNvSpPr txBox="1"/>
          <p:nvPr/>
        </p:nvSpPr>
        <p:spPr>
          <a:xfrm>
            <a:off x="2715490" y="3038167"/>
            <a:ext cx="6334505" cy="707846"/>
          </a:xfrm>
          <a:prstGeom prst="rect">
            <a:avLst/>
          </a:prstGeom>
          <a:noFill/>
          <a:ln>
            <a:noFill/>
          </a:ln>
        </p:spPr>
        <p:txBody>
          <a:bodyPr spcFirstLastPara="1" wrap="square" lIns="91425" tIns="45700" rIns="91425" bIns="45700" anchor="t" anchorCtr="0">
            <a:spAutoFit/>
          </a:bodyPr>
          <a:lstStyle/>
          <a:p>
            <a:pPr algn="ctr"/>
            <a:r>
              <a:rPr lang="en-US" sz="2000" b="1" dirty="0">
                <a:solidFill>
                  <a:srgbClr val="FF0000"/>
                </a:solidFill>
                <a:latin typeface="Times New Roman"/>
                <a:ea typeface="Times New Roman"/>
                <a:cs typeface="Times New Roman"/>
                <a:sym typeface="Times New Roman"/>
              </a:rPr>
              <a:t>Bachelor of Technology in Information Technology</a:t>
            </a:r>
            <a:endParaRPr lang="en-US" sz="20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IN" sz="2000" b="1" i="0" u="none" strike="noStrike" cap="none" dirty="0" smtClean="0">
                <a:solidFill>
                  <a:srgbClr val="BF11A6"/>
                </a:solidFill>
                <a:latin typeface="Times New Roman"/>
                <a:ea typeface="Times New Roman"/>
                <a:cs typeface="Times New Roman"/>
                <a:sym typeface="Times New Roman"/>
              </a:rPr>
              <a:t>MAJOR </a:t>
            </a:r>
            <a:r>
              <a:rPr lang="en-IN" sz="2000" b="1" i="0" u="none" strike="noStrike" cap="none" dirty="0">
                <a:solidFill>
                  <a:srgbClr val="BF11A6"/>
                </a:solidFill>
                <a:latin typeface="Times New Roman"/>
                <a:ea typeface="Times New Roman"/>
                <a:cs typeface="Times New Roman"/>
                <a:sym typeface="Times New Roman"/>
              </a:rPr>
              <a:t>Project Review Presentation</a:t>
            </a:r>
            <a:endParaRPr dirty="0"/>
          </a:p>
        </p:txBody>
      </p:sp>
      <p:sp>
        <p:nvSpPr>
          <p:cNvPr id="94" name="Google Shape;94;p1"/>
          <p:cNvSpPr/>
          <p:nvPr/>
        </p:nvSpPr>
        <p:spPr>
          <a:xfrm>
            <a:off x="3941131" y="5710885"/>
            <a:ext cx="4615040" cy="113877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chemeClr val="dk1"/>
                </a:solidFill>
                <a:latin typeface="Times New Roman"/>
                <a:ea typeface="Times New Roman"/>
                <a:cs typeface="Times New Roman"/>
                <a:sym typeface="Times New Roman"/>
              </a:rPr>
              <a:t>Under the guidance of </a:t>
            </a:r>
            <a:endParaRPr/>
          </a:p>
          <a:p>
            <a:pPr marL="0" marR="0" lvl="0" indent="0" algn="ctr" rtl="0">
              <a:spcBef>
                <a:spcPts val="0"/>
              </a:spcBef>
              <a:spcAft>
                <a:spcPts val="0"/>
              </a:spcAft>
              <a:buNone/>
            </a:pPr>
            <a:r>
              <a:rPr lang="en-IN" sz="2400" b="0" i="0" u="none" strike="noStrike" cap="none">
                <a:solidFill>
                  <a:schemeClr val="dk1"/>
                </a:solidFill>
                <a:latin typeface="Times New Roman"/>
                <a:ea typeface="Times New Roman"/>
                <a:cs typeface="Times New Roman"/>
                <a:sym typeface="Times New Roman"/>
              </a:rPr>
              <a:t> </a:t>
            </a:r>
            <a:r>
              <a:rPr lang="en-IN" sz="2000" b="1" i="0" u="none" strike="noStrike" cap="none">
                <a:solidFill>
                  <a:srgbClr val="FF0000"/>
                </a:solidFill>
                <a:latin typeface="Times New Roman"/>
                <a:ea typeface="Times New Roman"/>
                <a:cs typeface="Times New Roman"/>
                <a:sym typeface="Times New Roman"/>
              </a:rPr>
              <a:t>Dr.T.ANURADHA</a:t>
            </a:r>
            <a:endParaRPr sz="2000" b="1" i="0" u="none" strike="noStrike" cap="none">
              <a:solidFill>
                <a:srgbClr val="FF0000"/>
              </a:solidFill>
              <a:latin typeface="Times New Roman"/>
              <a:ea typeface="Times New Roman"/>
              <a:cs typeface="Times New Roman"/>
              <a:sym typeface="Times New Roman"/>
            </a:endParaRPr>
          </a:p>
          <a:p>
            <a:pPr marL="0" marR="0" lvl="0" indent="0" algn="ctr" rtl="0">
              <a:spcBef>
                <a:spcPts val="0"/>
              </a:spcBef>
              <a:spcAft>
                <a:spcPts val="0"/>
              </a:spcAft>
              <a:buNone/>
            </a:pPr>
            <a:r>
              <a:rPr lang="en-IN" sz="2000" b="1" i="0" u="none" strike="noStrike" cap="none">
                <a:solidFill>
                  <a:srgbClr val="FF0000"/>
                </a:solidFill>
                <a:latin typeface="Times New Roman"/>
                <a:ea typeface="Times New Roman"/>
                <a:cs typeface="Times New Roman"/>
                <a:sym typeface="Times New Roman"/>
              </a:rPr>
              <a:t>PROFESSOR</a:t>
            </a:r>
            <a:endParaRPr sz="2000" b="1" i="0" u="none" strike="noStrike" cap="none">
              <a:solidFill>
                <a:srgbClr val="FF000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3530931" y="0"/>
            <a:ext cx="5695361" cy="78048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Times New Roman"/>
              <a:buNone/>
            </a:pPr>
            <a:r>
              <a:rPr lang="en-IN" sz="3200" b="1" dirty="0" smtClean="0">
                <a:latin typeface="Times New Roman"/>
                <a:ea typeface="Times New Roman"/>
                <a:cs typeface="Times New Roman"/>
                <a:sym typeface="Times New Roman"/>
              </a:rPr>
              <a:t>AGENDA</a:t>
            </a:r>
            <a:endParaRPr sz="3200" b="1" dirty="0"/>
          </a:p>
        </p:txBody>
      </p:sp>
      <p:sp>
        <p:nvSpPr>
          <p:cNvPr id="100" name="Google Shape;100;p2"/>
          <p:cNvSpPr txBox="1">
            <a:spLocks noGrp="1"/>
          </p:cNvSpPr>
          <p:nvPr>
            <p:ph type="body" idx="1"/>
          </p:nvPr>
        </p:nvSpPr>
        <p:spPr>
          <a:xfrm>
            <a:off x="476373" y="-183153"/>
            <a:ext cx="11390722" cy="4319332"/>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000"/>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228600" indent="-228600" algn="just">
              <a:lnSpc>
                <a:spcPct val="150000"/>
              </a:lnSpc>
              <a:buSzPts val="2000"/>
              <a:buFont typeface="Courier New"/>
              <a:buChar char="o"/>
            </a:pPr>
            <a:r>
              <a:rPr lang="en-US" sz="2000" dirty="0">
                <a:latin typeface="Times New Roman" panose="02020603050405020304" pitchFamily="18" charset="0"/>
                <a:ea typeface="Times New Roman"/>
                <a:cs typeface="Times New Roman" panose="02020603050405020304" pitchFamily="18" charset="0"/>
                <a:sym typeface="Times New Roman"/>
              </a:rPr>
              <a:t>Introduction and Problem statement</a:t>
            </a:r>
          </a:p>
          <a:p>
            <a:pPr marL="228600" lvl="0" indent="-228600" algn="just" rtl="0">
              <a:lnSpc>
                <a:spcPct val="150000"/>
              </a:lnSpc>
              <a:spcBef>
                <a:spcPts val="1000"/>
              </a:spcBef>
              <a:spcAft>
                <a:spcPts val="0"/>
              </a:spcAft>
              <a:buClr>
                <a:schemeClr val="dk1"/>
              </a:buClr>
              <a:buSzPts val="2000"/>
              <a:buFont typeface="Courier New"/>
              <a:buChar char="o"/>
            </a:pPr>
            <a:r>
              <a:rPr lang="en-IN" sz="2000" dirty="0" smtClean="0">
                <a:latin typeface="Times New Roman" panose="02020603050405020304" pitchFamily="18" charset="0"/>
                <a:ea typeface="Times New Roman"/>
                <a:cs typeface="Times New Roman" panose="02020603050405020304" pitchFamily="18" charset="0"/>
                <a:sym typeface="Times New Roman"/>
              </a:rPr>
              <a:t>Objectives </a:t>
            </a:r>
            <a:r>
              <a:rPr lang="en-IN" sz="2000" dirty="0">
                <a:latin typeface="Times New Roman" panose="02020603050405020304" pitchFamily="18" charset="0"/>
                <a:ea typeface="Times New Roman"/>
                <a:cs typeface="Times New Roman" panose="02020603050405020304" pitchFamily="18" charset="0"/>
                <a:sym typeface="Times New Roman"/>
              </a:rPr>
              <a:t>and </a:t>
            </a:r>
            <a:r>
              <a:rPr lang="en-IN" sz="2000" dirty="0" smtClean="0">
                <a:latin typeface="Times New Roman" panose="02020603050405020304" pitchFamily="18" charset="0"/>
                <a:ea typeface="Times New Roman"/>
                <a:cs typeface="Times New Roman" panose="02020603050405020304" pitchFamily="18" charset="0"/>
                <a:sym typeface="Times New Roman"/>
              </a:rPr>
              <a:t>Outcomes </a:t>
            </a:r>
            <a:r>
              <a:rPr lang="en-IN" sz="2000" dirty="0">
                <a:latin typeface="Times New Roman" panose="02020603050405020304" pitchFamily="18" charset="0"/>
                <a:ea typeface="Times New Roman"/>
                <a:cs typeface="Times New Roman" panose="02020603050405020304" pitchFamily="18" charset="0"/>
                <a:sym typeface="Times New Roman"/>
              </a:rPr>
              <a:t>of the project</a:t>
            </a:r>
            <a:endParaRPr sz="2000" dirty="0">
              <a:latin typeface="Times New Roman" panose="02020603050405020304" pitchFamily="18" charset="0"/>
              <a:ea typeface="Times New Roman"/>
              <a:cs typeface="Times New Roman" panose="02020603050405020304" pitchFamily="18" charset="0"/>
              <a:sym typeface="Times New Roman"/>
            </a:endParaRPr>
          </a:p>
          <a:p>
            <a:pPr marL="228600" lvl="0" indent="-228600" algn="just">
              <a:lnSpc>
                <a:spcPct val="150000"/>
              </a:lnSpc>
              <a:buSzPts val="2000"/>
              <a:buFont typeface="Courier New"/>
              <a:buChar char="o"/>
            </a:pPr>
            <a:r>
              <a:rPr lang="en-IN" sz="2000" dirty="0">
                <a:latin typeface="Times New Roman" panose="02020603050405020304" pitchFamily="18" charset="0"/>
                <a:ea typeface="Times New Roman"/>
                <a:cs typeface="Times New Roman" panose="02020603050405020304" pitchFamily="18" charset="0"/>
                <a:sym typeface="Times New Roman"/>
              </a:rPr>
              <a:t>Literature </a:t>
            </a:r>
            <a:r>
              <a:rPr lang="en-IN" sz="2000" dirty="0" smtClean="0">
                <a:latin typeface="Times New Roman" panose="02020603050405020304" pitchFamily="18" charset="0"/>
                <a:ea typeface="Times New Roman"/>
                <a:cs typeface="Times New Roman" panose="02020603050405020304" pitchFamily="18" charset="0"/>
                <a:sym typeface="Times New Roman"/>
              </a:rPr>
              <a:t>Review </a:t>
            </a:r>
            <a:r>
              <a:rPr lang="en-IN" sz="2000" dirty="0">
                <a:latin typeface="Times New Roman" panose="02020603050405020304" pitchFamily="18" charset="0"/>
                <a:ea typeface="Times New Roman"/>
                <a:cs typeface="Times New Roman" panose="02020603050405020304" pitchFamily="18" charset="0"/>
                <a:sym typeface="Times New Roman"/>
              </a:rPr>
              <a:t>and S</a:t>
            </a:r>
            <a:r>
              <a:rPr lang="en-IN" sz="2000" dirty="0" smtClean="0">
                <a:latin typeface="Times New Roman" panose="02020603050405020304" pitchFamily="18" charset="0"/>
                <a:ea typeface="Times New Roman"/>
                <a:cs typeface="Times New Roman" panose="02020603050405020304" pitchFamily="18" charset="0"/>
                <a:sym typeface="Times New Roman"/>
              </a:rPr>
              <a:t>ummary</a:t>
            </a:r>
            <a:endParaRPr sz="2000"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chemeClr val="dk1"/>
              </a:buClr>
              <a:buSzPts val="2000"/>
              <a:buFont typeface="Courier New"/>
              <a:buChar char="o"/>
            </a:pPr>
            <a:r>
              <a:rPr lang="en-IN" sz="2000" dirty="0">
                <a:latin typeface="Times New Roman" panose="02020603050405020304" pitchFamily="18" charset="0"/>
                <a:ea typeface="Times New Roman"/>
                <a:cs typeface="Times New Roman" panose="02020603050405020304" pitchFamily="18" charset="0"/>
                <a:sym typeface="Times New Roman"/>
              </a:rPr>
              <a:t>Datasets and </a:t>
            </a:r>
            <a:r>
              <a:rPr lang="en-IN" sz="2000" dirty="0" smtClean="0">
                <a:latin typeface="Times New Roman" panose="02020603050405020304" pitchFamily="18" charset="0"/>
                <a:ea typeface="Times New Roman"/>
                <a:cs typeface="Times New Roman" panose="02020603050405020304" pitchFamily="18" charset="0"/>
                <a:sym typeface="Times New Roman"/>
              </a:rPr>
              <a:t>Requirements </a:t>
            </a:r>
            <a:endParaRPr sz="2000" dirty="0">
              <a:latin typeface="Times New Roman" panose="02020603050405020304" pitchFamily="18" charset="0"/>
              <a:cs typeface="Times New Roman" panose="02020603050405020304" pitchFamily="18" charset="0"/>
            </a:endParaRPr>
          </a:p>
          <a:p>
            <a:pPr marL="228600" lvl="0" indent="-228600" algn="just">
              <a:lnSpc>
                <a:spcPct val="150000"/>
              </a:lnSpc>
              <a:buSzPts val="2000"/>
              <a:buFont typeface="Courier New"/>
              <a:buChar char="o"/>
            </a:pPr>
            <a:r>
              <a:rPr lang="en-US" sz="2000" dirty="0">
                <a:latin typeface="Times New Roman" panose="02020603050405020304" pitchFamily="18" charset="0"/>
                <a:cs typeface="Times New Roman" panose="02020603050405020304" pitchFamily="18" charset="0"/>
              </a:rPr>
              <a:t>Algorithms used </a:t>
            </a:r>
            <a:endParaRPr lang="en-US" sz="2000" dirty="0" smtClean="0">
              <a:latin typeface="Times New Roman" panose="02020603050405020304" pitchFamily="18" charset="0"/>
              <a:cs typeface="Times New Roman" panose="02020603050405020304" pitchFamily="18" charset="0"/>
            </a:endParaRPr>
          </a:p>
          <a:p>
            <a:pPr marL="228600" lvl="0" indent="-228600" algn="just">
              <a:lnSpc>
                <a:spcPct val="150000"/>
              </a:lnSpc>
              <a:buSzPts val="2000"/>
              <a:buFont typeface="Courier New"/>
              <a:buChar char="o"/>
            </a:pPr>
            <a:r>
              <a:rPr lang="en-IN" sz="2000" dirty="0" smtClean="0">
                <a:latin typeface="Times New Roman" panose="02020603050405020304" pitchFamily="18" charset="0"/>
                <a:ea typeface="Times New Roman"/>
                <a:cs typeface="Times New Roman" panose="02020603050405020304" pitchFamily="18" charset="0"/>
                <a:sym typeface="Times New Roman"/>
              </a:rPr>
              <a:t>Architecture </a:t>
            </a:r>
            <a:r>
              <a:rPr lang="en-IN" sz="2000" dirty="0">
                <a:latin typeface="Times New Roman" panose="02020603050405020304" pitchFamily="18" charset="0"/>
                <a:ea typeface="Times New Roman"/>
                <a:cs typeface="Times New Roman" panose="02020603050405020304" pitchFamily="18" charset="0"/>
                <a:sym typeface="Times New Roman"/>
              </a:rPr>
              <a:t>Diagram </a:t>
            </a:r>
            <a:endParaRPr lang="en-IN" sz="2000" dirty="0" smtClean="0">
              <a:latin typeface="Times New Roman" panose="02020603050405020304" pitchFamily="18" charset="0"/>
              <a:ea typeface="Times New Roman"/>
              <a:cs typeface="Times New Roman" panose="02020603050405020304" pitchFamily="18" charset="0"/>
              <a:sym typeface="Times New Roman"/>
            </a:endParaRPr>
          </a:p>
          <a:p>
            <a:pPr marL="228600" indent="-228600" algn="just">
              <a:lnSpc>
                <a:spcPct val="150000"/>
              </a:lnSpc>
              <a:buSzPts val="2000"/>
              <a:buFont typeface="Courier New"/>
              <a:buChar char="o"/>
            </a:pPr>
            <a:r>
              <a:rPr lang="en-US" sz="2000" dirty="0">
                <a:latin typeface="Times New Roman" panose="02020603050405020304" pitchFamily="18" charset="0"/>
                <a:ea typeface="Times New Roman"/>
                <a:cs typeface="Times New Roman" panose="02020603050405020304" pitchFamily="18" charset="0"/>
                <a:sym typeface="Times New Roman"/>
              </a:rPr>
              <a:t>Implementation Steps and </a:t>
            </a:r>
            <a:r>
              <a:rPr lang="en-US" sz="2000" dirty="0" smtClean="0">
                <a:latin typeface="Times New Roman" panose="02020603050405020304" pitchFamily="18" charset="0"/>
                <a:ea typeface="Times New Roman"/>
                <a:cs typeface="Times New Roman" panose="02020603050405020304" pitchFamily="18" charset="0"/>
                <a:sym typeface="Times New Roman"/>
              </a:rPr>
              <a:t>Execution</a:t>
            </a:r>
            <a:endParaRPr sz="2000"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chemeClr val="dk1"/>
              </a:buClr>
              <a:buSzPts val="2000"/>
              <a:buFont typeface="Courier New"/>
              <a:buChar char="o"/>
            </a:pPr>
            <a:r>
              <a:rPr lang="en-IN" sz="2000" dirty="0">
                <a:latin typeface="Times New Roman" panose="02020603050405020304" pitchFamily="18" charset="0"/>
                <a:ea typeface="Times New Roman"/>
                <a:cs typeface="Times New Roman" panose="02020603050405020304" pitchFamily="18" charset="0"/>
                <a:sym typeface="Times New Roman"/>
              </a:rPr>
              <a:t>Results </a:t>
            </a:r>
            <a:r>
              <a:rPr lang="en-IN" sz="2000" dirty="0" smtClean="0">
                <a:latin typeface="Times New Roman" panose="02020603050405020304" pitchFamily="18" charset="0"/>
                <a:ea typeface="Times New Roman"/>
                <a:cs typeface="Times New Roman" panose="02020603050405020304" pitchFamily="18" charset="0"/>
                <a:sym typeface="Times New Roman"/>
              </a:rPr>
              <a:t>obtained</a:t>
            </a:r>
          </a:p>
          <a:p>
            <a:pPr marL="228600" lvl="0" indent="-228600" algn="just">
              <a:lnSpc>
                <a:spcPct val="150000"/>
              </a:lnSpc>
              <a:buSzPts val="2000"/>
              <a:buFont typeface="Courier New"/>
              <a:buChar char="o"/>
            </a:pPr>
            <a:r>
              <a:rPr lang="en-US" sz="2000" dirty="0" smtClean="0">
                <a:latin typeface="Times New Roman" panose="02020603050405020304" pitchFamily="18" charset="0"/>
                <a:cs typeface="Times New Roman" panose="02020603050405020304" pitchFamily="18" charset="0"/>
                <a:sym typeface="Times New Roman"/>
              </a:rPr>
              <a:t>Result Analysis</a:t>
            </a:r>
          </a:p>
          <a:p>
            <a:pPr marL="228600" indent="-228600" algn="just">
              <a:lnSpc>
                <a:spcPct val="150000"/>
              </a:lnSpc>
              <a:buSzPts val="2000"/>
              <a:buFont typeface="Courier New"/>
              <a:buChar char="o"/>
            </a:pPr>
            <a:r>
              <a:rPr lang="en-US" sz="2000" dirty="0" smtClean="0">
                <a:latin typeface="Times New Roman" panose="02020603050405020304" pitchFamily="18" charset="0"/>
                <a:cs typeface="Times New Roman" panose="02020603050405020304" pitchFamily="18" charset="0"/>
              </a:rPr>
              <a:t>Conclusion &amp; Future Work</a:t>
            </a:r>
            <a:endParaRPr sz="2000"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chemeClr val="dk1"/>
              </a:buClr>
              <a:buSzPts val="2000"/>
              <a:buFont typeface="Courier New"/>
              <a:buChar char="o"/>
            </a:pPr>
            <a:r>
              <a:rPr lang="en-IN" sz="2000" dirty="0">
                <a:latin typeface="Times New Roman" panose="02020603050405020304" pitchFamily="18" charset="0"/>
                <a:ea typeface="Times New Roman"/>
                <a:cs typeface="Times New Roman" panose="02020603050405020304" pitchFamily="18" charset="0"/>
                <a:sym typeface="Times New Roman"/>
              </a:rPr>
              <a:t>References</a:t>
            </a:r>
            <a:endParaRPr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945807" y="181484"/>
            <a:ext cx="9537300" cy="840000"/>
          </a:xfrm>
          <a:prstGeom prst="rect">
            <a:avLst/>
          </a:prstGeom>
          <a:noFill/>
          <a:ln>
            <a:noFill/>
          </a:ln>
        </p:spPr>
        <p:txBody>
          <a:bodyPr spcFirstLastPara="1" wrap="square" lIns="91425" tIns="45700" rIns="91425" bIns="45700" anchor="ctr" anchorCtr="0">
            <a:normAutofit/>
          </a:bodyPr>
          <a:lstStyle/>
          <a:p>
            <a:pPr lvl="0" algn="ctr">
              <a:buSzPts val="2800"/>
            </a:pPr>
            <a:r>
              <a:rPr lang="en-IN" sz="3200" b="1" dirty="0">
                <a:latin typeface="Times New Roman"/>
                <a:ea typeface="Times New Roman"/>
                <a:cs typeface="Times New Roman"/>
                <a:sym typeface="Times New Roman"/>
              </a:rPr>
              <a:t>INTRODUCTION</a:t>
            </a:r>
            <a:endParaRPr sz="3200" b="1" dirty="0">
              <a:latin typeface="Times New Roman"/>
              <a:ea typeface="Times New Roman"/>
              <a:cs typeface="Times New Roman"/>
              <a:sym typeface="Times New Roman"/>
            </a:endParaRPr>
          </a:p>
        </p:txBody>
      </p:sp>
      <p:sp>
        <p:nvSpPr>
          <p:cNvPr id="106" name="Google Shape;106;p3"/>
          <p:cNvSpPr txBox="1">
            <a:spLocks noGrp="1"/>
          </p:cNvSpPr>
          <p:nvPr>
            <p:ph type="body" idx="1"/>
          </p:nvPr>
        </p:nvSpPr>
        <p:spPr>
          <a:xfrm>
            <a:off x="436255" y="1216077"/>
            <a:ext cx="10881000" cy="4760237"/>
          </a:xfrm>
          <a:prstGeom prst="rect">
            <a:avLst/>
          </a:prstGeom>
          <a:noFill/>
          <a:ln>
            <a:noFill/>
          </a:ln>
        </p:spPr>
        <p:txBody>
          <a:bodyPr spcFirstLastPara="1" wrap="square" lIns="91425" tIns="45700" rIns="91425" bIns="45700" anchor="ctr" anchorCtr="0">
            <a:spAutoFit/>
          </a:bodyPr>
          <a:lstStyle/>
          <a:p>
            <a:pPr marL="0" lvl="0" indent="0" algn="just">
              <a:lnSpc>
                <a:spcPct val="150000"/>
              </a:lnSpc>
              <a:spcBef>
                <a:spcPts val="0"/>
              </a:spcBef>
              <a:buSzPts val="2000"/>
              <a:buNone/>
            </a:pPr>
            <a:r>
              <a:rPr lang="en-IN"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Metastatic </a:t>
            </a:r>
            <a:r>
              <a:rPr lang="en-US" sz="2000" dirty="0">
                <a:latin typeface="Times New Roman"/>
                <a:ea typeface="Times New Roman"/>
                <a:cs typeface="Times New Roman"/>
                <a:sym typeface="Times New Roman"/>
              </a:rPr>
              <a:t>cancer is a dangerous disease in which cancer spreads from its main site to other parts of the body, often through lymph nodes</a:t>
            </a:r>
            <a:r>
              <a:rPr lang="en-US" sz="2000" dirty="0" smtClean="0">
                <a:latin typeface="Times New Roman"/>
                <a:ea typeface="Times New Roman"/>
                <a:cs typeface="Times New Roman"/>
                <a:sym typeface="Times New Roman"/>
              </a:rPr>
              <a:t>.</a:t>
            </a:r>
            <a:endParaRPr sz="2000" dirty="0">
              <a:latin typeface="Times New Roman"/>
              <a:ea typeface="Times New Roman"/>
              <a:cs typeface="Times New Roman"/>
              <a:sym typeface="Times New Roman"/>
            </a:endParaRPr>
          </a:p>
          <a:p>
            <a:pPr marL="0" lvl="0" indent="0" algn="just">
              <a:lnSpc>
                <a:spcPct val="150000"/>
              </a:lnSpc>
              <a:buSzPts val="2000"/>
              <a:buNone/>
            </a:pPr>
            <a:r>
              <a:rPr lang="en-IN" sz="2000" dirty="0" smtClean="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Histopathology </a:t>
            </a:r>
            <a:r>
              <a:rPr lang="en-US" sz="2000" dirty="0">
                <a:latin typeface="Times New Roman"/>
                <a:ea typeface="Times New Roman"/>
                <a:cs typeface="Times New Roman"/>
                <a:sym typeface="Times New Roman"/>
              </a:rPr>
              <a:t>image analysis is very important for finding cancer early on</a:t>
            </a:r>
            <a:r>
              <a:rPr lang="en-US" sz="2000" dirty="0" smtClean="0">
                <a:latin typeface="Times New Roman"/>
                <a:ea typeface="Times New Roman"/>
                <a:cs typeface="Times New Roman"/>
                <a:sym typeface="Times New Roman"/>
              </a:rPr>
              <a:t>.</a:t>
            </a:r>
            <a:endParaRPr sz="2000" dirty="0">
              <a:latin typeface="Times New Roman"/>
              <a:ea typeface="Times New Roman"/>
              <a:cs typeface="Times New Roman"/>
              <a:sym typeface="Times New Roman"/>
            </a:endParaRPr>
          </a:p>
          <a:p>
            <a:pPr marL="0" lvl="0" indent="0" algn="just">
              <a:lnSpc>
                <a:spcPct val="150000"/>
              </a:lnSpc>
              <a:buSzPts val="2000"/>
              <a:buNone/>
            </a:pPr>
            <a:r>
              <a:rPr lang="en-IN" sz="2000" dirty="0" smtClean="0">
                <a:latin typeface="Times New Roman"/>
                <a:ea typeface="Times New Roman"/>
                <a:cs typeface="Times New Roman"/>
                <a:sym typeface="Times New Roman"/>
              </a:rPr>
              <a:t>•</a:t>
            </a:r>
            <a:r>
              <a:rPr lang="en-US" sz="2000" dirty="0">
                <a:latin typeface="Times New Roman"/>
                <a:ea typeface="Times New Roman"/>
                <a:cs typeface="Times New Roman"/>
                <a:sym typeface="Times New Roman"/>
              </a:rPr>
              <a:t> Traditional diagnosis depends </a:t>
            </a:r>
            <a:r>
              <a:rPr lang="en-US" sz="2000" dirty="0" smtClean="0">
                <a:latin typeface="Times New Roman"/>
                <a:ea typeface="Times New Roman"/>
                <a:cs typeface="Times New Roman"/>
                <a:sym typeface="Times New Roman"/>
              </a:rPr>
              <a:t>on </a:t>
            </a:r>
            <a:r>
              <a:rPr lang="en-US" sz="2000" dirty="0">
                <a:latin typeface="Times New Roman"/>
                <a:ea typeface="Times New Roman"/>
                <a:cs typeface="Times New Roman"/>
                <a:sym typeface="Times New Roman"/>
              </a:rPr>
              <a:t>pathologists doing manual examinations, which take a long time and can </a:t>
            </a:r>
            <a:r>
              <a:rPr lang="en-US" sz="2000" dirty="0" smtClean="0">
                <a:latin typeface="Times New Roman"/>
                <a:ea typeface="Times New Roman"/>
                <a:cs typeface="Times New Roman"/>
                <a:sym typeface="Times New Roman"/>
              </a:rPr>
              <a:t>vary.</a:t>
            </a:r>
            <a:endParaRPr sz="2000" dirty="0">
              <a:latin typeface="Times New Roman"/>
              <a:ea typeface="Times New Roman"/>
              <a:cs typeface="Times New Roman"/>
              <a:sym typeface="Times New Roman"/>
            </a:endParaRPr>
          </a:p>
          <a:p>
            <a:pPr marL="0" lvl="0" indent="0" algn="just">
              <a:lnSpc>
                <a:spcPct val="150000"/>
              </a:lnSpc>
              <a:buSzPts val="2000"/>
              <a:buNone/>
            </a:pPr>
            <a:r>
              <a:rPr lang="en-IN" sz="2000" dirty="0" smtClean="0">
                <a:latin typeface="Times New Roman"/>
                <a:ea typeface="Times New Roman"/>
                <a:cs typeface="Times New Roman"/>
                <a:sym typeface="Times New Roman"/>
              </a:rPr>
              <a:t>•</a:t>
            </a:r>
            <a:r>
              <a:rPr lang="en-US" sz="2000" dirty="0">
                <a:latin typeface="Times New Roman"/>
                <a:ea typeface="Times New Roman"/>
                <a:cs typeface="Times New Roman"/>
                <a:sym typeface="Times New Roman"/>
              </a:rPr>
              <a:t>Recent improvements in deep learning have made it possible to automatically analyze medical images with great </a:t>
            </a:r>
            <a:r>
              <a:rPr lang="en-US" sz="2000" dirty="0" smtClean="0">
                <a:latin typeface="Times New Roman"/>
                <a:ea typeface="Times New Roman"/>
                <a:cs typeface="Times New Roman"/>
                <a:sym typeface="Times New Roman"/>
              </a:rPr>
              <a:t>accuracy.</a:t>
            </a:r>
            <a:endParaRPr sz="2000" dirty="0">
              <a:latin typeface="Times New Roman"/>
              <a:ea typeface="Times New Roman"/>
              <a:cs typeface="Times New Roman"/>
              <a:sym typeface="Times New Roman"/>
            </a:endParaRPr>
          </a:p>
          <a:p>
            <a:pPr marL="0" lvl="0" indent="0" algn="just">
              <a:lnSpc>
                <a:spcPct val="150000"/>
              </a:lnSpc>
              <a:buSzPts val="2000"/>
              <a:buNone/>
            </a:pPr>
            <a:r>
              <a:rPr lang="en-IN" sz="2000" dirty="0" smtClean="0">
                <a:latin typeface="Times New Roman"/>
                <a:ea typeface="Times New Roman"/>
                <a:cs typeface="Times New Roman"/>
                <a:sym typeface="Times New Roman"/>
              </a:rPr>
              <a:t>•</a:t>
            </a:r>
            <a:r>
              <a:rPr lang="en-US" sz="2000" dirty="0" err="1">
                <a:latin typeface="Times New Roman"/>
                <a:ea typeface="Times New Roman"/>
                <a:cs typeface="Times New Roman"/>
                <a:sym typeface="Times New Roman"/>
              </a:rPr>
              <a:t>EfficientNet</a:t>
            </a:r>
            <a:r>
              <a:rPr lang="en-US" sz="2000" dirty="0">
                <a:latin typeface="Times New Roman"/>
                <a:ea typeface="Times New Roman"/>
                <a:cs typeface="Times New Roman"/>
                <a:sym typeface="Times New Roman"/>
              </a:rPr>
              <a:t> and </a:t>
            </a:r>
            <a:r>
              <a:rPr lang="en-US" sz="2000" dirty="0" err="1">
                <a:latin typeface="Times New Roman"/>
                <a:ea typeface="Times New Roman"/>
                <a:cs typeface="Times New Roman"/>
                <a:sym typeface="Times New Roman"/>
              </a:rPr>
              <a:t>DenseNet</a:t>
            </a:r>
            <a:r>
              <a:rPr lang="en-US" sz="2000" dirty="0">
                <a:latin typeface="Times New Roman"/>
                <a:ea typeface="Times New Roman"/>
                <a:cs typeface="Times New Roman"/>
                <a:sym typeface="Times New Roman"/>
              </a:rPr>
              <a:t> are two examples of convolutional neural networks that are commonly used to find complex tissue features.</a:t>
            </a:r>
            <a:endParaRPr sz="20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673580" y="223365"/>
            <a:ext cx="9537300" cy="840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Times New Roman"/>
              <a:buNone/>
            </a:pPr>
            <a:r>
              <a:rPr lang="en-IN" sz="3200" b="1" dirty="0" smtClean="0">
                <a:latin typeface="Times New Roman"/>
                <a:ea typeface="Times New Roman"/>
                <a:cs typeface="Times New Roman"/>
                <a:sym typeface="Times New Roman"/>
              </a:rPr>
              <a:t>PROBLEM </a:t>
            </a:r>
            <a:r>
              <a:rPr lang="en-IN" sz="3200" b="1" dirty="0">
                <a:latin typeface="Times New Roman"/>
                <a:ea typeface="Times New Roman"/>
                <a:cs typeface="Times New Roman"/>
                <a:sym typeface="Times New Roman"/>
              </a:rPr>
              <a:t>STATEMENT</a:t>
            </a:r>
            <a:endParaRPr sz="3200" b="1" dirty="0">
              <a:latin typeface="Times New Roman"/>
              <a:ea typeface="Times New Roman"/>
              <a:cs typeface="Times New Roman"/>
              <a:sym typeface="Times New Roman"/>
            </a:endParaRPr>
          </a:p>
        </p:txBody>
      </p:sp>
      <p:sp>
        <p:nvSpPr>
          <p:cNvPr id="106" name="Google Shape;106;p3"/>
          <p:cNvSpPr txBox="1">
            <a:spLocks noGrp="1"/>
          </p:cNvSpPr>
          <p:nvPr>
            <p:ph type="body" idx="1"/>
          </p:nvPr>
        </p:nvSpPr>
        <p:spPr>
          <a:xfrm>
            <a:off x="457196" y="1219236"/>
            <a:ext cx="10881000" cy="5170606"/>
          </a:xfrm>
          <a:prstGeom prst="rect">
            <a:avLst/>
          </a:prstGeom>
          <a:noFill/>
          <a:ln>
            <a:noFill/>
          </a:ln>
        </p:spPr>
        <p:txBody>
          <a:bodyPr spcFirstLastPara="1" wrap="square" lIns="91425" tIns="45700" rIns="91425" bIns="45700" anchor="ctr" anchorCtr="0">
            <a:spAutoFit/>
          </a:bodyPr>
          <a:lstStyle/>
          <a:p>
            <a:pPr marL="342900" algn="just">
              <a:lnSpc>
                <a:spcPct val="150000"/>
              </a:lnSpc>
              <a:spcBef>
                <a:spcPts val="0"/>
              </a:spcBef>
              <a:buSzPts val="2000"/>
            </a:pPr>
            <a:r>
              <a:rPr lang="en-US" sz="2000" dirty="0">
                <a:latin typeface="Times New Roman"/>
                <a:ea typeface="Times New Roman"/>
                <a:cs typeface="Times New Roman"/>
                <a:sym typeface="Times New Roman"/>
              </a:rPr>
              <a:t>The identification of metastatic cancer through histopathological images is not an easy task because of its intricate tissue structures and differences between normal and tumor areas</a:t>
            </a:r>
            <a:r>
              <a:rPr lang="en-US" sz="2000" dirty="0" smtClean="0">
                <a:latin typeface="Times New Roman"/>
                <a:ea typeface="Times New Roman"/>
                <a:cs typeface="Times New Roman"/>
                <a:sym typeface="Times New Roman"/>
              </a:rPr>
              <a:t>.</a:t>
            </a:r>
          </a:p>
          <a:p>
            <a:pPr marL="342900" algn="just">
              <a:lnSpc>
                <a:spcPct val="150000"/>
              </a:lnSpc>
              <a:spcBef>
                <a:spcPts val="0"/>
              </a:spcBef>
              <a:buSzPts val="2000"/>
            </a:pPr>
            <a:r>
              <a:rPr lang="en-US" sz="2000" dirty="0">
                <a:latin typeface="Times New Roman"/>
                <a:ea typeface="Times New Roman"/>
                <a:cs typeface="Times New Roman"/>
                <a:sym typeface="Times New Roman"/>
              </a:rPr>
              <a:t>CNN-based approaches are useful for local features, but there are challenges in their ability to handle global context relations</a:t>
            </a:r>
            <a:r>
              <a:rPr lang="en-US" sz="2000" dirty="0" smtClean="0">
                <a:latin typeface="Times New Roman"/>
                <a:ea typeface="Times New Roman"/>
                <a:cs typeface="Times New Roman"/>
                <a:sym typeface="Times New Roman"/>
              </a:rPr>
              <a:t>.</a:t>
            </a:r>
          </a:p>
          <a:p>
            <a:pPr marL="342900" algn="just">
              <a:lnSpc>
                <a:spcPct val="150000"/>
              </a:lnSpc>
              <a:spcBef>
                <a:spcPts val="0"/>
              </a:spcBef>
              <a:buSzPts val="2000"/>
            </a:pPr>
            <a:r>
              <a:rPr lang="en-US" sz="2000" dirty="0">
                <a:latin typeface="Times New Roman"/>
                <a:ea typeface="Times New Roman"/>
                <a:cs typeface="Times New Roman"/>
                <a:sym typeface="Times New Roman"/>
              </a:rPr>
              <a:t>Models based on the transformer architecture like Vision Transformer (</a:t>
            </a:r>
            <a:r>
              <a:rPr lang="en-US" sz="2000" dirty="0" err="1">
                <a:latin typeface="Times New Roman"/>
                <a:ea typeface="Times New Roman"/>
                <a:cs typeface="Times New Roman"/>
                <a:sym typeface="Times New Roman"/>
              </a:rPr>
              <a:t>ViT</a:t>
            </a:r>
            <a:r>
              <a:rPr lang="en-US" sz="2000" dirty="0">
                <a:latin typeface="Times New Roman"/>
                <a:ea typeface="Times New Roman"/>
                <a:cs typeface="Times New Roman"/>
                <a:sym typeface="Times New Roman"/>
              </a:rPr>
              <a:t>) and </a:t>
            </a:r>
            <a:r>
              <a:rPr lang="en-US" sz="2000" dirty="0" err="1">
                <a:latin typeface="Times New Roman"/>
                <a:ea typeface="Times New Roman"/>
                <a:cs typeface="Times New Roman"/>
                <a:sym typeface="Times New Roman"/>
              </a:rPr>
              <a:t>Swin</a:t>
            </a:r>
            <a:r>
              <a:rPr lang="en-US" sz="2000" dirty="0">
                <a:latin typeface="Times New Roman"/>
                <a:ea typeface="Times New Roman"/>
                <a:cs typeface="Times New Roman"/>
                <a:sym typeface="Times New Roman"/>
              </a:rPr>
              <a:t> Transformer can learn global contexts but may suffer from high computational demands and overhead.</a:t>
            </a:r>
            <a:endParaRPr lang="en-US" sz="2000" dirty="0" smtClean="0">
              <a:latin typeface="Times New Roman"/>
              <a:ea typeface="Times New Roman"/>
              <a:cs typeface="Times New Roman"/>
              <a:sym typeface="Times New Roman"/>
            </a:endParaRPr>
          </a:p>
          <a:p>
            <a:pPr marL="342900" algn="just">
              <a:lnSpc>
                <a:spcPct val="150000"/>
              </a:lnSpc>
              <a:spcBef>
                <a:spcPts val="0"/>
              </a:spcBef>
              <a:buSzPts val="2000"/>
            </a:pPr>
            <a:r>
              <a:rPr lang="en-US" sz="2000" dirty="0">
                <a:latin typeface="Times New Roman"/>
                <a:ea typeface="Times New Roman"/>
                <a:cs typeface="Times New Roman"/>
                <a:sym typeface="Times New Roman"/>
              </a:rPr>
              <a:t>These diverse models exhibit different levels of effectiveness, thereby posing a challenge to find the ideal architecture for the task at hand</a:t>
            </a:r>
            <a:r>
              <a:rPr lang="en-US" sz="2000" dirty="0" smtClean="0">
                <a:latin typeface="Times New Roman"/>
                <a:ea typeface="Times New Roman"/>
                <a:cs typeface="Times New Roman"/>
                <a:sym typeface="Times New Roman"/>
              </a:rPr>
              <a:t>.</a:t>
            </a:r>
          </a:p>
          <a:p>
            <a:pPr marL="342900" algn="just">
              <a:lnSpc>
                <a:spcPct val="150000"/>
              </a:lnSpc>
              <a:spcBef>
                <a:spcPts val="0"/>
              </a:spcBef>
              <a:buSzPts val="2000"/>
            </a:pPr>
            <a:r>
              <a:rPr lang="en-US" sz="2000" dirty="0" smtClean="0">
                <a:latin typeface="Times New Roman"/>
                <a:ea typeface="Times New Roman"/>
                <a:cs typeface="Times New Roman"/>
                <a:sym typeface="Times New Roman"/>
              </a:rPr>
              <a:t>It </a:t>
            </a:r>
            <a:r>
              <a:rPr lang="en-US" sz="2000" dirty="0">
                <a:latin typeface="Times New Roman"/>
                <a:ea typeface="Times New Roman"/>
                <a:cs typeface="Times New Roman"/>
                <a:sym typeface="Times New Roman"/>
              </a:rPr>
              <a:t>is imperative to conduct a comparative analysis of various architectures to determine the most appropriate model for metastatic cancer detection.</a:t>
            </a:r>
          </a:p>
          <a:p>
            <a:pPr marL="0" lvl="0" indent="0" algn="just">
              <a:lnSpc>
                <a:spcPct val="150000"/>
              </a:lnSpc>
              <a:spcBef>
                <a:spcPts val="0"/>
              </a:spcBef>
              <a:buSzPts val="2000"/>
              <a:buNone/>
            </a:pPr>
            <a:endParaRPr lang="en-US" sz="2000" dirty="0" smtClean="0">
              <a:latin typeface="Times New Roman"/>
              <a:ea typeface="Times New Roman"/>
              <a:cs typeface="Times New Roman"/>
              <a:sym typeface="Times New Roman"/>
            </a:endParaRPr>
          </a:p>
        </p:txBody>
      </p:sp>
    </p:spTree>
    <p:extLst>
      <p:ext uri="{BB962C8B-B14F-4D97-AF65-F5344CB8AC3E}">
        <p14:creationId xmlns:p14="http://schemas.microsoft.com/office/powerpoint/2010/main" val="22528305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339272" y="-126639"/>
            <a:ext cx="3437164" cy="106135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Times New Roman"/>
              <a:buNone/>
            </a:pPr>
            <a:r>
              <a:rPr lang="en-IN" sz="2800" b="1" dirty="0">
                <a:latin typeface="Times New Roman"/>
                <a:ea typeface="Times New Roman"/>
                <a:cs typeface="Times New Roman"/>
                <a:sym typeface="Times New Roman"/>
              </a:rPr>
              <a:t>OBJECTIVES</a:t>
            </a:r>
            <a:endParaRPr sz="2800" b="1" dirty="0">
              <a:latin typeface="Times New Roman"/>
              <a:ea typeface="Times New Roman"/>
              <a:cs typeface="Times New Roman"/>
              <a:sym typeface="Times New Roman"/>
            </a:endParaRPr>
          </a:p>
        </p:txBody>
      </p:sp>
      <p:sp>
        <p:nvSpPr>
          <p:cNvPr id="112" name="Google Shape;112;p4"/>
          <p:cNvSpPr txBox="1">
            <a:spLocks noGrp="1"/>
          </p:cNvSpPr>
          <p:nvPr>
            <p:ph type="body" idx="1"/>
          </p:nvPr>
        </p:nvSpPr>
        <p:spPr>
          <a:xfrm>
            <a:off x="311525" y="571252"/>
            <a:ext cx="11625942" cy="5527042"/>
          </a:xfrm>
          <a:prstGeom prst="rect">
            <a:avLst/>
          </a:prstGeom>
          <a:noFill/>
          <a:ln>
            <a:noFill/>
          </a:ln>
        </p:spPr>
        <p:txBody>
          <a:bodyPr spcFirstLastPara="1" wrap="square" lIns="91425" tIns="45700" rIns="91425" bIns="45700" anchor="t" anchorCtr="0">
            <a:noAutofit/>
          </a:bodyPr>
          <a:lstStyle/>
          <a:p>
            <a:pPr marL="228600" lvl="0" indent="-228600" algn="just">
              <a:lnSpc>
                <a:spcPct val="170000"/>
              </a:lnSpc>
              <a:spcBef>
                <a:spcPts val="0"/>
              </a:spcBef>
              <a:buSzPct val="100000"/>
            </a:pPr>
            <a:r>
              <a:rPr lang="en-US" sz="1600" dirty="0">
                <a:latin typeface="Times New Roman"/>
                <a:ea typeface="Times New Roman"/>
                <a:cs typeface="Times New Roman"/>
                <a:sym typeface="Times New Roman"/>
              </a:rPr>
              <a:t>Create </a:t>
            </a:r>
            <a:r>
              <a:rPr lang="en-US" sz="1600" dirty="0" smtClean="0">
                <a:latin typeface="Times New Roman"/>
                <a:ea typeface="Times New Roman"/>
                <a:cs typeface="Times New Roman"/>
                <a:sym typeface="Times New Roman"/>
              </a:rPr>
              <a:t>deep </a:t>
            </a:r>
            <a:r>
              <a:rPr lang="en-US" sz="1600" dirty="0">
                <a:latin typeface="Times New Roman"/>
                <a:ea typeface="Times New Roman"/>
                <a:cs typeface="Times New Roman"/>
                <a:sym typeface="Times New Roman"/>
              </a:rPr>
              <a:t>learning </a:t>
            </a:r>
            <a:r>
              <a:rPr lang="en-US" sz="1600" dirty="0" smtClean="0">
                <a:latin typeface="Times New Roman"/>
                <a:ea typeface="Times New Roman"/>
                <a:cs typeface="Times New Roman"/>
                <a:sym typeface="Times New Roman"/>
              </a:rPr>
              <a:t>architectures </a:t>
            </a:r>
            <a:r>
              <a:rPr lang="en-US" sz="1600" dirty="0">
                <a:latin typeface="Times New Roman"/>
                <a:ea typeface="Times New Roman"/>
                <a:cs typeface="Times New Roman"/>
                <a:sym typeface="Times New Roman"/>
              </a:rPr>
              <a:t>to detect metastatic cancers from histopathological images</a:t>
            </a:r>
            <a:r>
              <a:rPr lang="en-US" sz="1600" dirty="0" smtClean="0">
                <a:latin typeface="Times New Roman"/>
                <a:ea typeface="Times New Roman"/>
                <a:cs typeface="Times New Roman"/>
                <a:sym typeface="Times New Roman"/>
              </a:rPr>
              <a:t>.</a:t>
            </a:r>
            <a:endParaRPr sz="1600" dirty="0">
              <a:latin typeface="Times New Roman"/>
              <a:ea typeface="Times New Roman"/>
              <a:cs typeface="Times New Roman"/>
              <a:sym typeface="Times New Roman"/>
            </a:endParaRPr>
          </a:p>
          <a:p>
            <a:pPr marL="228600" lvl="0" indent="-228600" algn="just">
              <a:lnSpc>
                <a:spcPct val="170000"/>
              </a:lnSpc>
              <a:buSzPct val="100000"/>
            </a:pPr>
            <a:r>
              <a:rPr lang="en-IN" sz="1600" dirty="0">
                <a:latin typeface="Times New Roman"/>
                <a:ea typeface="Times New Roman"/>
                <a:cs typeface="Times New Roman"/>
                <a:sym typeface="Times New Roman"/>
              </a:rPr>
              <a:t>Deploy various models such as CNN, Vision Transformer (</a:t>
            </a:r>
            <a:r>
              <a:rPr lang="en-IN" sz="1600" dirty="0" err="1">
                <a:latin typeface="Times New Roman"/>
                <a:ea typeface="Times New Roman"/>
                <a:cs typeface="Times New Roman"/>
                <a:sym typeface="Times New Roman"/>
              </a:rPr>
              <a:t>ViT</a:t>
            </a:r>
            <a:r>
              <a:rPr lang="en-IN" sz="1600" dirty="0">
                <a:latin typeface="Times New Roman"/>
                <a:ea typeface="Times New Roman"/>
                <a:cs typeface="Times New Roman"/>
                <a:sym typeface="Times New Roman"/>
              </a:rPr>
              <a:t>), </a:t>
            </a:r>
            <a:r>
              <a:rPr lang="en-IN" sz="1600" dirty="0" err="1">
                <a:latin typeface="Times New Roman"/>
                <a:ea typeface="Times New Roman"/>
                <a:cs typeface="Times New Roman"/>
                <a:sym typeface="Times New Roman"/>
              </a:rPr>
              <a:t>Swin</a:t>
            </a:r>
            <a:r>
              <a:rPr lang="en-IN" sz="1600" dirty="0">
                <a:latin typeface="Times New Roman"/>
                <a:ea typeface="Times New Roman"/>
                <a:cs typeface="Times New Roman"/>
                <a:sym typeface="Times New Roman"/>
              </a:rPr>
              <a:t> Transformer, </a:t>
            </a:r>
            <a:r>
              <a:rPr lang="en-IN" sz="1600" dirty="0" err="1">
                <a:latin typeface="Times New Roman"/>
                <a:ea typeface="Times New Roman"/>
                <a:cs typeface="Times New Roman"/>
                <a:sym typeface="Times New Roman"/>
              </a:rPr>
              <a:t>EfficientNet</a:t>
            </a:r>
            <a:r>
              <a:rPr lang="en-IN" sz="1600" dirty="0">
                <a:latin typeface="Times New Roman"/>
                <a:ea typeface="Times New Roman"/>
                <a:cs typeface="Times New Roman"/>
                <a:sym typeface="Times New Roman"/>
              </a:rPr>
              <a:t>, and </a:t>
            </a:r>
            <a:r>
              <a:rPr lang="en-IN" sz="1600" dirty="0" err="1">
                <a:latin typeface="Times New Roman"/>
                <a:ea typeface="Times New Roman"/>
                <a:cs typeface="Times New Roman"/>
                <a:sym typeface="Times New Roman"/>
              </a:rPr>
              <a:t>DenseNet</a:t>
            </a:r>
            <a:r>
              <a:rPr lang="en-IN" sz="1600" dirty="0" smtClean="0">
                <a:latin typeface="Times New Roman"/>
                <a:ea typeface="Times New Roman"/>
                <a:cs typeface="Times New Roman"/>
                <a:sym typeface="Times New Roman"/>
              </a:rPr>
              <a:t>.</a:t>
            </a:r>
          </a:p>
          <a:p>
            <a:pPr marL="228600" lvl="0" indent="-228600" algn="just">
              <a:lnSpc>
                <a:spcPct val="170000"/>
              </a:lnSpc>
              <a:buSzPct val="100000"/>
            </a:pPr>
            <a:r>
              <a:rPr lang="en-US" sz="1600" dirty="0">
                <a:latin typeface="Times New Roman"/>
                <a:ea typeface="Times New Roman"/>
                <a:cs typeface="Times New Roman"/>
                <a:sym typeface="Times New Roman"/>
              </a:rPr>
              <a:t>Conduct experiments for comparative analysis on the </a:t>
            </a:r>
            <a:r>
              <a:rPr lang="en-US" sz="1600" dirty="0" err="1">
                <a:latin typeface="Times New Roman"/>
                <a:ea typeface="Times New Roman"/>
                <a:cs typeface="Times New Roman"/>
                <a:sym typeface="Times New Roman"/>
              </a:rPr>
              <a:t>PCam</a:t>
            </a:r>
            <a:r>
              <a:rPr lang="en-US" sz="1600" dirty="0">
                <a:latin typeface="Times New Roman"/>
                <a:ea typeface="Times New Roman"/>
                <a:cs typeface="Times New Roman"/>
                <a:sym typeface="Times New Roman"/>
              </a:rPr>
              <a:t> dataset</a:t>
            </a:r>
            <a:r>
              <a:rPr lang="en-US" sz="1600" dirty="0" smtClean="0">
                <a:latin typeface="Times New Roman"/>
                <a:ea typeface="Times New Roman"/>
                <a:cs typeface="Times New Roman"/>
                <a:sym typeface="Times New Roman"/>
              </a:rPr>
              <a:t>.</a:t>
            </a:r>
          </a:p>
          <a:p>
            <a:pPr marL="228600" lvl="0" indent="-228600" algn="just">
              <a:lnSpc>
                <a:spcPct val="170000"/>
              </a:lnSpc>
              <a:buSzPct val="100000"/>
            </a:pPr>
            <a:r>
              <a:rPr lang="en-US" sz="1600" dirty="0" err="1">
                <a:latin typeface="Times New Roman"/>
                <a:ea typeface="Times New Roman"/>
                <a:cs typeface="Times New Roman"/>
                <a:sym typeface="Times New Roman"/>
              </a:rPr>
              <a:t>Analyse</a:t>
            </a:r>
            <a:r>
              <a:rPr lang="en-US" sz="1600" dirty="0">
                <a:latin typeface="Times New Roman"/>
                <a:ea typeface="Times New Roman"/>
                <a:cs typeface="Times New Roman"/>
                <a:sym typeface="Times New Roman"/>
              </a:rPr>
              <a:t> model performance based on accuracy, precision, recall, F1 score, and AUC</a:t>
            </a:r>
            <a:r>
              <a:rPr lang="en-US" sz="1600" dirty="0" smtClean="0">
                <a:latin typeface="Times New Roman"/>
                <a:ea typeface="Times New Roman"/>
                <a:cs typeface="Times New Roman"/>
                <a:sym typeface="Times New Roman"/>
              </a:rPr>
              <a:t>.</a:t>
            </a:r>
            <a:endParaRPr sz="1600" dirty="0"/>
          </a:p>
          <a:p>
            <a:pPr marL="228600" lvl="0" indent="-228600" algn="just">
              <a:lnSpc>
                <a:spcPct val="170000"/>
              </a:lnSpc>
              <a:buSzPct val="100000"/>
            </a:pPr>
            <a:r>
              <a:rPr lang="en-IN" sz="1600" dirty="0">
                <a:latin typeface="Times New Roman"/>
                <a:ea typeface="Times New Roman"/>
                <a:cs typeface="Times New Roman"/>
                <a:sym typeface="Times New Roman"/>
              </a:rPr>
              <a:t>Determine the best performing model.</a:t>
            </a:r>
            <a:endParaRPr sz="1600" dirty="0">
              <a:latin typeface="Times New Roman"/>
              <a:ea typeface="Times New Roman"/>
              <a:cs typeface="Times New Roman"/>
              <a:sym typeface="Times New Roman"/>
            </a:endParaRPr>
          </a:p>
          <a:p>
            <a:pPr marL="0" lvl="0" indent="0" algn="just">
              <a:lnSpc>
                <a:spcPct val="170000"/>
              </a:lnSpc>
              <a:buSzPct val="100000"/>
              <a:buNone/>
            </a:pPr>
            <a:r>
              <a:rPr lang="en-IN" b="1" dirty="0" smtClean="0">
                <a:latin typeface="Times New Roman"/>
                <a:ea typeface="Times New Roman"/>
                <a:cs typeface="Times New Roman"/>
                <a:sym typeface="Times New Roman"/>
              </a:rPr>
              <a:t>OBJECTIVES</a:t>
            </a:r>
            <a:endParaRPr sz="1600" dirty="0" smtClean="0">
              <a:latin typeface="Times New Roman"/>
              <a:ea typeface="Times New Roman"/>
              <a:cs typeface="Times New Roman"/>
              <a:sym typeface="Times New Roman"/>
            </a:endParaRPr>
          </a:p>
          <a:p>
            <a:pPr marL="228600" lvl="0" indent="-228600" algn="just">
              <a:lnSpc>
                <a:spcPct val="170000"/>
              </a:lnSpc>
              <a:buSzPct val="100000"/>
            </a:pPr>
            <a:r>
              <a:rPr lang="en-US" sz="1600" dirty="0">
                <a:latin typeface="Times New Roman"/>
                <a:ea typeface="Times New Roman"/>
                <a:cs typeface="Times New Roman"/>
                <a:sym typeface="Times New Roman"/>
              </a:rPr>
              <a:t>Designed a multi-model deep learning approach to classify cancer.</a:t>
            </a:r>
          </a:p>
          <a:p>
            <a:pPr marL="228600" lvl="0" indent="-228600" algn="just">
              <a:lnSpc>
                <a:spcPct val="170000"/>
              </a:lnSpc>
              <a:buSzPct val="100000"/>
            </a:pPr>
            <a:r>
              <a:rPr lang="en-US" sz="1600" dirty="0">
                <a:latin typeface="Times New Roman"/>
                <a:ea typeface="Times New Roman"/>
                <a:cs typeface="Times New Roman"/>
                <a:sym typeface="Times New Roman"/>
              </a:rPr>
              <a:t>Evaluated CNN, transformer, and advanced CNN models.</a:t>
            </a:r>
          </a:p>
          <a:p>
            <a:pPr marL="228600" lvl="0" indent="-228600" algn="just">
              <a:lnSpc>
                <a:spcPct val="170000"/>
              </a:lnSpc>
              <a:buSzPct val="100000"/>
            </a:pPr>
            <a:r>
              <a:rPr lang="en-US" sz="1600" dirty="0">
                <a:latin typeface="Times New Roman"/>
                <a:ea typeface="Times New Roman"/>
                <a:cs typeface="Times New Roman"/>
                <a:sym typeface="Times New Roman"/>
              </a:rPr>
              <a:t>Obtained performance assessment using several criteria.</a:t>
            </a:r>
          </a:p>
          <a:p>
            <a:pPr marL="228600" lvl="0" indent="-228600" algn="just">
              <a:lnSpc>
                <a:spcPct val="170000"/>
              </a:lnSpc>
              <a:buSzPct val="100000"/>
            </a:pPr>
            <a:r>
              <a:rPr lang="en-US" sz="1600" dirty="0">
                <a:latin typeface="Times New Roman"/>
                <a:ea typeface="Times New Roman"/>
                <a:cs typeface="Times New Roman"/>
                <a:sym typeface="Times New Roman"/>
              </a:rPr>
              <a:t>Noticed the compromise between accuracy, speed, and complexity.</a:t>
            </a:r>
          </a:p>
          <a:p>
            <a:pPr marL="228600" lvl="0" indent="-228600" algn="just">
              <a:lnSpc>
                <a:spcPct val="170000"/>
              </a:lnSpc>
              <a:buSzPct val="100000"/>
            </a:pPr>
            <a:r>
              <a:rPr lang="en-US" sz="1600" dirty="0">
                <a:latin typeface="Times New Roman"/>
                <a:ea typeface="Times New Roman"/>
                <a:cs typeface="Times New Roman"/>
                <a:sym typeface="Times New Roman"/>
              </a:rPr>
              <a:t>Found the optimal model for accurate cancer detection</a:t>
            </a:r>
            <a:r>
              <a:rPr lang="en-US" sz="1600" dirty="0" smtClean="0">
                <a:latin typeface="Times New Roman"/>
                <a:ea typeface="Times New Roman"/>
                <a:cs typeface="Times New Roman"/>
                <a:sym typeface="Times New Roman"/>
              </a:rPr>
              <a:t>.</a:t>
            </a:r>
            <a:endParaRPr sz="1600" dirty="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title"/>
          </p:nvPr>
        </p:nvSpPr>
        <p:spPr>
          <a:xfrm>
            <a:off x="0" y="-62567"/>
            <a:ext cx="10180554" cy="74836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IN" sz="2800" b="1">
                <a:latin typeface="Times New Roman"/>
                <a:ea typeface="Times New Roman"/>
                <a:cs typeface="Times New Roman"/>
                <a:sym typeface="Times New Roman"/>
              </a:rPr>
              <a:t>LITERATURE REVIEW</a:t>
            </a:r>
            <a:endParaRPr sz="2800" b="1">
              <a:latin typeface="Times New Roman"/>
              <a:ea typeface="Times New Roman"/>
              <a:cs typeface="Times New Roman"/>
              <a:sym typeface="Times New Roman"/>
            </a:endParaRPr>
          </a:p>
        </p:txBody>
      </p:sp>
      <p:graphicFrame>
        <p:nvGraphicFramePr>
          <p:cNvPr id="119" name="Google Shape;119;p5"/>
          <p:cNvGraphicFramePr/>
          <p:nvPr>
            <p:extLst>
              <p:ext uri="{D42A27DB-BD31-4B8C-83A1-F6EECF244321}">
                <p14:modId xmlns:p14="http://schemas.microsoft.com/office/powerpoint/2010/main" val="90981279"/>
              </p:ext>
            </p:extLst>
          </p:nvPr>
        </p:nvGraphicFramePr>
        <p:xfrm>
          <a:off x="110281" y="588696"/>
          <a:ext cx="11993650" cy="6472019"/>
        </p:xfrm>
        <a:graphic>
          <a:graphicData uri="http://schemas.openxmlformats.org/drawingml/2006/table">
            <a:tbl>
              <a:tblPr firstRow="1" bandRow="1">
                <a:noFill/>
                <a:tableStyleId>{D21998D0-8782-49B7-B685-5BC57A70C0FD}</a:tableStyleId>
              </a:tblPr>
              <a:tblGrid>
                <a:gridCol w="664850">
                  <a:extLst>
                    <a:ext uri="{9D8B030D-6E8A-4147-A177-3AD203B41FA5}">
                      <a16:colId xmlns:a16="http://schemas.microsoft.com/office/drawing/2014/main" val="20000"/>
                    </a:ext>
                  </a:extLst>
                </a:gridCol>
                <a:gridCol w="3173700">
                  <a:extLst>
                    <a:ext uri="{9D8B030D-6E8A-4147-A177-3AD203B41FA5}">
                      <a16:colId xmlns:a16="http://schemas.microsoft.com/office/drawing/2014/main" val="20001"/>
                    </a:ext>
                  </a:extLst>
                </a:gridCol>
                <a:gridCol w="1869450">
                  <a:extLst>
                    <a:ext uri="{9D8B030D-6E8A-4147-A177-3AD203B41FA5}">
                      <a16:colId xmlns:a16="http://schemas.microsoft.com/office/drawing/2014/main" val="20002"/>
                    </a:ext>
                  </a:extLst>
                </a:gridCol>
                <a:gridCol w="2797375">
                  <a:extLst>
                    <a:ext uri="{9D8B030D-6E8A-4147-A177-3AD203B41FA5}">
                      <a16:colId xmlns:a16="http://schemas.microsoft.com/office/drawing/2014/main" val="20003"/>
                    </a:ext>
                  </a:extLst>
                </a:gridCol>
                <a:gridCol w="3488275">
                  <a:extLst>
                    <a:ext uri="{9D8B030D-6E8A-4147-A177-3AD203B41FA5}">
                      <a16:colId xmlns:a16="http://schemas.microsoft.com/office/drawing/2014/main" val="20004"/>
                    </a:ext>
                  </a:extLst>
                </a:gridCol>
              </a:tblGrid>
              <a:tr h="564850">
                <a:tc>
                  <a:txBody>
                    <a:bodyPr/>
                    <a:lstStyle/>
                    <a:p>
                      <a:pPr marL="0" marR="0" lvl="0" indent="0" algn="l" rtl="0">
                        <a:spcBef>
                          <a:spcPts val="0"/>
                        </a:spcBef>
                        <a:spcAft>
                          <a:spcPts val="0"/>
                        </a:spcAft>
                        <a:buNone/>
                      </a:pPr>
                      <a:r>
                        <a:rPr lang="en-IN" sz="1500" b="1" u="none" strike="noStrike" cap="none">
                          <a:latin typeface="Times New Roman"/>
                          <a:ea typeface="Times New Roman"/>
                          <a:cs typeface="Times New Roman"/>
                          <a:sym typeface="Times New Roman"/>
                        </a:rPr>
                        <a:t>S.NO</a:t>
                      </a:r>
                      <a:endParaRPr sz="1500" b="1">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IN" sz="1500" b="1" dirty="0">
                          <a:latin typeface="Times New Roman"/>
                          <a:ea typeface="Times New Roman"/>
                          <a:cs typeface="Times New Roman"/>
                          <a:sym typeface="Times New Roman"/>
                        </a:rPr>
                        <a:t>PUBLICATION DETAILS</a:t>
                      </a:r>
                      <a:endParaRPr sz="1500" b="1"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IN" sz="1500" b="1">
                          <a:latin typeface="Times New Roman"/>
                          <a:ea typeface="Times New Roman"/>
                          <a:cs typeface="Times New Roman"/>
                          <a:sym typeface="Times New Roman"/>
                        </a:rPr>
                        <a:t>DATASETS USED</a:t>
                      </a:r>
                      <a:endParaRPr sz="1500" b="1">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IN" sz="1500" b="1">
                          <a:latin typeface="Times New Roman"/>
                          <a:ea typeface="Times New Roman"/>
                          <a:cs typeface="Times New Roman"/>
                          <a:sym typeface="Times New Roman"/>
                        </a:rPr>
                        <a:t>ALGORITHMS USED AND RESULTS </a:t>
                      </a:r>
                      <a:endParaRPr sz="1500" b="1">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500"/>
                        <a:buFont typeface="Times New Roman"/>
                        <a:buNone/>
                      </a:pPr>
                      <a:r>
                        <a:rPr lang="en-IN" sz="1500" b="1">
                          <a:latin typeface="Times New Roman"/>
                          <a:ea typeface="Times New Roman"/>
                          <a:cs typeface="Times New Roman"/>
                          <a:sym typeface="Times New Roman"/>
                        </a:rPr>
                        <a:t>REMARKS</a:t>
                      </a:r>
                      <a:endParaRPr sz="1500" b="1">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1176960">
                <a:tc>
                  <a:txBody>
                    <a:bodyPr/>
                    <a:lstStyle/>
                    <a:p>
                      <a:pPr marL="0" marR="0" lvl="0" indent="0" algn="ctr" rtl="0">
                        <a:spcBef>
                          <a:spcPts val="0"/>
                        </a:spcBef>
                        <a:spcAft>
                          <a:spcPts val="0"/>
                        </a:spcAft>
                        <a:buNone/>
                      </a:pPr>
                      <a:endParaRPr sz="1200" dirty="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sz="1200" dirty="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sz="1200" dirty="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sz="1200" dirty="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IN" sz="1200" dirty="0">
                          <a:latin typeface="Times New Roman" panose="02020603050405020304" pitchFamily="18" charset="0"/>
                          <a:ea typeface="Times New Roman"/>
                          <a:cs typeface="Times New Roman" panose="02020603050405020304" pitchFamily="18" charset="0"/>
                          <a:sym typeface="Times New Roman"/>
                        </a:rPr>
                        <a:t>1.</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just" rtl="0">
                        <a:spcBef>
                          <a:spcPts val="0"/>
                        </a:spcBef>
                        <a:spcAft>
                          <a:spcPts val="0"/>
                        </a:spcAft>
                        <a:buNone/>
                      </a:pPr>
                      <a:r>
                        <a:rPr lang="en-IN" sz="1200" b="0" dirty="0" smtClean="0">
                          <a:latin typeface="Times New Roman" panose="02020603050405020304" pitchFamily="18" charset="0"/>
                          <a:cs typeface="Times New Roman" panose="02020603050405020304" pitchFamily="18" charset="0"/>
                        </a:rPr>
                        <a:t>Deep </a:t>
                      </a:r>
                      <a:r>
                        <a:rPr lang="en-IN" sz="1200" b="0" dirty="0" smtClean="0">
                          <a:latin typeface="Times New Roman" panose="02020603050405020304" pitchFamily="18" charset="0"/>
                          <a:cs typeface="Times New Roman" panose="02020603050405020304" pitchFamily="18" charset="0"/>
                        </a:rPr>
                        <a:t>Learning Applications in Breast Cancer Histopathological Imaging: Diagnosis, Treatment, and Prognosis,</a:t>
                      </a:r>
                      <a:br>
                        <a:rPr lang="en-IN" sz="1200" b="0" dirty="0" smtClean="0">
                          <a:latin typeface="Times New Roman" panose="02020603050405020304" pitchFamily="18" charset="0"/>
                          <a:cs typeface="Times New Roman" panose="02020603050405020304" pitchFamily="18" charset="0"/>
                        </a:rPr>
                      </a:br>
                      <a:r>
                        <a:rPr lang="en-IN" sz="1200" b="0" dirty="0" err="1" smtClean="0">
                          <a:latin typeface="Times New Roman" panose="02020603050405020304" pitchFamily="18" charset="0"/>
                          <a:cs typeface="Times New Roman" panose="02020603050405020304" pitchFamily="18" charset="0"/>
                        </a:rPr>
                        <a:t>Bitao</a:t>
                      </a:r>
                      <a:r>
                        <a:rPr lang="en-IN" sz="1200" b="0" dirty="0" smtClean="0">
                          <a:latin typeface="Times New Roman" panose="02020603050405020304" pitchFamily="18" charset="0"/>
                          <a:cs typeface="Times New Roman" panose="02020603050405020304" pitchFamily="18" charset="0"/>
                        </a:rPr>
                        <a:t> Jiang, </a:t>
                      </a:r>
                      <a:r>
                        <a:rPr lang="en-IN" sz="1200" b="0" dirty="0" err="1" smtClean="0">
                          <a:latin typeface="Times New Roman" panose="02020603050405020304" pitchFamily="18" charset="0"/>
                          <a:cs typeface="Times New Roman" panose="02020603050405020304" pitchFamily="18" charset="0"/>
                        </a:rPr>
                        <a:t>Lingling</a:t>
                      </a:r>
                      <a:r>
                        <a:rPr lang="en-IN" sz="1200" b="0" dirty="0" smtClean="0">
                          <a:latin typeface="Times New Roman" panose="02020603050405020304" pitchFamily="18" charset="0"/>
                          <a:cs typeface="Times New Roman" panose="02020603050405020304" pitchFamily="18" charset="0"/>
                        </a:rPr>
                        <a:t> </a:t>
                      </a:r>
                      <a:r>
                        <a:rPr lang="en-IN" sz="1200" b="0" dirty="0" err="1" smtClean="0">
                          <a:latin typeface="Times New Roman" panose="02020603050405020304" pitchFamily="18" charset="0"/>
                          <a:cs typeface="Times New Roman" panose="02020603050405020304" pitchFamily="18" charset="0"/>
                        </a:rPr>
                        <a:t>Bao</a:t>
                      </a:r>
                      <a:r>
                        <a:rPr lang="en-IN" sz="1200" b="0" dirty="0" smtClean="0">
                          <a:latin typeface="Times New Roman" panose="02020603050405020304" pitchFamily="18" charset="0"/>
                          <a:cs typeface="Times New Roman" panose="02020603050405020304" pitchFamily="18" charset="0"/>
                        </a:rPr>
                        <a:t>, </a:t>
                      </a:r>
                      <a:r>
                        <a:rPr lang="en-IN" sz="1200" b="0" dirty="0" err="1" smtClean="0">
                          <a:latin typeface="Times New Roman" panose="02020603050405020304" pitchFamily="18" charset="0"/>
                          <a:cs typeface="Times New Roman" panose="02020603050405020304" pitchFamily="18" charset="0"/>
                        </a:rPr>
                        <a:t>Songqin</a:t>
                      </a:r>
                      <a:r>
                        <a:rPr lang="en-IN" sz="1200" b="0" dirty="0" smtClean="0">
                          <a:latin typeface="Times New Roman" panose="02020603050405020304" pitchFamily="18" charset="0"/>
                          <a:cs typeface="Times New Roman" panose="02020603050405020304" pitchFamily="18" charset="0"/>
                        </a:rPr>
                        <a:t> He, Xiao Chen, </a:t>
                      </a:r>
                      <a:r>
                        <a:rPr lang="en-IN" sz="1200" b="0" dirty="0" err="1" smtClean="0">
                          <a:latin typeface="Times New Roman" panose="02020603050405020304" pitchFamily="18" charset="0"/>
                          <a:cs typeface="Times New Roman" panose="02020603050405020304" pitchFamily="18" charset="0"/>
                        </a:rPr>
                        <a:t>Zhihui</a:t>
                      </a:r>
                      <a:r>
                        <a:rPr lang="en-IN" sz="1200" b="0" dirty="0" smtClean="0">
                          <a:latin typeface="Times New Roman" panose="02020603050405020304" pitchFamily="18" charset="0"/>
                          <a:cs typeface="Times New Roman" panose="02020603050405020304" pitchFamily="18" charset="0"/>
                        </a:rPr>
                        <a:t> </a:t>
                      </a:r>
                      <a:r>
                        <a:rPr lang="en-IN" sz="1200" b="0" dirty="0" err="1" smtClean="0">
                          <a:latin typeface="Times New Roman" panose="02020603050405020304" pitchFamily="18" charset="0"/>
                          <a:cs typeface="Times New Roman" panose="02020603050405020304" pitchFamily="18" charset="0"/>
                        </a:rPr>
                        <a:t>Jin</a:t>
                      </a:r>
                      <a:r>
                        <a:rPr lang="en-IN" sz="1200" b="0" dirty="0" smtClean="0">
                          <a:latin typeface="Times New Roman" panose="02020603050405020304" pitchFamily="18" charset="0"/>
                          <a:cs typeface="Times New Roman" panose="02020603050405020304" pitchFamily="18" charset="0"/>
                        </a:rPr>
                        <a:t>, </a:t>
                      </a:r>
                      <a:r>
                        <a:rPr lang="en-IN" sz="1200" b="0" dirty="0" err="1" smtClean="0">
                          <a:latin typeface="Times New Roman" panose="02020603050405020304" pitchFamily="18" charset="0"/>
                          <a:cs typeface="Times New Roman" panose="02020603050405020304" pitchFamily="18" charset="0"/>
                        </a:rPr>
                        <a:t>Yingquan</a:t>
                      </a:r>
                      <a:r>
                        <a:rPr lang="en-IN" sz="1200" b="0" dirty="0" smtClean="0">
                          <a:latin typeface="Times New Roman" panose="02020603050405020304" pitchFamily="18" charset="0"/>
                          <a:cs typeface="Times New Roman" panose="02020603050405020304" pitchFamily="18" charset="0"/>
                        </a:rPr>
                        <a:t> Ye,</a:t>
                      </a:r>
                      <a:br>
                        <a:rPr lang="en-IN" sz="1200" b="0" dirty="0" smtClean="0">
                          <a:latin typeface="Times New Roman" panose="02020603050405020304" pitchFamily="18" charset="0"/>
                          <a:cs typeface="Times New Roman" panose="02020603050405020304" pitchFamily="18" charset="0"/>
                        </a:rPr>
                      </a:br>
                      <a:r>
                        <a:rPr lang="en-IN" sz="1200" b="0" i="1" dirty="0" smtClean="0">
                          <a:latin typeface="Times New Roman" panose="02020603050405020304" pitchFamily="18" charset="0"/>
                          <a:cs typeface="Times New Roman" panose="02020603050405020304" pitchFamily="18" charset="0"/>
                        </a:rPr>
                        <a:t>Breast Cancer Research</a:t>
                      </a:r>
                      <a:r>
                        <a:rPr lang="en-IN" sz="1200" b="0" dirty="0" smtClean="0">
                          <a:latin typeface="Times New Roman" panose="02020603050405020304" pitchFamily="18" charset="0"/>
                          <a:cs typeface="Times New Roman" panose="02020603050405020304" pitchFamily="18" charset="0"/>
                        </a:rPr>
                        <a:t>, 2024.</a:t>
                      </a:r>
                      <a:endParaRPr sz="12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Clr>
                          <a:schemeClr val="dk1"/>
                        </a:buClr>
                        <a:buSzPts val="1500"/>
                        <a:buFont typeface="Arial"/>
                        <a:buNone/>
                      </a:pPr>
                      <a:endParaRPr lang="en-IN" sz="1200" dirty="0" smtClean="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Clr>
                          <a:schemeClr val="dk1"/>
                        </a:buClr>
                        <a:buSzPts val="1500"/>
                        <a:buFont typeface="Arial"/>
                        <a:buNone/>
                      </a:pPr>
                      <a:r>
                        <a:rPr lang="en-IN" sz="1200" dirty="0" err="1" smtClean="0">
                          <a:latin typeface="Times New Roman" panose="02020603050405020304" pitchFamily="18" charset="0"/>
                          <a:cs typeface="Times New Roman" panose="02020603050405020304" pitchFamily="18" charset="0"/>
                        </a:rPr>
                        <a:t>PatchCamelyon</a:t>
                      </a:r>
                      <a:r>
                        <a:rPr lang="en-IN" sz="1200" dirty="0" smtClean="0">
                          <a:latin typeface="Times New Roman" panose="02020603050405020304" pitchFamily="18" charset="0"/>
                          <a:cs typeface="Times New Roman" panose="02020603050405020304" pitchFamily="18" charset="0"/>
                        </a:rPr>
                        <a:t> (</a:t>
                      </a:r>
                      <a:r>
                        <a:rPr lang="en-IN" sz="1200" dirty="0" err="1" smtClean="0">
                          <a:latin typeface="Times New Roman" panose="02020603050405020304" pitchFamily="18" charset="0"/>
                          <a:cs typeface="Times New Roman" panose="02020603050405020304" pitchFamily="18" charset="0"/>
                        </a:rPr>
                        <a:t>PCam</a:t>
                      </a:r>
                      <a:r>
                        <a:rPr lang="en-IN" sz="1200" dirty="0" smtClean="0">
                          <a:latin typeface="Times New Roman" panose="02020603050405020304" pitchFamily="18" charset="0"/>
                          <a:cs typeface="Times New Roman" panose="02020603050405020304" pitchFamily="18" charset="0"/>
                        </a:rPr>
                        <a:t>), Histopathology Image Dataset (lymph node sections), </a:t>
                      </a:r>
                      <a:r>
                        <a:rPr lang="en-IN" sz="1200" dirty="0" err="1" smtClean="0">
                          <a:latin typeface="Times New Roman" panose="02020603050405020304" pitchFamily="18" charset="0"/>
                          <a:cs typeface="Times New Roman" panose="02020603050405020304" pitchFamily="18" charset="0"/>
                        </a:rPr>
                        <a:t>TensorFlow</a:t>
                      </a:r>
                      <a:r>
                        <a:rPr lang="en-IN" sz="1200" dirty="0" smtClean="0">
                          <a:latin typeface="Times New Roman" panose="02020603050405020304" pitchFamily="18" charset="0"/>
                          <a:cs typeface="Times New Roman" panose="02020603050405020304" pitchFamily="18" charset="0"/>
                        </a:rPr>
                        <a:t> Datasets (TFDS)</a:t>
                      </a:r>
                      <a:endParaRPr sz="1200" b="0" i="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285750" marR="0" lvl="0" indent="-285750" algn="l" rtl="0">
                        <a:lnSpc>
                          <a:spcPct val="100000"/>
                        </a:lnSpc>
                        <a:spcBef>
                          <a:spcPts val="0"/>
                        </a:spcBef>
                        <a:spcAft>
                          <a:spcPts val="0"/>
                        </a:spcAft>
                        <a:buClr>
                          <a:schemeClr val="dk1"/>
                        </a:buClr>
                        <a:buSzPts val="1500"/>
                        <a:buFont typeface="Arial" panose="020B0604020202020204" pitchFamily="34" charset="0"/>
                        <a:buChar char="•"/>
                      </a:pPr>
                      <a:r>
                        <a:rPr lang="en-US" sz="1200" dirty="0" smtClean="0">
                          <a:latin typeface="Times New Roman" panose="02020603050405020304" pitchFamily="18" charset="0"/>
                          <a:cs typeface="Times New Roman" panose="02020603050405020304" pitchFamily="18" charset="0"/>
                        </a:rPr>
                        <a:t>CNN-based architectures (</a:t>
                      </a:r>
                      <a:r>
                        <a:rPr lang="en-US" sz="1200" dirty="0" err="1" smtClean="0">
                          <a:latin typeface="Times New Roman" panose="02020603050405020304" pitchFamily="18" charset="0"/>
                          <a:cs typeface="Times New Roman" panose="02020603050405020304" pitchFamily="18" charset="0"/>
                        </a:rPr>
                        <a:t>ResNet</a:t>
                      </a:r>
                      <a:r>
                        <a:rPr lang="en-US" sz="1200" dirty="0" smtClean="0">
                          <a:latin typeface="Times New Roman" panose="02020603050405020304" pitchFamily="18" charset="0"/>
                          <a:cs typeface="Times New Roman" panose="02020603050405020304" pitchFamily="18" charset="0"/>
                        </a:rPr>
                        <a:t>, VGG, U-Net) effectively extracted features, while Transformers captured global dependencies in images</a:t>
                      </a:r>
                      <a:r>
                        <a:rPr lang="en-US" sz="1200" dirty="0" smtClean="0">
                          <a:latin typeface="Times New Roman" panose="02020603050405020304" pitchFamily="18" charset="0"/>
                          <a:cs typeface="Times New Roman" panose="02020603050405020304" pitchFamily="18" charset="0"/>
                        </a:rPr>
                        <a:t>.</a:t>
                      </a:r>
                      <a:endParaRPr lang="en-US" sz="1200" dirty="0" smtClean="0">
                        <a:latin typeface="Times New Roman" panose="02020603050405020304" pitchFamily="18" charset="0"/>
                        <a:cs typeface="Times New Roman" panose="02020603050405020304" pitchFamily="18" charset="0"/>
                      </a:endParaRPr>
                    </a:p>
                  </a:txBody>
                  <a:tcPr marL="91450" marR="91450" marT="45725" marB="45725"/>
                </a:tc>
                <a:tc>
                  <a:txBody>
                    <a:bodyPr/>
                    <a:lstStyle/>
                    <a:p>
                      <a:pPr marL="285750" marR="0" lvl="0" indent="-285750" algn="l" rtl="0">
                        <a:spcBef>
                          <a:spcPts val="0"/>
                        </a:spcBef>
                        <a:spcAft>
                          <a:spcPts val="0"/>
                        </a:spcAft>
                        <a:buClr>
                          <a:schemeClr val="dk1"/>
                        </a:buClr>
                        <a:buSzPts val="1500"/>
                        <a:buFont typeface="Arial"/>
                        <a:buChar char="•"/>
                      </a:pPr>
                      <a:r>
                        <a:rPr lang="en-US" sz="1200" dirty="0" smtClean="0">
                          <a:latin typeface="Times New Roman" panose="02020603050405020304" pitchFamily="18" charset="0"/>
                          <a:cs typeface="Times New Roman" panose="02020603050405020304" pitchFamily="18" charset="0"/>
                        </a:rPr>
                        <a:t>The study demonstrates that deep learning models significantly improve accuracy and efficiency in breast cancer diagnosis using histopathology images.</a:t>
                      </a:r>
                    </a:p>
                    <a:p>
                      <a:pPr marL="285750" marR="0" lvl="0" indent="-285750" algn="l" rtl="0">
                        <a:spcBef>
                          <a:spcPts val="0"/>
                        </a:spcBef>
                        <a:spcAft>
                          <a:spcPts val="0"/>
                        </a:spcAft>
                        <a:buClr>
                          <a:schemeClr val="dk1"/>
                        </a:buClr>
                        <a:buSzPts val="1500"/>
                        <a:buFont typeface="Arial"/>
                        <a:buChar char="•"/>
                      </a:pPr>
                      <a:r>
                        <a:rPr lang="en-US" sz="1200" dirty="0" smtClean="0">
                          <a:latin typeface="Times New Roman" panose="02020603050405020304" pitchFamily="18" charset="0"/>
                          <a:cs typeface="Times New Roman" panose="02020603050405020304" pitchFamily="18" charset="0"/>
                        </a:rPr>
                        <a:t>The use of multiple architectures and datasets improves model robustness and generalization.</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1412428">
                <a:tc>
                  <a:txBody>
                    <a:bodyPr/>
                    <a:lstStyle/>
                    <a:p>
                      <a:pPr marL="0" marR="0" lvl="0" indent="0" algn="ctr" rtl="0">
                        <a:spcBef>
                          <a:spcPts val="0"/>
                        </a:spcBef>
                        <a:spcAft>
                          <a:spcPts val="0"/>
                        </a:spcAft>
                        <a:buNone/>
                      </a:pPr>
                      <a:endParaRPr sz="1200" dirty="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sz="1200" dirty="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sz="1200" dirty="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sz="1200" dirty="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sz="1200" dirty="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IN" sz="1200" dirty="0">
                          <a:latin typeface="Times New Roman" panose="02020603050405020304" pitchFamily="18" charset="0"/>
                          <a:ea typeface="Times New Roman"/>
                          <a:cs typeface="Times New Roman" panose="02020603050405020304" pitchFamily="18" charset="0"/>
                          <a:sym typeface="Times New Roman"/>
                        </a:rPr>
                        <a:t>2.</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endParaRPr sz="1200" b="0" dirty="0">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r>
                        <a:rPr lang="en-IN" sz="1200" b="0" dirty="0">
                          <a:latin typeface="Times New Roman" panose="02020603050405020304" pitchFamily="18" charset="0"/>
                          <a:ea typeface="Times New Roman"/>
                          <a:cs typeface="Times New Roman" panose="02020603050405020304" pitchFamily="18" charset="0"/>
                          <a:sym typeface="Times New Roman"/>
                        </a:rPr>
                        <a:t>Transformer-Based Explainable Deep Learning for Breast Cancer Detection in Mammography: The </a:t>
                      </a:r>
                      <a:r>
                        <a:rPr lang="en-IN" sz="1200" b="0" dirty="0" err="1">
                          <a:latin typeface="Times New Roman" panose="02020603050405020304" pitchFamily="18" charset="0"/>
                          <a:ea typeface="Times New Roman"/>
                          <a:cs typeface="Times New Roman" panose="02020603050405020304" pitchFamily="18" charset="0"/>
                          <a:sym typeface="Times New Roman"/>
                        </a:rPr>
                        <a:t>MammoFormer</a:t>
                      </a:r>
                      <a:r>
                        <a:rPr lang="en-IN" sz="1200" b="0" dirty="0">
                          <a:latin typeface="Times New Roman" panose="02020603050405020304" pitchFamily="18" charset="0"/>
                          <a:ea typeface="Times New Roman"/>
                          <a:cs typeface="Times New Roman" panose="02020603050405020304" pitchFamily="18" charset="0"/>
                          <a:sym typeface="Times New Roman"/>
                        </a:rPr>
                        <a:t> Framework,</a:t>
                      </a:r>
                      <a:br>
                        <a:rPr lang="en-IN" sz="1200" b="0" dirty="0">
                          <a:latin typeface="Times New Roman" panose="02020603050405020304" pitchFamily="18" charset="0"/>
                          <a:ea typeface="Times New Roman"/>
                          <a:cs typeface="Times New Roman" panose="02020603050405020304" pitchFamily="18" charset="0"/>
                          <a:sym typeface="Times New Roman"/>
                        </a:rPr>
                      </a:br>
                      <a:r>
                        <a:rPr lang="en-IN" sz="1200" b="0" i="1" dirty="0" err="1">
                          <a:latin typeface="Times New Roman" panose="02020603050405020304" pitchFamily="18" charset="0"/>
                          <a:ea typeface="Times New Roman"/>
                          <a:cs typeface="Times New Roman" panose="02020603050405020304" pitchFamily="18" charset="0"/>
                          <a:sym typeface="Times New Roman"/>
                        </a:rPr>
                        <a:t>Ojonugwa</a:t>
                      </a:r>
                      <a:r>
                        <a:rPr lang="en-IN" sz="1200" b="0" i="1" dirty="0">
                          <a:latin typeface="Times New Roman" panose="02020603050405020304" pitchFamily="18" charset="0"/>
                          <a:ea typeface="Times New Roman"/>
                          <a:cs typeface="Times New Roman" panose="02020603050405020304" pitchFamily="18" charset="0"/>
                          <a:sym typeface="Times New Roman"/>
                        </a:rPr>
                        <a:t> </a:t>
                      </a:r>
                      <a:r>
                        <a:rPr lang="en-IN" sz="1200" b="0" i="1" dirty="0" err="1">
                          <a:latin typeface="Times New Roman" panose="02020603050405020304" pitchFamily="18" charset="0"/>
                          <a:ea typeface="Times New Roman"/>
                          <a:cs typeface="Times New Roman" panose="02020603050405020304" pitchFamily="18" charset="0"/>
                          <a:sym typeface="Times New Roman"/>
                        </a:rPr>
                        <a:t>Oluwafemi</a:t>
                      </a:r>
                      <a:r>
                        <a:rPr lang="en-IN" sz="1200" b="0" i="1" dirty="0">
                          <a:latin typeface="Times New Roman" panose="02020603050405020304" pitchFamily="18" charset="0"/>
                          <a:ea typeface="Times New Roman"/>
                          <a:cs typeface="Times New Roman" panose="02020603050405020304" pitchFamily="18" charset="0"/>
                          <a:sym typeface="Times New Roman"/>
                        </a:rPr>
                        <a:t> </a:t>
                      </a:r>
                      <a:r>
                        <a:rPr lang="en-IN" sz="1200" b="0" i="1" dirty="0" err="1">
                          <a:latin typeface="Times New Roman" panose="02020603050405020304" pitchFamily="18" charset="0"/>
                          <a:ea typeface="Times New Roman"/>
                          <a:cs typeface="Times New Roman" panose="02020603050405020304" pitchFamily="18" charset="0"/>
                          <a:sym typeface="Times New Roman"/>
                        </a:rPr>
                        <a:t>Ejiga</a:t>
                      </a:r>
                      <a:r>
                        <a:rPr lang="en-IN" sz="1200" b="0" i="1" dirty="0">
                          <a:latin typeface="Times New Roman" panose="02020603050405020304" pitchFamily="18" charset="0"/>
                          <a:ea typeface="Times New Roman"/>
                          <a:cs typeface="Times New Roman" panose="02020603050405020304" pitchFamily="18" charset="0"/>
                          <a:sym typeface="Times New Roman"/>
                        </a:rPr>
                        <a:t> Peter, Daniel </a:t>
                      </a:r>
                      <a:r>
                        <a:rPr lang="en-IN" sz="1200" b="0" i="1" dirty="0" err="1">
                          <a:latin typeface="Times New Roman" panose="02020603050405020304" pitchFamily="18" charset="0"/>
                          <a:ea typeface="Times New Roman"/>
                          <a:cs typeface="Times New Roman" panose="02020603050405020304" pitchFamily="18" charset="0"/>
                          <a:sym typeface="Times New Roman"/>
                        </a:rPr>
                        <a:t>Emakporuena</a:t>
                      </a:r>
                      <a:r>
                        <a:rPr lang="en-IN" sz="1200" b="0" i="1" dirty="0">
                          <a:latin typeface="Times New Roman" panose="02020603050405020304" pitchFamily="18" charset="0"/>
                          <a:ea typeface="Times New Roman"/>
                          <a:cs typeface="Times New Roman" panose="02020603050405020304" pitchFamily="18" charset="0"/>
                          <a:sym typeface="Times New Roman"/>
                        </a:rPr>
                        <a:t> et al.</a:t>
                      </a:r>
                      <a:r>
                        <a:rPr lang="en-IN" sz="1200" b="0" dirty="0">
                          <a:latin typeface="Times New Roman" panose="02020603050405020304" pitchFamily="18" charset="0"/>
                          <a:ea typeface="Times New Roman"/>
                          <a:cs typeface="Times New Roman" panose="02020603050405020304" pitchFamily="18" charset="0"/>
                          <a:sym typeface="Times New Roman"/>
                        </a:rPr>
                        <a:t>, American Journal of Computer Science and Technology, 2025.</a:t>
                      </a:r>
                      <a:endParaRPr sz="12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500"/>
                        <a:buFont typeface="Calibri"/>
                        <a:buNone/>
                      </a:pPr>
                      <a:endParaRPr sz="1200" b="0" dirty="0">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1500"/>
                        <a:buFont typeface="Calibri"/>
                        <a:buNone/>
                      </a:pPr>
                      <a:endParaRPr lang="en-IN" sz="1200" b="0" dirty="0" smtClean="0">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1500"/>
                        <a:buFont typeface="Calibri"/>
                        <a:buNone/>
                      </a:pPr>
                      <a:endParaRPr sz="1200" b="0" dirty="0">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1500"/>
                        <a:buFont typeface="Times New Roman"/>
                        <a:buNone/>
                      </a:pPr>
                      <a:r>
                        <a:rPr lang="en-IN" sz="1200" b="0" i="0" dirty="0">
                          <a:solidFill>
                            <a:schemeClr val="dk1"/>
                          </a:solidFill>
                          <a:latin typeface="Times New Roman" panose="02020603050405020304" pitchFamily="18" charset="0"/>
                          <a:ea typeface="Times New Roman"/>
                          <a:cs typeface="Times New Roman" panose="02020603050405020304" pitchFamily="18" charset="0"/>
                          <a:sym typeface="Times New Roman"/>
                        </a:rPr>
                        <a:t>CBIS-DDSM (Curated Breast Imaging Subset of Digital </a:t>
                      </a:r>
                      <a:r>
                        <a:rPr lang="en-IN" sz="1200" b="0" i="0" dirty="0" err="1">
                          <a:solidFill>
                            <a:schemeClr val="dk1"/>
                          </a:solidFill>
                          <a:latin typeface="Times New Roman" panose="02020603050405020304" pitchFamily="18" charset="0"/>
                          <a:ea typeface="Times New Roman"/>
                          <a:cs typeface="Times New Roman" panose="02020603050405020304" pitchFamily="18" charset="0"/>
                          <a:sym typeface="Times New Roman"/>
                        </a:rPr>
                        <a:t>Data`base</a:t>
                      </a:r>
                      <a:r>
                        <a:rPr lang="en-IN" sz="1200" b="0" i="0" dirty="0">
                          <a:solidFill>
                            <a:schemeClr val="dk1"/>
                          </a:solidFill>
                          <a:latin typeface="Times New Roman" panose="02020603050405020304" pitchFamily="18" charset="0"/>
                          <a:ea typeface="Times New Roman"/>
                          <a:cs typeface="Times New Roman" panose="02020603050405020304" pitchFamily="18" charset="0"/>
                          <a:sym typeface="Times New Roman"/>
                        </a:rPr>
                        <a:t> for Screening Mammography)</a:t>
                      </a:r>
                      <a:endParaRPr sz="1200" b="0" dirty="0">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endParaRPr sz="12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285750" marR="0" lvl="0" indent="-285750" algn="l" rtl="0">
                        <a:spcBef>
                          <a:spcPts val="0"/>
                        </a:spcBef>
                        <a:spcAft>
                          <a:spcPts val="0"/>
                        </a:spcAft>
                        <a:buClr>
                          <a:schemeClr val="dk1"/>
                        </a:buClr>
                        <a:buSzPts val="1500"/>
                        <a:buFont typeface="Arial"/>
                        <a:buChar char="•"/>
                      </a:pPr>
                      <a:r>
                        <a:rPr lang="en-IN" sz="1200" b="0" dirty="0" err="1">
                          <a:latin typeface="Times New Roman" panose="02020603050405020304" pitchFamily="18" charset="0"/>
                          <a:ea typeface="Times New Roman"/>
                          <a:cs typeface="Times New Roman" panose="02020603050405020304" pitchFamily="18" charset="0"/>
                          <a:sym typeface="Times New Roman"/>
                        </a:rPr>
                        <a:t>MammoFormer</a:t>
                      </a:r>
                      <a:r>
                        <a:rPr lang="en-IN" sz="1200" b="0" dirty="0">
                          <a:latin typeface="Times New Roman" panose="02020603050405020304" pitchFamily="18" charset="0"/>
                          <a:ea typeface="Times New Roman"/>
                          <a:cs typeface="Times New Roman" panose="02020603050405020304" pitchFamily="18" charset="0"/>
                          <a:sym typeface="Times New Roman"/>
                        </a:rPr>
                        <a:t> framework combining CNNs (</a:t>
                      </a:r>
                      <a:r>
                        <a:rPr lang="en-IN" sz="1200" b="0" dirty="0" err="1">
                          <a:latin typeface="Times New Roman" panose="02020603050405020304" pitchFamily="18" charset="0"/>
                          <a:ea typeface="Times New Roman"/>
                          <a:cs typeface="Times New Roman" panose="02020603050405020304" pitchFamily="18" charset="0"/>
                          <a:sym typeface="Times New Roman"/>
                        </a:rPr>
                        <a:t>ResNet</a:t>
                      </a:r>
                      <a:r>
                        <a:rPr lang="en-IN" sz="1200" b="0" dirty="0">
                          <a:latin typeface="Times New Roman" panose="02020603050405020304" pitchFamily="18" charset="0"/>
                          <a:ea typeface="Times New Roman"/>
                          <a:cs typeface="Times New Roman" panose="02020603050405020304" pitchFamily="18" charset="0"/>
                          <a:sym typeface="Times New Roman"/>
                        </a:rPr>
                        <a:t>) and Transformers (</a:t>
                      </a:r>
                      <a:r>
                        <a:rPr lang="en-IN" sz="1200" b="0" dirty="0" err="1">
                          <a:latin typeface="Times New Roman" panose="02020603050405020304" pitchFamily="18" charset="0"/>
                          <a:ea typeface="Times New Roman"/>
                          <a:cs typeface="Times New Roman" panose="02020603050405020304" pitchFamily="18" charset="0"/>
                          <a:sym typeface="Times New Roman"/>
                        </a:rPr>
                        <a:t>ViT</a:t>
                      </a:r>
                      <a:r>
                        <a:rPr lang="en-IN" sz="1200" b="0" dirty="0">
                          <a:latin typeface="Times New Roman" panose="02020603050405020304" pitchFamily="18" charset="0"/>
                          <a:ea typeface="Times New Roman"/>
                          <a:cs typeface="Times New Roman" panose="02020603050405020304" pitchFamily="18" charset="0"/>
                          <a:sym typeface="Times New Roman"/>
                        </a:rPr>
                        <a:t>) with HOG feature enhancement.</a:t>
                      </a:r>
                      <a:endParaRPr sz="1200" dirty="0">
                        <a:latin typeface="Times New Roman" panose="02020603050405020304" pitchFamily="18" charset="0"/>
                        <a:cs typeface="Times New Roman" panose="02020603050405020304" pitchFamily="18" charset="0"/>
                      </a:endParaRPr>
                    </a:p>
                    <a:p>
                      <a:pPr marL="285750" marR="0" lvl="0" indent="-285750" algn="l" rtl="0">
                        <a:spcBef>
                          <a:spcPts val="0"/>
                        </a:spcBef>
                        <a:spcAft>
                          <a:spcPts val="0"/>
                        </a:spcAft>
                        <a:buClr>
                          <a:schemeClr val="dk1"/>
                        </a:buClr>
                        <a:buSzPts val="1500"/>
                        <a:buFont typeface="Arial"/>
                        <a:buChar char="•"/>
                      </a:pPr>
                      <a:r>
                        <a:rPr lang="en-IN" sz="1200" b="0" dirty="0">
                          <a:latin typeface="Times New Roman" panose="02020603050405020304" pitchFamily="18" charset="0"/>
                          <a:ea typeface="Times New Roman"/>
                          <a:cs typeface="Times New Roman" panose="02020603050405020304" pitchFamily="18" charset="0"/>
                          <a:sym typeface="Times New Roman"/>
                        </a:rPr>
                        <a:t>Achieved 99.9% accuracy (CNN) and 99.0% accuracy (</a:t>
                      </a:r>
                      <a:r>
                        <a:rPr lang="en-IN" sz="1200" b="0" dirty="0" err="1">
                          <a:latin typeface="Times New Roman" panose="02020603050405020304" pitchFamily="18" charset="0"/>
                          <a:ea typeface="Times New Roman"/>
                          <a:cs typeface="Times New Roman" panose="02020603050405020304" pitchFamily="18" charset="0"/>
                          <a:sym typeface="Times New Roman"/>
                        </a:rPr>
                        <a:t>ViT</a:t>
                      </a:r>
                      <a:r>
                        <a:rPr lang="en-IN" sz="1200" b="0" dirty="0">
                          <a:latin typeface="Times New Roman" panose="02020603050405020304" pitchFamily="18" charset="0"/>
                          <a:ea typeface="Times New Roman"/>
                          <a:cs typeface="Times New Roman" panose="02020603050405020304" pitchFamily="18" charset="0"/>
                          <a:sym typeface="Times New Roman"/>
                        </a:rPr>
                        <a:t> + HOG) on the CBIS-DDSM dataset.</a:t>
                      </a:r>
                      <a:endParaRPr sz="12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12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285750" marR="0" lvl="0" indent="-285750" algn="l" rtl="0">
                        <a:spcBef>
                          <a:spcPts val="0"/>
                        </a:spcBef>
                        <a:spcAft>
                          <a:spcPts val="0"/>
                        </a:spcAft>
                        <a:buClr>
                          <a:schemeClr val="dk1"/>
                        </a:buClr>
                        <a:buSzPts val="1500"/>
                        <a:buFont typeface="Arial"/>
                        <a:buChar char="•"/>
                      </a:pPr>
                      <a:r>
                        <a:rPr lang="en-IN" sz="1200" b="0" dirty="0">
                          <a:latin typeface="Times New Roman" panose="02020603050405020304" pitchFamily="18" charset="0"/>
                          <a:ea typeface="Times New Roman"/>
                          <a:cs typeface="Times New Roman" panose="02020603050405020304" pitchFamily="18" charset="0"/>
                          <a:sym typeface="Times New Roman"/>
                        </a:rPr>
                        <a:t>Effectively integrates CNNs and Transformers to improve mammography-based breast cancer detection.</a:t>
                      </a:r>
                      <a:endParaRPr sz="1200" dirty="0">
                        <a:latin typeface="Times New Roman" panose="02020603050405020304" pitchFamily="18" charset="0"/>
                        <a:cs typeface="Times New Roman" panose="02020603050405020304" pitchFamily="18" charset="0"/>
                      </a:endParaRPr>
                    </a:p>
                    <a:p>
                      <a:pPr marL="285750" marR="0" lvl="0" indent="-285750" algn="l" rtl="0">
                        <a:spcBef>
                          <a:spcPts val="0"/>
                        </a:spcBef>
                        <a:spcAft>
                          <a:spcPts val="0"/>
                        </a:spcAft>
                        <a:buClr>
                          <a:schemeClr val="dk1"/>
                        </a:buClr>
                        <a:buSzPts val="1500"/>
                        <a:buFont typeface="Arial"/>
                        <a:buChar char="•"/>
                      </a:pPr>
                      <a:r>
                        <a:rPr lang="en-IN" sz="1200" b="0" dirty="0">
                          <a:latin typeface="Times New Roman" panose="02020603050405020304" pitchFamily="18" charset="0"/>
                          <a:ea typeface="Times New Roman"/>
                          <a:cs typeface="Times New Roman" panose="02020603050405020304" pitchFamily="18" charset="0"/>
                          <a:sym typeface="Times New Roman"/>
                        </a:rPr>
                        <a:t>Emphasizes </a:t>
                      </a:r>
                      <a:r>
                        <a:rPr lang="en-IN" sz="1200" b="0" dirty="0" err="1">
                          <a:latin typeface="Times New Roman" panose="02020603050405020304" pitchFamily="18" charset="0"/>
                          <a:ea typeface="Times New Roman"/>
                          <a:cs typeface="Times New Roman" panose="02020603050405020304" pitchFamily="18" charset="0"/>
                          <a:sym typeface="Times New Roman"/>
                        </a:rPr>
                        <a:t>explainability</a:t>
                      </a:r>
                      <a:r>
                        <a:rPr lang="en-IN" sz="1200" b="0" dirty="0">
                          <a:latin typeface="Times New Roman" panose="02020603050405020304" pitchFamily="18" charset="0"/>
                          <a:ea typeface="Times New Roman"/>
                          <a:cs typeface="Times New Roman" panose="02020603050405020304" pitchFamily="18" charset="0"/>
                          <a:sym typeface="Times New Roman"/>
                        </a:rPr>
                        <a:t>, making the framework suitable for clinical adoption.</a:t>
                      </a:r>
                      <a:endParaRPr sz="1200" dirty="0">
                        <a:latin typeface="Times New Roman" panose="02020603050405020304" pitchFamily="18" charset="0"/>
                        <a:cs typeface="Times New Roman" panose="02020603050405020304" pitchFamily="18" charset="0"/>
                      </a:endParaRPr>
                    </a:p>
                    <a:p>
                      <a:pPr marL="285750" marR="0" lvl="0" indent="-285750" algn="l" rtl="0">
                        <a:spcBef>
                          <a:spcPts val="0"/>
                        </a:spcBef>
                        <a:spcAft>
                          <a:spcPts val="0"/>
                        </a:spcAft>
                        <a:buClr>
                          <a:schemeClr val="dk1"/>
                        </a:buClr>
                        <a:buSzPts val="1500"/>
                        <a:buFont typeface="Arial"/>
                        <a:buChar char="•"/>
                      </a:pPr>
                      <a:r>
                        <a:rPr lang="en-IN" sz="1200" b="0" dirty="0">
                          <a:latin typeface="Times New Roman" panose="02020603050405020304" pitchFamily="18" charset="0"/>
                          <a:ea typeface="Times New Roman"/>
                          <a:cs typeface="Times New Roman" panose="02020603050405020304" pitchFamily="18" charset="0"/>
                          <a:sym typeface="Times New Roman"/>
                        </a:rPr>
                        <a:t>Demonstrates strong performance through architecture-specific feature enhancement.</a:t>
                      </a:r>
                      <a:endParaRPr sz="12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chemeClr val="dk1"/>
                        </a:buClr>
                        <a:buSzPts val="1500"/>
                        <a:buFont typeface="Calibri"/>
                        <a:buNone/>
                      </a:pPr>
                      <a:endParaRPr sz="12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2"/>
                  </a:ext>
                </a:extLst>
              </a:tr>
              <a:tr h="1702922">
                <a:tc>
                  <a:txBody>
                    <a:bodyPr/>
                    <a:lstStyle/>
                    <a:p>
                      <a:pPr marL="0" marR="0" lvl="0" indent="0" algn="ctr" rtl="0">
                        <a:spcBef>
                          <a:spcPts val="0"/>
                        </a:spcBef>
                        <a:spcAft>
                          <a:spcPts val="0"/>
                        </a:spcAft>
                        <a:buNone/>
                      </a:pPr>
                      <a:endParaRPr lang="en-IN" sz="1200" dirty="0" smtClean="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lang="en-IN" sz="1200" dirty="0" smtClean="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lang="en-IN" sz="1200" dirty="0" smtClean="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lang="en-IN" sz="1200" dirty="0" smtClean="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endParaRPr lang="en-IN" sz="1200" dirty="0" smtClean="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IN" sz="1200" dirty="0" smtClean="0">
                          <a:latin typeface="Times New Roman" panose="02020603050405020304" pitchFamily="18" charset="0"/>
                          <a:ea typeface="Times New Roman"/>
                          <a:cs typeface="Times New Roman" panose="02020603050405020304" pitchFamily="18" charset="0"/>
                          <a:sym typeface="Times New Roman"/>
                        </a:rPr>
                        <a:t>3.</a:t>
                      </a:r>
                      <a:endParaRPr lang="en-IN"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500"/>
                        <a:buFont typeface="Calibri"/>
                        <a:buNone/>
                      </a:pPr>
                      <a:endParaRPr sz="1200" b="0" dirty="0">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1500"/>
                        <a:buFont typeface="Times New Roman"/>
                        <a:buNone/>
                      </a:pPr>
                      <a:r>
                        <a:rPr lang="en-IN" sz="1200" b="0" dirty="0">
                          <a:latin typeface="Times New Roman" panose="02020603050405020304" pitchFamily="18" charset="0"/>
                          <a:ea typeface="Times New Roman"/>
                          <a:cs typeface="Times New Roman" panose="02020603050405020304" pitchFamily="18" charset="0"/>
                          <a:sym typeface="Times New Roman"/>
                        </a:rPr>
                        <a:t>Breast Cancer Prediction by </a:t>
                      </a:r>
                      <a:r>
                        <a:rPr lang="en-IN" sz="1200" b="0" dirty="0" err="1">
                          <a:latin typeface="Times New Roman" panose="02020603050405020304" pitchFamily="18" charset="0"/>
                          <a:ea typeface="Times New Roman"/>
                          <a:cs typeface="Times New Roman" panose="02020603050405020304" pitchFamily="18" charset="0"/>
                          <a:sym typeface="Times New Roman"/>
                        </a:rPr>
                        <a:t>Ensembling</a:t>
                      </a:r>
                      <a:r>
                        <a:rPr lang="en-IN" sz="1200" b="0" dirty="0">
                          <a:latin typeface="Times New Roman" panose="02020603050405020304" pitchFamily="18" charset="0"/>
                          <a:ea typeface="Times New Roman"/>
                          <a:cs typeface="Times New Roman" panose="02020603050405020304" pitchFamily="18" charset="0"/>
                          <a:sym typeface="Times New Roman"/>
                        </a:rPr>
                        <a:t> Machine Learning Algorithms and Explainable AI,</a:t>
                      </a:r>
                      <a:br>
                        <a:rPr lang="en-IN" sz="1200" b="0" dirty="0">
                          <a:latin typeface="Times New Roman" panose="02020603050405020304" pitchFamily="18" charset="0"/>
                          <a:ea typeface="Times New Roman"/>
                          <a:cs typeface="Times New Roman" panose="02020603050405020304" pitchFamily="18" charset="0"/>
                          <a:sym typeface="Times New Roman"/>
                        </a:rPr>
                      </a:br>
                      <a:r>
                        <a:rPr lang="en-IN" sz="1200" b="0" i="1" dirty="0">
                          <a:latin typeface="Times New Roman" panose="02020603050405020304" pitchFamily="18" charset="0"/>
                          <a:ea typeface="Times New Roman"/>
                          <a:cs typeface="Times New Roman" panose="02020603050405020304" pitchFamily="18" charset="0"/>
                          <a:sym typeface="Times New Roman"/>
                        </a:rPr>
                        <a:t>M. </a:t>
                      </a:r>
                      <a:r>
                        <a:rPr lang="en-IN" sz="1200" b="0" i="1" dirty="0" err="1">
                          <a:latin typeface="Times New Roman" panose="02020603050405020304" pitchFamily="18" charset="0"/>
                          <a:ea typeface="Times New Roman"/>
                          <a:cs typeface="Times New Roman" panose="02020603050405020304" pitchFamily="18" charset="0"/>
                          <a:sym typeface="Times New Roman"/>
                        </a:rPr>
                        <a:t>Sobhana</a:t>
                      </a:r>
                      <a:r>
                        <a:rPr lang="en-IN" sz="1200" b="0" i="1" dirty="0">
                          <a:latin typeface="Times New Roman" panose="02020603050405020304" pitchFamily="18" charset="0"/>
                          <a:ea typeface="Times New Roman"/>
                          <a:cs typeface="Times New Roman" panose="02020603050405020304" pitchFamily="18" charset="0"/>
                          <a:sym typeface="Times New Roman"/>
                        </a:rPr>
                        <a:t>, Anil Kumar </a:t>
                      </a:r>
                      <a:r>
                        <a:rPr lang="en-IN" sz="1200" b="0" i="1" dirty="0" err="1">
                          <a:latin typeface="Times New Roman" panose="02020603050405020304" pitchFamily="18" charset="0"/>
                          <a:ea typeface="Times New Roman"/>
                          <a:cs typeface="Times New Roman" panose="02020603050405020304" pitchFamily="18" charset="0"/>
                          <a:sym typeface="Times New Roman"/>
                        </a:rPr>
                        <a:t>Palaketi</a:t>
                      </a:r>
                      <a:r>
                        <a:rPr lang="en-IN" sz="1200" b="0" i="1" dirty="0">
                          <a:latin typeface="Times New Roman" panose="02020603050405020304" pitchFamily="18" charset="0"/>
                          <a:ea typeface="Times New Roman"/>
                          <a:cs typeface="Times New Roman" panose="02020603050405020304" pitchFamily="18" charset="0"/>
                          <a:sym typeface="Times New Roman"/>
                        </a:rPr>
                        <a:t>, </a:t>
                      </a:r>
                      <a:r>
                        <a:rPr lang="en-IN" sz="1200" b="0" i="1" dirty="0" err="1">
                          <a:latin typeface="Times New Roman" panose="02020603050405020304" pitchFamily="18" charset="0"/>
                          <a:ea typeface="Times New Roman"/>
                          <a:cs typeface="Times New Roman" panose="02020603050405020304" pitchFamily="18" charset="0"/>
                          <a:sym typeface="Times New Roman"/>
                        </a:rPr>
                        <a:t>Ramya</a:t>
                      </a:r>
                      <a:r>
                        <a:rPr lang="en-IN" sz="1200" b="0" i="1" dirty="0">
                          <a:latin typeface="Times New Roman" panose="02020603050405020304" pitchFamily="18" charset="0"/>
                          <a:ea typeface="Times New Roman"/>
                          <a:cs typeface="Times New Roman" panose="02020603050405020304" pitchFamily="18" charset="0"/>
                          <a:sym typeface="Times New Roman"/>
                        </a:rPr>
                        <a:t> </a:t>
                      </a:r>
                      <a:r>
                        <a:rPr lang="en-IN" sz="1200" b="0" i="1" dirty="0" err="1">
                          <a:latin typeface="Times New Roman" panose="02020603050405020304" pitchFamily="18" charset="0"/>
                          <a:ea typeface="Times New Roman"/>
                          <a:cs typeface="Times New Roman" panose="02020603050405020304" pitchFamily="18" charset="0"/>
                          <a:sym typeface="Times New Roman"/>
                        </a:rPr>
                        <a:t>Nalabothu</a:t>
                      </a:r>
                      <a:r>
                        <a:rPr lang="en-IN" sz="1200" b="0" dirty="0">
                          <a:latin typeface="Times New Roman" panose="02020603050405020304" pitchFamily="18" charset="0"/>
                          <a:ea typeface="Times New Roman"/>
                          <a:cs typeface="Times New Roman" panose="02020603050405020304" pitchFamily="18" charset="0"/>
                          <a:sym typeface="Times New Roman"/>
                        </a:rPr>
                        <a:t>, Conference Publication, 2024.</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IN" sz="1200" b="0" dirty="0">
                          <a:latin typeface="Times New Roman" panose="02020603050405020304" pitchFamily="18" charset="0"/>
                          <a:ea typeface="Times New Roman"/>
                          <a:cs typeface="Times New Roman" panose="02020603050405020304" pitchFamily="18" charset="0"/>
                          <a:sym typeface="Times New Roman"/>
                        </a:rPr>
                        <a:t>The model utilized the Wisconsin dataset for training and testing.</a:t>
                      </a:r>
                      <a:endParaRPr sz="12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r>
                        <a:rPr lang="en-IN" sz="1200" b="0" dirty="0">
                          <a:latin typeface="Times New Roman" panose="02020603050405020304" pitchFamily="18" charset="0"/>
                          <a:ea typeface="Times New Roman"/>
                          <a:cs typeface="Times New Roman" panose="02020603050405020304" pitchFamily="18" charset="0"/>
                          <a:sym typeface="Times New Roman"/>
                        </a:rPr>
                        <a:t>This dataset contains:</a:t>
                      </a:r>
                      <a:endParaRPr sz="12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r>
                        <a:rPr lang="en-IN" sz="1200" b="0" dirty="0">
                          <a:latin typeface="Times New Roman" panose="02020603050405020304" pitchFamily="18" charset="0"/>
                          <a:ea typeface="Times New Roman"/>
                          <a:cs typeface="Times New Roman" panose="02020603050405020304" pitchFamily="18" charset="0"/>
                          <a:sym typeface="Times New Roman"/>
                        </a:rPr>
                        <a:t>569 unique patient records,357 cases of benign </a:t>
                      </a:r>
                      <a:r>
                        <a:rPr lang="en-IN" sz="1200" b="0" dirty="0" err="1">
                          <a:latin typeface="Times New Roman" panose="02020603050405020304" pitchFamily="18" charset="0"/>
                          <a:ea typeface="Times New Roman"/>
                          <a:cs typeface="Times New Roman" panose="02020603050405020304" pitchFamily="18" charset="0"/>
                          <a:sym typeface="Times New Roman"/>
                        </a:rPr>
                        <a:t>tumor</a:t>
                      </a:r>
                      <a:r>
                        <a:rPr lang="en-IN" sz="1200" b="0" dirty="0">
                          <a:latin typeface="Times New Roman" panose="02020603050405020304" pitchFamily="18" charset="0"/>
                          <a:ea typeface="Times New Roman"/>
                          <a:cs typeface="Times New Roman" panose="02020603050405020304" pitchFamily="18" charset="0"/>
                          <a:sym typeface="Times New Roman"/>
                        </a:rPr>
                        <a:t> cells, 212 cases of malignant </a:t>
                      </a:r>
                      <a:r>
                        <a:rPr lang="en-IN" sz="1200" b="0" dirty="0" err="1">
                          <a:latin typeface="Times New Roman" panose="02020603050405020304" pitchFamily="18" charset="0"/>
                          <a:ea typeface="Times New Roman"/>
                          <a:cs typeface="Times New Roman" panose="02020603050405020304" pitchFamily="18" charset="0"/>
                          <a:sym typeface="Times New Roman"/>
                        </a:rPr>
                        <a:t>tumor</a:t>
                      </a:r>
                      <a:r>
                        <a:rPr lang="en-IN" sz="1200" b="0" dirty="0">
                          <a:latin typeface="Times New Roman" panose="02020603050405020304" pitchFamily="18" charset="0"/>
                          <a:ea typeface="Times New Roman"/>
                          <a:cs typeface="Times New Roman" panose="02020603050405020304" pitchFamily="18" charset="0"/>
                          <a:sym typeface="Times New Roman"/>
                        </a:rPr>
                        <a:t> cells.</a:t>
                      </a:r>
                      <a:endParaRPr sz="12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IN" sz="1200" b="0" dirty="0">
                          <a:latin typeface="Times New Roman" panose="02020603050405020304" pitchFamily="18" charset="0"/>
                          <a:ea typeface="Times New Roman"/>
                          <a:cs typeface="Times New Roman" panose="02020603050405020304" pitchFamily="18" charset="0"/>
                          <a:sym typeface="Times New Roman"/>
                        </a:rPr>
                        <a:t>-Individual Classifier Accuracies:</a:t>
                      </a:r>
                      <a:endParaRPr sz="1200" dirty="0">
                        <a:latin typeface="Times New Roman" panose="02020603050405020304" pitchFamily="18" charset="0"/>
                        <a:cs typeface="Times New Roman" panose="02020603050405020304" pitchFamily="18" charset="0"/>
                      </a:endParaRPr>
                    </a:p>
                    <a:p>
                      <a:pPr marL="285750" marR="0" lvl="0" indent="-285750" algn="l" rtl="0">
                        <a:spcBef>
                          <a:spcPts val="0"/>
                        </a:spcBef>
                        <a:spcAft>
                          <a:spcPts val="0"/>
                        </a:spcAft>
                        <a:buClr>
                          <a:schemeClr val="dk1"/>
                        </a:buClr>
                        <a:buSzPts val="1500"/>
                        <a:buFont typeface="Arial"/>
                        <a:buChar char="•"/>
                      </a:pPr>
                      <a:r>
                        <a:rPr lang="en-IN" sz="1200" b="0" dirty="0" err="1">
                          <a:latin typeface="Times New Roman" panose="02020603050405020304" pitchFamily="18" charset="0"/>
                          <a:ea typeface="Times New Roman"/>
                          <a:cs typeface="Times New Roman" panose="02020603050405020304" pitchFamily="18" charset="0"/>
                          <a:sym typeface="Times New Roman"/>
                        </a:rPr>
                        <a:t>RandomForest</a:t>
                      </a:r>
                      <a:r>
                        <a:rPr lang="en-IN" sz="1200" b="0" dirty="0">
                          <a:latin typeface="Times New Roman" panose="02020603050405020304" pitchFamily="18" charset="0"/>
                          <a:ea typeface="Times New Roman"/>
                          <a:cs typeface="Times New Roman" panose="02020603050405020304" pitchFamily="18" charset="0"/>
                          <a:sym typeface="Times New Roman"/>
                        </a:rPr>
                        <a:t>: 94.41%</a:t>
                      </a:r>
                      <a:endParaRPr sz="1200" dirty="0">
                        <a:latin typeface="Times New Roman" panose="02020603050405020304" pitchFamily="18" charset="0"/>
                        <a:cs typeface="Times New Roman" panose="02020603050405020304" pitchFamily="18" charset="0"/>
                      </a:endParaRPr>
                    </a:p>
                    <a:p>
                      <a:pPr marL="285750" marR="0" lvl="0" indent="-285750" algn="l" rtl="0">
                        <a:spcBef>
                          <a:spcPts val="0"/>
                        </a:spcBef>
                        <a:spcAft>
                          <a:spcPts val="0"/>
                        </a:spcAft>
                        <a:buClr>
                          <a:schemeClr val="dk1"/>
                        </a:buClr>
                        <a:buSzPts val="1500"/>
                        <a:buFont typeface="Arial"/>
                        <a:buChar char="•"/>
                      </a:pPr>
                      <a:r>
                        <a:rPr lang="en-IN" sz="1200" b="0" dirty="0">
                          <a:latin typeface="Times New Roman" panose="02020603050405020304" pitchFamily="18" charset="0"/>
                          <a:ea typeface="Times New Roman"/>
                          <a:cs typeface="Times New Roman" panose="02020603050405020304" pitchFamily="18" charset="0"/>
                          <a:sym typeface="Times New Roman"/>
                        </a:rPr>
                        <a:t>GradientBoosting:92.31%</a:t>
                      </a:r>
                      <a:endParaRPr sz="1200" dirty="0">
                        <a:latin typeface="Times New Roman" panose="02020603050405020304" pitchFamily="18" charset="0"/>
                        <a:cs typeface="Times New Roman" panose="02020603050405020304" pitchFamily="18" charset="0"/>
                      </a:endParaRPr>
                    </a:p>
                    <a:p>
                      <a:pPr marL="285750" marR="0" lvl="0" indent="-285750" algn="l" rtl="0">
                        <a:spcBef>
                          <a:spcPts val="0"/>
                        </a:spcBef>
                        <a:spcAft>
                          <a:spcPts val="0"/>
                        </a:spcAft>
                        <a:buClr>
                          <a:schemeClr val="dk1"/>
                        </a:buClr>
                        <a:buSzPts val="1500"/>
                        <a:buFont typeface="Arial"/>
                        <a:buChar char="•"/>
                      </a:pPr>
                      <a:r>
                        <a:rPr lang="en-IN" sz="1200" b="0" dirty="0" err="1">
                          <a:latin typeface="Times New Roman" panose="02020603050405020304" pitchFamily="18" charset="0"/>
                          <a:ea typeface="Times New Roman"/>
                          <a:cs typeface="Times New Roman" panose="02020603050405020304" pitchFamily="18" charset="0"/>
                          <a:sym typeface="Times New Roman"/>
                        </a:rPr>
                        <a:t>AdaBoost</a:t>
                      </a:r>
                      <a:r>
                        <a:rPr lang="en-IN" sz="1200" b="0" dirty="0">
                          <a:latin typeface="Times New Roman" panose="02020603050405020304" pitchFamily="18" charset="0"/>
                          <a:ea typeface="Times New Roman"/>
                          <a:cs typeface="Times New Roman" panose="02020603050405020304" pitchFamily="18" charset="0"/>
                          <a:sym typeface="Times New Roman"/>
                        </a:rPr>
                        <a:t>: 91.61%</a:t>
                      </a:r>
                      <a:endParaRPr sz="1200" dirty="0">
                        <a:latin typeface="Times New Roman" panose="02020603050405020304" pitchFamily="18" charset="0"/>
                        <a:cs typeface="Times New Roman" panose="02020603050405020304" pitchFamily="18" charset="0"/>
                      </a:endParaRPr>
                    </a:p>
                    <a:p>
                      <a:pPr marL="285750" marR="0" lvl="0" indent="-285750" algn="l" rtl="0">
                        <a:spcBef>
                          <a:spcPts val="0"/>
                        </a:spcBef>
                        <a:spcAft>
                          <a:spcPts val="0"/>
                        </a:spcAft>
                        <a:buClr>
                          <a:schemeClr val="dk1"/>
                        </a:buClr>
                        <a:buSzPts val="1500"/>
                        <a:buFont typeface="Arial"/>
                        <a:buChar char="•"/>
                      </a:pPr>
                      <a:r>
                        <a:rPr lang="en-IN" sz="1200" b="0" dirty="0" err="1" smtClean="0">
                          <a:latin typeface="Times New Roman" panose="02020603050405020304" pitchFamily="18" charset="0"/>
                          <a:ea typeface="Times New Roman"/>
                          <a:cs typeface="Times New Roman" panose="02020603050405020304" pitchFamily="18" charset="0"/>
                          <a:sym typeface="Times New Roman"/>
                        </a:rPr>
                        <a:t>DecisionTree</a:t>
                      </a:r>
                      <a:r>
                        <a:rPr lang="en-IN" sz="1200" b="0" dirty="0" smtClean="0">
                          <a:latin typeface="Times New Roman" panose="02020603050405020304" pitchFamily="18" charset="0"/>
                          <a:ea typeface="Times New Roman"/>
                          <a:cs typeface="Times New Roman" panose="02020603050405020304" pitchFamily="18" charset="0"/>
                          <a:sym typeface="Times New Roman"/>
                        </a:rPr>
                        <a:t>: 81.82%</a:t>
                      </a:r>
                    </a:p>
                    <a:p>
                      <a:pPr marL="0" marR="0" lvl="0" indent="0" algn="l" rtl="0">
                        <a:spcBef>
                          <a:spcPts val="0"/>
                        </a:spcBef>
                        <a:spcAft>
                          <a:spcPts val="0"/>
                        </a:spcAft>
                        <a:buNone/>
                      </a:pPr>
                      <a:r>
                        <a:rPr lang="en-IN" sz="1200" b="0" dirty="0" smtClean="0">
                          <a:latin typeface="Times New Roman" panose="02020603050405020304" pitchFamily="18" charset="0"/>
                          <a:ea typeface="Times New Roman"/>
                          <a:cs typeface="Times New Roman" panose="02020603050405020304" pitchFamily="18" charset="0"/>
                          <a:sym typeface="Times New Roman"/>
                        </a:rPr>
                        <a:t>-</a:t>
                      </a:r>
                      <a:endParaRPr sz="12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IN" sz="1200" b="0" dirty="0">
                          <a:latin typeface="Times New Roman" panose="02020603050405020304" pitchFamily="18" charset="0"/>
                          <a:ea typeface="Times New Roman"/>
                          <a:cs typeface="Times New Roman" panose="02020603050405020304" pitchFamily="18" charset="0"/>
                          <a:sym typeface="Times New Roman"/>
                        </a:rPr>
                        <a:t>• It incorporates Explainable AI (SHAP) to provide crucial transparency into feature importance, enhancing interpretability and fostering user/clinician trust in the model's predictions.</a:t>
                      </a:r>
                      <a:endParaRPr sz="12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r>
                        <a:rPr lang="en-IN" sz="1200" b="0" dirty="0">
                          <a:latin typeface="Times New Roman" panose="02020603050405020304" pitchFamily="18" charset="0"/>
                          <a:ea typeface="Times New Roman"/>
                          <a:cs typeface="Times New Roman" panose="02020603050405020304" pitchFamily="18" charset="0"/>
                          <a:sym typeface="Times New Roman"/>
                        </a:rPr>
                        <a:t>• This approach focuses on minimizing false positive diagnoses and provides a predictive tool for early detection.</a:t>
                      </a:r>
                      <a:endParaRPr sz="12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2181888299"/>
                  </a:ext>
                </a:extLst>
              </a:tr>
              <a:tr h="1106529">
                <a:tc>
                  <a:txBody>
                    <a:bodyPr/>
                    <a:lstStyle/>
                    <a:p>
                      <a:pPr marL="0" marR="0" lvl="0" indent="0" algn="ctr" rtl="0">
                        <a:spcBef>
                          <a:spcPts val="0"/>
                        </a:spcBef>
                        <a:spcAft>
                          <a:spcPts val="0"/>
                        </a:spcAft>
                        <a:buNone/>
                      </a:pPr>
                      <a:endParaRPr lang="en-IN" sz="1200" dirty="0" smtClean="0">
                        <a:latin typeface="Times New Roman"/>
                        <a:ea typeface="Times New Roman"/>
                        <a:cs typeface="Times New Roman"/>
                        <a:sym typeface="Times New Roman"/>
                      </a:endParaRPr>
                    </a:p>
                    <a:p>
                      <a:pPr marL="0" marR="0" lvl="0" indent="0" algn="ctr" rtl="0">
                        <a:spcBef>
                          <a:spcPts val="0"/>
                        </a:spcBef>
                        <a:spcAft>
                          <a:spcPts val="0"/>
                        </a:spcAft>
                        <a:buNone/>
                      </a:pPr>
                      <a:endParaRPr lang="en-IN" sz="1200" dirty="0" smtClean="0">
                        <a:latin typeface="Times New Roman"/>
                        <a:ea typeface="Times New Roman"/>
                        <a:cs typeface="Times New Roman"/>
                        <a:sym typeface="Times New Roman"/>
                      </a:endParaRPr>
                    </a:p>
                    <a:p>
                      <a:pPr marL="0" marR="0" lvl="0" indent="0" algn="ctr" rtl="0">
                        <a:spcBef>
                          <a:spcPts val="0"/>
                        </a:spcBef>
                        <a:spcAft>
                          <a:spcPts val="0"/>
                        </a:spcAft>
                        <a:buNone/>
                      </a:pPr>
                      <a:endParaRPr lang="en-IN" sz="1200" dirty="0" smtClean="0">
                        <a:latin typeface="Times New Roman"/>
                        <a:ea typeface="Times New Roman"/>
                        <a:cs typeface="Times New Roman"/>
                        <a:sym typeface="Times New Roman"/>
                      </a:endParaRPr>
                    </a:p>
                    <a:p>
                      <a:pPr marL="0" marR="0" lvl="0" indent="0" algn="ctr" rtl="0">
                        <a:spcBef>
                          <a:spcPts val="0"/>
                        </a:spcBef>
                        <a:spcAft>
                          <a:spcPts val="0"/>
                        </a:spcAft>
                        <a:buNone/>
                      </a:pPr>
                      <a:r>
                        <a:rPr lang="en-IN" sz="1200" dirty="0" smtClean="0">
                          <a:latin typeface="Times New Roman"/>
                          <a:ea typeface="Times New Roman"/>
                          <a:cs typeface="Times New Roman"/>
                          <a:sym typeface="Times New Roman"/>
                        </a:rPr>
                        <a:t>4.</a:t>
                      </a:r>
                      <a:endParaRPr lang="en-IN" sz="1200" dirty="0"/>
                    </a:p>
                  </a:txBody>
                  <a:tcPr marL="91450" marR="91450" marT="45725" marB="45725"/>
                </a:tc>
                <a:tc>
                  <a:txBody>
                    <a:bodyPr/>
                    <a:lstStyle/>
                    <a:p>
                      <a:pPr marL="0" marR="0" lvl="0" indent="0" algn="l" rtl="0">
                        <a:spcBef>
                          <a:spcPts val="0"/>
                        </a:spcBef>
                        <a:spcAft>
                          <a:spcPts val="0"/>
                        </a:spcAft>
                        <a:buNone/>
                      </a:pPr>
                      <a:endParaRPr sz="1200" b="0" dirty="0">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r>
                        <a:rPr lang="en-IN" sz="1200" b="0" dirty="0">
                          <a:latin typeface="Times New Roman" panose="02020603050405020304" pitchFamily="18" charset="0"/>
                          <a:ea typeface="Times New Roman"/>
                          <a:cs typeface="Times New Roman" panose="02020603050405020304" pitchFamily="18" charset="0"/>
                          <a:sym typeface="Times New Roman"/>
                        </a:rPr>
                        <a:t>An Explainable Artificial Intelligence Model to Detect Breast Cancer,</a:t>
                      </a:r>
                      <a:br>
                        <a:rPr lang="en-IN" sz="1200" b="0" dirty="0">
                          <a:latin typeface="Times New Roman" panose="02020603050405020304" pitchFamily="18" charset="0"/>
                          <a:ea typeface="Times New Roman"/>
                          <a:cs typeface="Times New Roman" panose="02020603050405020304" pitchFamily="18" charset="0"/>
                          <a:sym typeface="Times New Roman"/>
                        </a:rPr>
                      </a:br>
                      <a:r>
                        <a:rPr lang="en-IN" sz="1200" b="0" i="1" dirty="0" err="1">
                          <a:latin typeface="Times New Roman" panose="02020603050405020304" pitchFamily="18" charset="0"/>
                          <a:ea typeface="Times New Roman"/>
                          <a:cs typeface="Times New Roman" panose="02020603050405020304" pitchFamily="18" charset="0"/>
                          <a:sym typeface="Times New Roman"/>
                        </a:rPr>
                        <a:t>Israt</a:t>
                      </a:r>
                      <a:r>
                        <a:rPr lang="en-IN" sz="1200" b="0" i="1" dirty="0">
                          <a:latin typeface="Times New Roman" panose="02020603050405020304" pitchFamily="18" charset="0"/>
                          <a:ea typeface="Times New Roman"/>
                          <a:cs typeface="Times New Roman" panose="02020603050405020304" pitchFamily="18" charset="0"/>
                          <a:sym typeface="Times New Roman"/>
                        </a:rPr>
                        <a:t> Jahan </a:t>
                      </a:r>
                      <a:r>
                        <a:rPr lang="en-IN" sz="1200" b="0" i="1" dirty="0" err="1">
                          <a:latin typeface="Times New Roman" panose="02020603050405020304" pitchFamily="18" charset="0"/>
                          <a:ea typeface="Times New Roman"/>
                          <a:cs typeface="Times New Roman" panose="02020603050405020304" pitchFamily="18" charset="0"/>
                          <a:sym typeface="Times New Roman"/>
                        </a:rPr>
                        <a:t>Mokta</a:t>
                      </a:r>
                      <a:r>
                        <a:rPr lang="en-IN" sz="1200" b="0" i="1" dirty="0">
                          <a:latin typeface="Times New Roman" panose="02020603050405020304" pitchFamily="18" charset="0"/>
                          <a:ea typeface="Times New Roman"/>
                          <a:cs typeface="Times New Roman" panose="02020603050405020304" pitchFamily="18" charset="0"/>
                          <a:sym typeface="Times New Roman"/>
                        </a:rPr>
                        <a:t>, </a:t>
                      </a:r>
                      <a:r>
                        <a:rPr lang="en-IN" sz="1200" b="0" i="1" dirty="0" err="1">
                          <a:latin typeface="Times New Roman" panose="02020603050405020304" pitchFamily="18" charset="0"/>
                          <a:ea typeface="Times New Roman"/>
                          <a:cs typeface="Times New Roman" panose="02020603050405020304" pitchFamily="18" charset="0"/>
                          <a:sym typeface="Times New Roman"/>
                        </a:rPr>
                        <a:t>Shovito</a:t>
                      </a:r>
                      <a:r>
                        <a:rPr lang="en-IN" sz="1200" b="0" i="1" dirty="0">
                          <a:latin typeface="Times New Roman" panose="02020603050405020304" pitchFamily="18" charset="0"/>
                          <a:ea typeface="Times New Roman"/>
                          <a:cs typeface="Times New Roman" panose="02020603050405020304" pitchFamily="18" charset="0"/>
                          <a:sym typeface="Times New Roman"/>
                        </a:rPr>
                        <a:t> </a:t>
                      </a:r>
                      <a:r>
                        <a:rPr lang="en-IN" sz="1200" b="0" i="1" dirty="0" err="1">
                          <a:latin typeface="Times New Roman" panose="02020603050405020304" pitchFamily="18" charset="0"/>
                          <a:ea typeface="Times New Roman"/>
                          <a:cs typeface="Times New Roman" panose="02020603050405020304" pitchFamily="18" charset="0"/>
                          <a:sym typeface="Times New Roman"/>
                        </a:rPr>
                        <a:t>Barua</a:t>
                      </a:r>
                      <a:r>
                        <a:rPr lang="en-IN" sz="1200" b="0" i="1" dirty="0">
                          <a:latin typeface="Times New Roman" panose="02020603050405020304" pitchFamily="18" charset="0"/>
                          <a:ea typeface="Times New Roman"/>
                          <a:cs typeface="Times New Roman" panose="02020603050405020304" pitchFamily="18" charset="0"/>
                          <a:sym typeface="Times New Roman"/>
                        </a:rPr>
                        <a:t> </a:t>
                      </a:r>
                      <a:r>
                        <a:rPr lang="en-IN" sz="1200" b="0" i="1" dirty="0" err="1">
                          <a:latin typeface="Times New Roman" panose="02020603050405020304" pitchFamily="18" charset="0"/>
                          <a:ea typeface="Times New Roman"/>
                          <a:cs typeface="Times New Roman" panose="02020603050405020304" pitchFamily="18" charset="0"/>
                          <a:sym typeface="Times New Roman"/>
                        </a:rPr>
                        <a:t>Soumma</a:t>
                      </a:r>
                      <a:r>
                        <a:rPr lang="en-IN" sz="1200" b="0" dirty="0">
                          <a:latin typeface="Times New Roman" panose="02020603050405020304" pitchFamily="18" charset="0"/>
                          <a:ea typeface="Times New Roman"/>
                          <a:cs typeface="Times New Roman" panose="02020603050405020304" pitchFamily="18" charset="0"/>
                          <a:sym typeface="Times New Roman"/>
                        </a:rPr>
                        <a:t>, Conference Publication, 2025.</a:t>
                      </a:r>
                      <a:endParaRPr sz="12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endParaRPr sz="1200" b="0" i="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endParaRPr sz="1200" b="0" i="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r>
                        <a:rPr lang="en-IN" sz="1200" b="0" i="0" dirty="0">
                          <a:solidFill>
                            <a:schemeClr val="dk1"/>
                          </a:solidFill>
                          <a:latin typeface="Times New Roman" panose="02020603050405020304" pitchFamily="18" charset="0"/>
                          <a:ea typeface="Times New Roman"/>
                          <a:cs typeface="Times New Roman" panose="02020603050405020304" pitchFamily="18" charset="0"/>
                          <a:sym typeface="Times New Roman"/>
                        </a:rPr>
                        <a:t>The model used the Wisconsin Breast Cancer Diagnostic dataset</a:t>
                      </a:r>
                      <a:endParaRPr sz="12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285750" marR="0" lvl="0" indent="-285750" algn="l" rtl="0">
                        <a:spcBef>
                          <a:spcPts val="0"/>
                        </a:spcBef>
                        <a:spcAft>
                          <a:spcPts val="0"/>
                        </a:spcAft>
                        <a:buClr>
                          <a:schemeClr val="dk1"/>
                        </a:buClr>
                        <a:buSzPts val="1500"/>
                        <a:buFont typeface="Arial"/>
                        <a:buChar char="•"/>
                      </a:pPr>
                      <a:r>
                        <a:rPr lang="en-IN" sz="1200" b="0" dirty="0">
                          <a:latin typeface="Times New Roman" panose="02020603050405020304" pitchFamily="18" charset="0"/>
                          <a:ea typeface="Times New Roman"/>
                          <a:cs typeface="Times New Roman" panose="02020603050405020304" pitchFamily="18" charset="0"/>
                          <a:sym typeface="Times New Roman"/>
                        </a:rPr>
                        <a:t>Utilizes Support Vector Machine (SVM) and Logistic Regression (LR) on the Wisconsin Breast Cancer Diagnostic dataset</a:t>
                      </a:r>
                      <a:r>
                        <a:rPr lang="en-IN" sz="1200" b="0" dirty="0" smtClean="0">
                          <a:latin typeface="Times New Roman" panose="02020603050405020304" pitchFamily="18" charset="0"/>
                          <a:ea typeface="Times New Roman"/>
                          <a:cs typeface="Times New Roman" panose="02020603050405020304" pitchFamily="18" charset="0"/>
                          <a:sym typeface="Times New Roman"/>
                        </a:rPr>
                        <a:t>.</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285750" marR="0" lvl="0" indent="-285750" algn="l" rtl="0">
                        <a:spcBef>
                          <a:spcPts val="0"/>
                        </a:spcBef>
                        <a:spcAft>
                          <a:spcPts val="0"/>
                        </a:spcAft>
                        <a:buClr>
                          <a:schemeClr val="dk1"/>
                        </a:buClr>
                        <a:buSzPts val="1500"/>
                        <a:buFont typeface="Arial"/>
                        <a:buChar char="•"/>
                      </a:pPr>
                      <a:r>
                        <a:rPr lang="en-IN" sz="1200" b="0" dirty="0">
                          <a:latin typeface="Times New Roman" panose="02020603050405020304" pitchFamily="18" charset="0"/>
                          <a:ea typeface="Times New Roman"/>
                          <a:cs typeface="Times New Roman" panose="02020603050405020304" pitchFamily="18" charset="0"/>
                          <a:sym typeface="Times New Roman"/>
                        </a:rPr>
                        <a:t>Effectively integrates Explainable AI techniques to interpret model decisions.</a:t>
                      </a:r>
                      <a:endParaRPr sz="1200" dirty="0">
                        <a:latin typeface="Times New Roman" panose="02020603050405020304" pitchFamily="18" charset="0"/>
                        <a:cs typeface="Times New Roman" panose="02020603050405020304" pitchFamily="18" charset="0"/>
                      </a:endParaRPr>
                    </a:p>
                    <a:p>
                      <a:pPr marL="285750" marR="0" lvl="0" indent="-285750" algn="l" rtl="0">
                        <a:spcBef>
                          <a:spcPts val="0"/>
                        </a:spcBef>
                        <a:spcAft>
                          <a:spcPts val="0"/>
                        </a:spcAft>
                        <a:buClr>
                          <a:schemeClr val="dk1"/>
                        </a:buClr>
                        <a:buSzPts val="1500"/>
                        <a:buFont typeface="Arial"/>
                        <a:buChar char="•"/>
                      </a:pPr>
                      <a:r>
                        <a:rPr lang="en-IN" sz="1200" b="0" dirty="0">
                          <a:latin typeface="Times New Roman" panose="02020603050405020304" pitchFamily="18" charset="0"/>
                          <a:ea typeface="Times New Roman"/>
                          <a:cs typeface="Times New Roman" panose="02020603050405020304" pitchFamily="18" charset="0"/>
                          <a:sym typeface="Times New Roman"/>
                        </a:rPr>
                        <a:t>Enhances feature-level transparency, supporting clinician trust and decision-making</a:t>
                      </a:r>
                      <a:r>
                        <a:rPr lang="en-IN" sz="1200" b="0" dirty="0" smtClean="0">
                          <a:latin typeface="Times New Roman" panose="02020603050405020304" pitchFamily="18" charset="0"/>
                          <a:ea typeface="Times New Roman"/>
                          <a:cs typeface="Times New Roman" panose="02020603050405020304" pitchFamily="18" charset="0"/>
                          <a:sym typeface="Times New Roman"/>
                        </a:rPr>
                        <a:t>.</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3168658377"/>
                  </a:ext>
                </a:extLst>
              </a:tr>
              <a:tr h="307475">
                <a:tc gridSpan="5">
                  <a:txBody>
                    <a:bodyPr/>
                    <a:lstStyle/>
                    <a:p>
                      <a:pPr marL="0" marR="0" lvl="0" indent="0" algn="l" rtl="0">
                        <a:spcBef>
                          <a:spcPts val="0"/>
                        </a:spcBef>
                        <a:spcAft>
                          <a:spcPts val="0"/>
                        </a:spcAft>
                        <a:buNone/>
                      </a:pPr>
                      <a:endParaRPr sz="1500" dirty="0">
                        <a:latin typeface="Times New Roman"/>
                        <a:ea typeface="Times New Roman"/>
                        <a:cs typeface="Times New Roman"/>
                        <a:sym typeface="Times New Roman"/>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8"/>
          <p:cNvSpPr txBox="1">
            <a:spLocks noGrp="1"/>
          </p:cNvSpPr>
          <p:nvPr>
            <p:ph type="title"/>
          </p:nvPr>
        </p:nvSpPr>
        <p:spPr>
          <a:xfrm>
            <a:off x="269360" y="-4655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IN" sz="2800" b="1" dirty="0">
                <a:latin typeface="Times New Roman"/>
                <a:ea typeface="Times New Roman"/>
                <a:cs typeface="Times New Roman"/>
                <a:sym typeface="Times New Roman"/>
              </a:rPr>
              <a:t>LITERATURE SUMMARY</a:t>
            </a:r>
            <a:endParaRPr sz="2800" dirty="0"/>
          </a:p>
        </p:txBody>
      </p:sp>
      <p:sp>
        <p:nvSpPr>
          <p:cNvPr id="137" name="Google Shape;137;p8"/>
          <p:cNvSpPr txBox="1">
            <a:spLocks noGrp="1"/>
          </p:cNvSpPr>
          <p:nvPr>
            <p:ph type="body" idx="1"/>
          </p:nvPr>
        </p:nvSpPr>
        <p:spPr>
          <a:xfrm>
            <a:off x="269360" y="1279010"/>
            <a:ext cx="11694040" cy="4401164"/>
          </a:xfrm>
          <a:prstGeom prst="rect">
            <a:avLst/>
          </a:prstGeom>
          <a:noFill/>
          <a:ln>
            <a:noFill/>
          </a:ln>
        </p:spPr>
        <p:txBody>
          <a:bodyPr spcFirstLastPara="1" wrap="square" lIns="91425" tIns="45700" rIns="91425" bIns="45700" anchor="ctr" anchorCtr="0">
            <a:spAutoFit/>
          </a:bodyPr>
          <a:lstStyle/>
          <a:p>
            <a:pPr marL="0" lvl="0" indent="-127000" algn="just">
              <a:lnSpc>
                <a:spcPct val="100000"/>
              </a:lnSpc>
              <a:spcBef>
                <a:spcPts val="0"/>
              </a:spcBef>
              <a:buSzPts val="2000"/>
              <a:buFont typeface="Times New Roman"/>
              <a:buChar char="•"/>
            </a:pPr>
            <a:r>
              <a:rPr lang="en-US" sz="2000" dirty="0" smtClean="0">
                <a:latin typeface="Times New Roman" panose="02020603050405020304" pitchFamily="18" charset="0"/>
                <a:cs typeface="Times New Roman" panose="02020603050405020304" pitchFamily="18" charset="0"/>
              </a:rPr>
              <a:t>Deep </a:t>
            </a:r>
            <a:r>
              <a:rPr lang="en-US" sz="2000" dirty="0">
                <a:latin typeface="Times New Roman" panose="02020603050405020304" pitchFamily="18" charset="0"/>
                <a:cs typeface="Times New Roman" panose="02020603050405020304" pitchFamily="18" charset="0"/>
              </a:rPr>
              <a:t>learning models, particularly Convolutional Neural Networks (CNNs), have shown strong performance in histopathology image classification for cancer </a:t>
            </a:r>
            <a:r>
              <a:rPr lang="en-US" sz="2000" dirty="0" smtClean="0">
                <a:latin typeface="Times New Roman" panose="02020603050405020304" pitchFamily="18" charset="0"/>
                <a:cs typeface="Times New Roman" panose="02020603050405020304" pitchFamily="18" charset="0"/>
              </a:rPr>
              <a:t>detection tasks.</a:t>
            </a:r>
            <a:endParaRPr sz="2000" dirty="0" smtClean="0">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Clr>
                <a:schemeClr val="dk1"/>
              </a:buClr>
              <a:buSzPts val="2000"/>
              <a:buFont typeface="Calibri"/>
              <a:buNone/>
            </a:pPr>
            <a:endParaRPr sz="2000" dirty="0">
              <a:latin typeface="Times New Roman" panose="02020603050405020304" pitchFamily="18" charset="0"/>
              <a:ea typeface="Times New Roman"/>
              <a:cs typeface="Times New Roman" panose="02020603050405020304" pitchFamily="18" charset="0"/>
              <a:sym typeface="Times New Roman"/>
            </a:endParaRPr>
          </a:p>
          <a:p>
            <a:pPr marL="0" lvl="0" indent="-127000" algn="just">
              <a:lnSpc>
                <a:spcPct val="100000"/>
              </a:lnSpc>
              <a:spcBef>
                <a:spcPts val="0"/>
              </a:spcBef>
              <a:buSzPts val="2000"/>
              <a:buFont typeface="Times New Roman"/>
              <a:buChar char="•"/>
            </a:pPr>
            <a:r>
              <a:rPr lang="en-IN" sz="2000" dirty="0" err="1" smtClean="0">
                <a:latin typeface="Times New Roman" panose="02020603050405020304" pitchFamily="18" charset="0"/>
                <a:ea typeface="Times New Roman"/>
                <a:cs typeface="Times New Roman" panose="02020603050405020304" pitchFamily="18" charset="0"/>
                <a:sym typeface="Times New Roman"/>
              </a:rPr>
              <a:t>Ef</a:t>
            </a:r>
            <a:r>
              <a:rPr lang="en-US" sz="2000" dirty="0" err="1">
                <a:latin typeface="Times New Roman" panose="02020603050405020304" pitchFamily="18" charset="0"/>
                <a:cs typeface="Times New Roman" panose="02020603050405020304" pitchFamily="18" charset="0"/>
              </a:rPr>
              <a:t>ficientNet</a:t>
            </a:r>
            <a:r>
              <a:rPr lang="en-US" sz="2000" dirty="0">
                <a:latin typeface="Times New Roman" panose="02020603050405020304" pitchFamily="18" charset="0"/>
                <a:cs typeface="Times New Roman" panose="02020603050405020304" pitchFamily="18" charset="0"/>
              </a:rPr>
              <a:t> architectures improve classification performance by using compound scaling of depth, width, and resolution, achieving better accuracy with fewer parameters</a:t>
            </a:r>
            <a:r>
              <a:rPr lang="en-US" sz="2000" dirty="0" smtClean="0">
                <a:latin typeface="Times New Roman" panose="02020603050405020304" pitchFamily="18" charset="0"/>
                <a:cs typeface="Times New Roman" panose="02020603050405020304" pitchFamily="18" charset="0"/>
              </a:rPr>
              <a:t>.</a:t>
            </a:r>
            <a:r>
              <a:rPr lang="en-IN" sz="2000" dirty="0" smtClean="0">
                <a:latin typeface="Times New Roman" panose="02020603050405020304" pitchFamily="18" charset="0"/>
                <a:ea typeface="Times New Roman"/>
                <a:cs typeface="Times New Roman" panose="02020603050405020304" pitchFamily="18" charset="0"/>
                <a:sym typeface="Times New Roman"/>
              </a:rPr>
              <a:t> </a:t>
            </a:r>
            <a:endParaRPr sz="200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00000"/>
              </a:lnSpc>
              <a:spcBef>
                <a:spcPts val="0"/>
              </a:spcBef>
              <a:spcAft>
                <a:spcPts val="0"/>
              </a:spcAft>
              <a:buClr>
                <a:schemeClr val="dk1"/>
              </a:buClr>
              <a:buSzPts val="2000"/>
              <a:buNone/>
            </a:pPr>
            <a:endParaRPr sz="2000" i="0" u="none" strike="noStrike" cap="none" dirty="0" smtClean="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127000" algn="just">
              <a:lnSpc>
                <a:spcPct val="100000"/>
              </a:lnSpc>
              <a:spcBef>
                <a:spcPts val="0"/>
              </a:spcBef>
              <a:buSzPts val="2000"/>
              <a:buFont typeface="Times New Roman"/>
              <a:buChar char="•"/>
            </a:pPr>
            <a:r>
              <a:rPr lang="en-US" sz="2000" dirty="0" err="1">
                <a:latin typeface="Times New Roman" panose="02020603050405020304" pitchFamily="18" charset="0"/>
                <a:cs typeface="Times New Roman" panose="02020603050405020304" pitchFamily="18" charset="0"/>
              </a:rPr>
              <a:t>DenseNet</a:t>
            </a:r>
            <a:r>
              <a:rPr lang="en-US" sz="2000" dirty="0">
                <a:latin typeface="Times New Roman" panose="02020603050405020304" pitchFamily="18" charset="0"/>
                <a:cs typeface="Times New Roman" panose="02020603050405020304" pitchFamily="18" charset="0"/>
              </a:rPr>
              <a:t> models enhance feature reuse through dense connectivity, allowing efficient gradient flow and improved learning of complex tissue </a:t>
            </a:r>
            <a:r>
              <a:rPr lang="en-US" sz="2000" dirty="0" smtClean="0">
                <a:latin typeface="Times New Roman" panose="02020603050405020304" pitchFamily="18" charset="0"/>
                <a:cs typeface="Times New Roman" panose="02020603050405020304" pitchFamily="18" charset="0"/>
              </a:rPr>
              <a:t>patterns.</a:t>
            </a:r>
          </a:p>
          <a:p>
            <a:pPr marL="0" lvl="0" indent="-127000" algn="just">
              <a:lnSpc>
                <a:spcPct val="100000"/>
              </a:lnSpc>
              <a:spcBef>
                <a:spcPts val="0"/>
              </a:spcBef>
              <a:buSzPts val="2000"/>
              <a:buFont typeface="Times New Roman"/>
              <a:buChar char="•"/>
            </a:pPr>
            <a:endParaRPr lang="en-US" sz="2000" dirty="0">
              <a:latin typeface="Times New Roman" panose="02020603050405020304" pitchFamily="18" charset="0"/>
              <a:cs typeface="Times New Roman" panose="02020603050405020304" pitchFamily="18" charset="0"/>
              <a:sym typeface="Times New Roman"/>
            </a:endParaRPr>
          </a:p>
          <a:p>
            <a:pPr marL="0" lvl="0" indent="-127000" algn="just">
              <a:lnSpc>
                <a:spcPct val="100000"/>
              </a:lnSpc>
              <a:spcBef>
                <a:spcPts val="0"/>
              </a:spcBef>
              <a:buSzPts val="2000"/>
              <a:buFont typeface="Times New Roman"/>
              <a:buChar char="•"/>
            </a:pPr>
            <a:r>
              <a:rPr lang="en-US" sz="2000" dirty="0">
                <a:latin typeface="Times New Roman" panose="02020603050405020304" pitchFamily="18" charset="0"/>
                <a:cs typeface="Times New Roman" panose="02020603050405020304" pitchFamily="18" charset="0"/>
              </a:rPr>
              <a:t>Previous studies have demonstrated that CNN-based approaches can achieve high accuracy in detecting metastatic cancer from histopathology images, making them suitable for automated diagnostic systems</a:t>
            </a:r>
            <a:r>
              <a:rPr lang="en-US" sz="2000" dirty="0" smtClean="0">
                <a:latin typeface="Times New Roman" panose="02020603050405020304" pitchFamily="18" charset="0"/>
                <a:cs typeface="Times New Roman" panose="02020603050405020304" pitchFamily="18" charset="0"/>
              </a:rPr>
              <a:t>.</a:t>
            </a:r>
          </a:p>
          <a:p>
            <a:pPr marL="0" lvl="0" indent="0" algn="just">
              <a:lnSpc>
                <a:spcPct val="100000"/>
              </a:lnSpc>
              <a:spcBef>
                <a:spcPts val="0"/>
              </a:spcBef>
              <a:buSzPts val="2000"/>
              <a:buNone/>
            </a:pPr>
            <a:endParaRPr lang="en-US" sz="2000" dirty="0" smtClean="0">
              <a:latin typeface="Times New Roman" panose="02020603050405020304" pitchFamily="18" charset="0"/>
              <a:cs typeface="Times New Roman" panose="02020603050405020304" pitchFamily="18" charset="0"/>
            </a:endParaRPr>
          </a:p>
          <a:p>
            <a:pPr marL="0" lvl="0" indent="-127000" algn="just">
              <a:lnSpc>
                <a:spcPct val="100000"/>
              </a:lnSpc>
              <a:spcBef>
                <a:spcPts val="0"/>
              </a:spcBef>
              <a:buSzPts val="2000"/>
              <a:buFont typeface="Times New Roman"/>
              <a:buChar char="•"/>
            </a:pPr>
            <a:r>
              <a:rPr lang="en-US" sz="2000" dirty="0">
                <a:latin typeface="Times New Roman" panose="02020603050405020304" pitchFamily="18" charset="0"/>
                <a:cs typeface="Times New Roman" panose="02020603050405020304" pitchFamily="18" charset="0"/>
              </a:rPr>
              <a:t>However, selecting the most effective architecture for balancing accuracy and computational efficiency remains an open challenge, motivating comparative analysis between models like </a:t>
            </a:r>
            <a:r>
              <a:rPr lang="en-US" sz="2000" dirty="0" err="1">
                <a:latin typeface="Times New Roman" panose="02020603050405020304" pitchFamily="18" charset="0"/>
                <a:cs typeface="Times New Roman" panose="02020603050405020304" pitchFamily="18" charset="0"/>
              </a:rPr>
              <a:t>EfficientNet</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DenseNet</a:t>
            </a:r>
            <a:r>
              <a:rPr lang="en-US" sz="200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9"/>
          <p:cNvSpPr txBox="1">
            <a:spLocks noGrp="1"/>
          </p:cNvSpPr>
          <p:nvPr>
            <p:ph type="title"/>
          </p:nvPr>
        </p:nvSpPr>
        <p:spPr>
          <a:xfrm>
            <a:off x="517300" y="-397869"/>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Times New Roman"/>
              <a:buNone/>
            </a:pPr>
            <a:r>
              <a:rPr lang="en-IN" sz="3200" b="1" dirty="0">
                <a:latin typeface="Times New Roman"/>
                <a:ea typeface="Times New Roman"/>
                <a:cs typeface="Times New Roman"/>
                <a:sym typeface="Times New Roman"/>
              </a:rPr>
              <a:t>DATASETS AND REQUIREMENTS</a:t>
            </a:r>
            <a:endParaRPr sz="3200" b="1" dirty="0">
              <a:latin typeface="Times New Roman"/>
              <a:ea typeface="Times New Roman"/>
              <a:cs typeface="Times New Roman"/>
              <a:sym typeface="Times New Roman"/>
            </a:endParaRPr>
          </a:p>
        </p:txBody>
      </p:sp>
      <p:sp>
        <p:nvSpPr>
          <p:cNvPr id="143" name="Google Shape;143;p9"/>
          <p:cNvSpPr txBox="1">
            <a:spLocks noGrp="1"/>
          </p:cNvSpPr>
          <p:nvPr>
            <p:ph type="body" idx="1"/>
          </p:nvPr>
        </p:nvSpPr>
        <p:spPr>
          <a:xfrm>
            <a:off x="433538" y="498686"/>
            <a:ext cx="11220450" cy="4546917"/>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2000"/>
              <a:buNone/>
            </a:pPr>
            <a:r>
              <a:rPr lang="en-IN" sz="1600" b="1" dirty="0" smtClean="0">
                <a:latin typeface="Times New Roman"/>
                <a:ea typeface="Times New Roman"/>
                <a:cs typeface="Times New Roman"/>
                <a:sym typeface="Times New Roman"/>
              </a:rPr>
              <a:t>DATASET:</a:t>
            </a:r>
          </a:p>
          <a:p>
            <a:pPr marL="0" lvl="0" indent="0" algn="just" rtl="0">
              <a:lnSpc>
                <a:spcPct val="90000"/>
              </a:lnSpc>
              <a:spcBef>
                <a:spcPts val="0"/>
              </a:spcBef>
              <a:spcAft>
                <a:spcPts val="0"/>
              </a:spcAft>
              <a:buClr>
                <a:schemeClr val="dk1"/>
              </a:buClr>
              <a:buSzPts val="2000"/>
              <a:buNone/>
            </a:pPr>
            <a:r>
              <a:rPr lang="en-IN" sz="1600" b="1" dirty="0" smtClean="0"/>
              <a:t> </a:t>
            </a:r>
            <a:r>
              <a:rPr lang="en-IN" sz="1600" dirty="0" err="1" smtClean="0">
                <a:latin typeface="Times New Roman"/>
                <a:ea typeface="Times New Roman"/>
                <a:cs typeface="Times New Roman"/>
                <a:sym typeface="Times New Roman"/>
              </a:rPr>
              <a:t>PatchCamelyon</a:t>
            </a:r>
            <a:r>
              <a:rPr lang="en-IN" sz="1600" dirty="0" smtClean="0">
                <a:latin typeface="Times New Roman"/>
                <a:ea typeface="Times New Roman"/>
                <a:cs typeface="Times New Roman"/>
                <a:sym typeface="Times New Roman"/>
              </a:rPr>
              <a:t> </a:t>
            </a:r>
            <a:r>
              <a:rPr lang="en-IN" sz="1600" dirty="0">
                <a:latin typeface="Times New Roman"/>
                <a:ea typeface="Times New Roman"/>
                <a:cs typeface="Times New Roman"/>
                <a:sym typeface="Times New Roman"/>
              </a:rPr>
              <a:t>(</a:t>
            </a:r>
            <a:r>
              <a:rPr lang="en-IN" sz="1600" dirty="0" err="1">
                <a:latin typeface="Times New Roman"/>
                <a:ea typeface="Times New Roman"/>
                <a:cs typeface="Times New Roman"/>
                <a:sym typeface="Times New Roman"/>
              </a:rPr>
              <a:t>PCam</a:t>
            </a:r>
            <a:r>
              <a:rPr lang="en-IN" sz="1600" dirty="0">
                <a:latin typeface="Times New Roman"/>
                <a:ea typeface="Times New Roman"/>
                <a:cs typeface="Times New Roman"/>
                <a:sym typeface="Times New Roman"/>
              </a:rPr>
              <a:t>) </a:t>
            </a:r>
            <a:r>
              <a:rPr lang="en-IN" sz="1600" dirty="0" smtClean="0">
                <a:latin typeface="Times New Roman"/>
                <a:ea typeface="Times New Roman"/>
                <a:cs typeface="Times New Roman"/>
                <a:sym typeface="Times New Roman"/>
              </a:rPr>
              <a:t>Dataset</a:t>
            </a:r>
            <a:endParaRPr sz="1600" dirty="0">
              <a:latin typeface="Times New Roman"/>
              <a:ea typeface="Times New Roman"/>
              <a:cs typeface="Times New Roman"/>
              <a:sym typeface="Times New Roman"/>
            </a:endParaRPr>
          </a:p>
          <a:p>
            <a:pPr marL="457200" lvl="1" indent="0" algn="just" rtl="0">
              <a:lnSpc>
                <a:spcPct val="90000"/>
              </a:lnSpc>
              <a:spcBef>
                <a:spcPts val="0"/>
              </a:spcBef>
              <a:spcAft>
                <a:spcPts val="0"/>
              </a:spcAft>
              <a:buClr>
                <a:schemeClr val="dk1"/>
              </a:buClr>
              <a:buSzPts val="900"/>
              <a:buNone/>
            </a:pPr>
            <a:endParaRPr sz="1600" dirty="0">
              <a:latin typeface="Times New Roman"/>
              <a:ea typeface="Times New Roman"/>
              <a:cs typeface="Times New Roman"/>
              <a:sym typeface="Times New Roman"/>
            </a:endParaRPr>
          </a:p>
          <a:p>
            <a:pPr marL="457200" lvl="1" indent="0" algn="just" rtl="0">
              <a:lnSpc>
                <a:spcPct val="90000"/>
              </a:lnSpc>
              <a:spcBef>
                <a:spcPts val="0"/>
              </a:spcBef>
              <a:spcAft>
                <a:spcPts val="0"/>
              </a:spcAft>
              <a:buClr>
                <a:schemeClr val="dk1"/>
              </a:buClr>
              <a:buSzPts val="2000"/>
              <a:buNone/>
            </a:pPr>
            <a:r>
              <a:rPr lang="en-IN" sz="1600" dirty="0">
                <a:latin typeface="Times New Roman"/>
                <a:ea typeface="Times New Roman"/>
                <a:cs typeface="Times New Roman"/>
                <a:sym typeface="Times New Roman"/>
              </a:rPr>
              <a:t>Purpose: Used for detecting metastatic cancer in histopathological images.</a:t>
            </a:r>
            <a:endParaRPr sz="1600" dirty="0"/>
          </a:p>
          <a:p>
            <a:pPr marL="457200" lvl="1" indent="0" algn="just" rtl="0">
              <a:lnSpc>
                <a:spcPct val="90000"/>
              </a:lnSpc>
              <a:spcBef>
                <a:spcPts val="0"/>
              </a:spcBef>
              <a:spcAft>
                <a:spcPts val="0"/>
              </a:spcAft>
              <a:buClr>
                <a:schemeClr val="dk1"/>
              </a:buClr>
              <a:buSzPts val="2000"/>
              <a:buNone/>
            </a:pPr>
            <a:endParaRPr sz="1600" dirty="0">
              <a:latin typeface="Times New Roman"/>
              <a:ea typeface="Times New Roman"/>
              <a:cs typeface="Times New Roman"/>
              <a:sym typeface="Times New Roman"/>
            </a:endParaRPr>
          </a:p>
          <a:p>
            <a:pPr marL="457200" lvl="1" indent="0" algn="just" rtl="0">
              <a:lnSpc>
                <a:spcPct val="90000"/>
              </a:lnSpc>
              <a:spcBef>
                <a:spcPts val="0"/>
              </a:spcBef>
              <a:spcAft>
                <a:spcPts val="0"/>
              </a:spcAft>
              <a:buClr>
                <a:schemeClr val="dk1"/>
              </a:buClr>
              <a:buSzPts val="2000"/>
              <a:buNone/>
            </a:pPr>
            <a:r>
              <a:rPr lang="en-IN" sz="1600" dirty="0">
                <a:latin typeface="Times New Roman"/>
                <a:ea typeface="Times New Roman"/>
                <a:cs typeface="Times New Roman"/>
                <a:sym typeface="Times New Roman"/>
              </a:rPr>
              <a:t>This dataset consists of 96×96 pixel image patches extracted from whole-slide images of lymph node sections. </a:t>
            </a:r>
            <a:endParaRPr sz="1600" dirty="0">
              <a:latin typeface="Times New Roman"/>
              <a:ea typeface="Times New Roman"/>
              <a:cs typeface="Times New Roman"/>
              <a:sym typeface="Times New Roman"/>
            </a:endParaRPr>
          </a:p>
          <a:p>
            <a:pPr marL="457200" lvl="1" indent="0" algn="just" rtl="0">
              <a:lnSpc>
                <a:spcPct val="90000"/>
              </a:lnSpc>
              <a:spcBef>
                <a:spcPts val="0"/>
              </a:spcBef>
              <a:spcAft>
                <a:spcPts val="0"/>
              </a:spcAft>
              <a:buClr>
                <a:schemeClr val="dk1"/>
              </a:buClr>
              <a:buSzPts val="2000"/>
              <a:buNone/>
            </a:pPr>
            <a:endParaRPr sz="1600" dirty="0">
              <a:latin typeface="Times New Roman"/>
              <a:ea typeface="Times New Roman"/>
              <a:cs typeface="Times New Roman"/>
              <a:sym typeface="Times New Roman"/>
            </a:endParaRPr>
          </a:p>
          <a:p>
            <a:pPr marL="457200" lvl="1" indent="0" algn="just" rtl="0">
              <a:lnSpc>
                <a:spcPct val="90000"/>
              </a:lnSpc>
              <a:spcBef>
                <a:spcPts val="0"/>
              </a:spcBef>
              <a:spcAft>
                <a:spcPts val="0"/>
              </a:spcAft>
              <a:buClr>
                <a:schemeClr val="dk1"/>
              </a:buClr>
              <a:buSzPts val="2000"/>
              <a:buNone/>
            </a:pPr>
            <a:r>
              <a:rPr lang="en-IN" sz="1600" dirty="0" err="1">
                <a:latin typeface="Times New Roman"/>
                <a:ea typeface="Times New Roman"/>
                <a:cs typeface="Times New Roman"/>
                <a:sym typeface="Times New Roman"/>
              </a:rPr>
              <a:t>PCam</a:t>
            </a:r>
            <a:r>
              <a:rPr lang="en-IN" sz="1600" dirty="0">
                <a:latin typeface="Times New Roman"/>
                <a:ea typeface="Times New Roman"/>
                <a:cs typeface="Times New Roman"/>
                <a:sym typeface="Times New Roman"/>
              </a:rPr>
              <a:t> contains over 327,680 images, providing a diverse and high-quality dataset for training deep learning models. </a:t>
            </a:r>
            <a:endParaRPr sz="1600" dirty="0">
              <a:latin typeface="Times New Roman"/>
              <a:ea typeface="Times New Roman"/>
              <a:cs typeface="Times New Roman"/>
              <a:sym typeface="Times New Roman"/>
            </a:endParaRPr>
          </a:p>
          <a:p>
            <a:pPr marL="457200" lvl="1" indent="0" algn="just" rtl="0">
              <a:lnSpc>
                <a:spcPct val="90000"/>
              </a:lnSpc>
              <a:spcBef>
                <a:spcPts val="0"/>
              </a:spcBef>
              <a:spcAft>
                <a:spcPts val="0"/>
              </a:spcAft>
              <a:buClr>
                <a:schemeClr val="dk1"/>
              </a:buClr>
              <a:buSzPts val="2000"/>
              <a:buNone/>
            </a:pPr>
            <a:endParaRPr sz="1600" dirty="0">
              <a:latin typeface="Times New Roman"/>
              <a:ea typeface="Times New Roman"/>
              <a:cs typeface="Times New Roman"/>
              <a:sym typeface="Times New Roman"/>
            </a:endParaRPr>
          </a:p>
          <a:p>
            <a:pPr marL="457200" lvl="1" indent="0" algn="just" rtl="0">
              <a:lnSpc>
                <a:spcPct val="90000"/>
              </a:lnSpc>
              <a:spcBef>
                <a:spcPts val="0"/>
              </a:spcBef>
              <a:spcAft>
                <a:spcPts val="0"/>
              </a:spcAft>
              <a:buClr>
                <a:schemeClr val="dk1"/>
              </a:buClr>
              <a:buSzPts val="2000"/>
              <a:buNone/>
            </a:pPr>
            <a:r>
              <a:rPr lang="en-IN" sz="1600" dirty="0">
                <a:latin typeface="Times New Roman"/>
                <a:ea typeface="Times New Roman"/>
                <a:cs typeface="Times New Roman"/>
                <a:sym typeface="Times New Roman"/>
              </a:rPr>
              <a:t>SOURCE :  </a:t>
            </a:r>
            <a:r>
              <a:rPr lang="en-IN" sz="1600" dirty="0" err="1">
                <a:latin typeface="Times New Roman"/>
                <a:ea typeface="Times New Roman"/>
                <a:cs typeface="Times New Roman"/>
                <a:sym typeface="Times New Roman"/>
              </a:rPr>
              <a:t>Kaggle</a:t>
            </a:r>
            <a:r>
              <a:rPr lang="en-IN" sz="1600" dirty="0">
                <a:latin typeface="Times New Roman"/>
                <a:ea typeface="Times New Roman"/>
                <a:cs typeface="Times New Roman"/>
                <a:sym typeface="Times New Roman"/>
              </a:rPr>
              <a:t> - </a:t>
            </a:r>
            <a:r>
              <a:rPr lang="en-IN" sz="1600" u="sng" dirty="0">
                <a:solidFill>
                  <a:schemeClr val="hlink"/>
                </a:solidFill>
                <a:latin typeface="Times New Roman"/>
                <a:ea typeface="Times New Roman"/>
                <a:cs typeface="Times New Roman"/>
                <a:sym typeface="Times New Roman"/>
                <a:hlinkClick r:id="rId3"/>
              </a:rPr>
              <a:t>https://</a:t>
            </a:r>
            <a:r>
              <a:rPr lang="en-IN" sz="1600" u="sng" dirty="0" smtClean="0">
                <a:solidFill>
                  <a:schemeClr val="hlink"/>
                </a:solidFill>
                <a:latin typeface="Times New Roman"/>
                <a:ea typeface="Times New Roman"/>
                <a:cs typeface="Times New Roman"/>
                <a:sym typeface="Times New Roman"/>
                <a:hlinkClick r:id="rId3"/>
              </a:rPr>
              <a:t>www.kaggle.com/datasets/andrewmvd/metastatic-tissue-classification-patchcamelyon</a:t>
            </a:r>
            <a:endParaRPr lang="en-IN" sz="1600" u="sng" dirty="0" smtClean="0">
              <a:solidFill>
                <a:schemeClr val="hlink"/>
              </a:solidFill>
              <a:latin typeface="Times New Roman"/>
              <a:ea typeface="Times New Roman"/>
              <a:cs typeface="Times New Roman"/>
              <a:sym typeface="Times New Roman"/>
            </a:endParaRPr>
          </a:p>
          <a:p>
            <a:pPr marL="457200" lvl="1" indent="0" algn="just" rtl="0">
              <a:lnSpc>
                <a:spcPct val="90000"/>
              </a:lnSpc>
              <a:spcBef>
                <a:spcPts val="0"/>
              </a:spcBef>
              <a:spcAft>
                <a:spcPts val="0"/>
              </a:spcAft>
              <a:buClr>
                <a:schemeClr val="dk1"/>
              </a:buClr>
              <a:buSzPts val="2000"/>
              <a:buNone/>
            </a:pPr>
            <a:endParaRPr lang="en-IN" sz="1600" b="1" dirty="0" smtClean="0">
              <a:latin typeface="Times New Roman"/>
              <a:ea typeface="Times New Roman"/>
              <a:cs typeface="Times New Roman"/>
              <a:sym typeface="Times New Roman"/>
            </a:endParaRPr>
          </a:p>
          <a:p>
            <a:pPr marL="0" lvl="0" indent="0" algn="just">
              <a:spcBef>
                <a:spcPts val="0"/>
              </a:spcBef>
              <a:buSzPts val="2000"/>
              <a:buNone/>
            </a:pPr>
            <a:r>
              <a:rPr lang="en-IN" sz="1600" b="1" dirty="0">
                <a:latin typeface="Times New Roman"/>
                <a:ea typeface="Times New Roman"/>
                <a:cs typeface="Times New Roman"/>
                <a:sym typeface="Times New Roman"/>
              </a:rPr>
              <a:t>SOFTWARE </a:t>
            </a:r>
            <a:r>
              <a:rPr lang="en-IN" sz="1600" b="1" dirty="0" smtClean="0">
                <a:latin typeface="Times New Roman"/>
                <a:ea typeface="Times New Roman"/>
                <a:cs typeface="Times New Roman"/>
                <a:sym typeface="Times New Roman"/>
              </a:rPr>
              <a:t>REQUIREMENTS:</a:t>
            </a:r>
            <a:endParaRPr lang="en-IN" sz="1600" dirty="0">
              <a:latin typeface="Times New Roman"/>
              <a:ea typeface="Times New Roman"/>
              <a:cs typeface="Times New Roman"/>
              <a:sym typeface="Times New Roman"/>
            </a:endParaRPr>
          </a:p>
          <a:p>
            <a:pPr marL="685800" lvl="1" indent="-228600">
              <a:buSzPts val="2000"/>
            </a:pPr>
            <a:r>
              <a:rPr lang="en-IN" sz="1600" b="1" dirty="0">
                <a:latin typeface="Times New Roman"/>
                <a:ea typeface="Times New Roman"/>
                <a:cs typeface="Times New Roman"/>
                <a:sym typeface="Times New Roman"/>
              </a:rPr>
              <a:t>Programming Language:</a:t>
            </a:r>
            <a:r>
              <a:rPr lang="en-IN" sz="1600" dirty="0">
                <a:latin typeface="Times New Roman"/>
                <a:ea typeface="Times New Roman"/>
                <a:cs typeface="Times New Roman"/>
                <a:sym typeface="Times New Roman"/>
              </a:rPr>
              <a:t> Python</a:t>
            </a:r>
            <a:endParaRPr lang="en-IN" sz="1600" dirty="0"/>
          </a:p>
          <a:p>
            <a:pPr marL="685800" lvl="1" indent="-228600">
              <a:buSzPts val="2000"/>
            </a:pPr>
            <a:r>
              <a:rPr lang="en-IN" sz="1600" b="1" dirty="0">
                <a:latin typeface="Times New Roman"/>
                <a:ea typeface="Times New Roman"/>
                <a:cs typeface="Times New Roman"/>
                <a:sym typeface="Times New Roman"/>
              </a:rPr>
              <a:t>Deep Learning Framework:</a:t>
            </a:r>
            <a:r>
              <a:rPr lang="en-IN" sz="1600" dirty="0">
                <a:latin typeface="Times New Roman"/>
                <a:ea typeface="Times New Roman"/>
                <a:cs typeface="Times New Roman"/>
                <a:sym typeface="Times New Roman"/>
              </a:rPr>
              <a:t> </a:t>
            </a:r>
            <a:r>
              <a:rPr lang="en-IN" sz="1600" dirty="0" err="1">
                <a:latin typeface="Times New Roman"/>
                <a:ea typeface="Times New Roman"/>
                <a:cs typeface="Times New Roman"/>
                <a:sym typeface="Times New Roman"/>
              </a:rPr>
              <a:t>TensorFlow</a:t>
            </a:r>
            <a:r>
              <a:rPr lang="en-IN" sz="1600" dirty="0">
                <a:latin typeface="Times New Roman"/>
                <a:ea typeface="Times New Roman"/>
                <a:cs typeface="Times New Roman"/>
                <a:sym typeface="Times New Roman"/>
              </a:rPr>
              <a:t> </a:t>
            </a:r>
            <a:endParaRPr lang="en-IN" sz="1600" dirty="0"/>
          </a:p>
          <a:p>
            <a:pPr marL="685800" lvl="1" indent="-228600">
              <a:buSzPts val="2000"/>
            </a:pPr>
            <a:r>
              <a:rPr lang="en-IN" sz="1600" b="1" dirty="0">
                <a:latin typeface="Times New Roman"/>
                <a:ea typeface="Times New Roman"/>
                <a:cs typeface="Times New Roman"/>
                <a:sym typeface="Times New Roman"/>
              </a:rPr>
              <a:t>Libraries:</a:t>
            </a:r>
            <a:endParaRPr lang="en-IN" sz="1600" dirty="0">
              <a:latin typeface="Times New Roman"/>
              <a:ea typeface="Times New Roman"/>
              <a:cs typeface="Times New Roman"/>
              <a:sym typeface="Times New Roman"/>
            </a:endParaRPr>
          </a:p>
          <a:p>
            <a:pPr marL="1143000" lvl="2" indent="-228600">
              <a:buSzPts val="2000"/>
            </a:pPr>
            <a:r>
              <a:rPr lang="en-IN" sz="1600" dirty="0">
                <a:latin typeface="Times New Roman"/>
                <a:ea typeface="Times New Roman"/>
                <a:cs typeface="Times New Roman"/>
                <a:sym typeface="Times New Roman"/>
              </a:rPr>
              <a:t>Core: </a:t>
            </a:r>
            <a:r>
              <a:rPr lang="en-IN" sz="1600" dirty="0" err="1">
                <a:latin typeface="Times New Roman"/>
                <a:ea typeface="Times New Roman"/>
                <a:cs typeface="Times New Roman"/>
                <a:sym typeface="Times New Roman"/>
              </a:rPr>
              <a:t>scikit</a:t>
            </a:r>
            <a:r>
              <a:rPr lang="en-IN" sz="1600" dirty="0">
                <a:latin typeface="Times New Roman"/>
                <a:ea typeface="Times New Roman"/>
                <a:cs typeface="Times New Roman"/>
                <a:sym typeface="Times New Roman"/>
              </a:rPr>
              <a:t>-learn, </a:t>
            </a:r>
            <a:r>
              <a:rPr lang="en-IN" sz="1600" dirty="0" err="1">
                <a:latin typeface="Times New Roman"/>
                <a:ea typeface="Times New Roman"/>
                <a:cs typeface="Times New Roman"/>
                <a:sym typeface="Times New Roman"/>
              </a:rPr>
              <a:t>NumPy</a:t>
            </a:r>
            <a:r>
              <a:rPr lang="en-IN" sz="1600" dirty="0">
                <a:latin typeface="Times New Roman"/>
                <a:ea typeface="Times New Roman"/>
                <a:cs typeface="Times New Roman"/>
                <a:sym typeface="Times New Roman"/>
              </a:rPr>
              <a:t>, Pandas, </a:t>
            </a:r>
            <a:r>
              <a:rPr lang="en-IN" sz="1600" dirty="0" err="1">
                <a:latin typeface="Times New Roman"/>
                <a:ea typeface="Times New Roman"/>
                <a:cs typeface="Times New Roman"/>
                <a:sym typeface="Times New Roman"/>
              </a:rPr>
              <a:t>Matplotlib</a:t>
            </a:r>
            <a:r>
              <a:rPr lang="en-IN" sz="1600" dirty="0">
                <a:latin typeface="Times New Roman"/>
                <a:ea typeface="Times New Roman"/>
                <a:cs typeface="Times New Roman"/>
                <a:sym typeface="Times New Roman"/>
              </a:rPr>
              <a:t>, </a:t>
            </a:r>
            <a:r>
              <a:rPr lang="en-IN" sz="1600" dirty="0" err="1">
                <a:latin typeface="Times New Roman"/>
                <a:ea typeface="Times New Roman"/>
                <a:cs typeface="Times New Roman"/>
                <a:sym typeface="Times New Roman"/>
              </a:rPr>
              <a:t>Seaborn</a:t>
            </a:r>
            <a:r>
              <a:rPr lang="en-IN" sz="1600" dirty="0">
                <a:latin typeface="Times New Roman"/>
                <a:ea typeface="Times New Roman"/>
                <a:cs typeface="Times New Roman"/>
                <a:sym typeface="Times New Roman"/>
              </a:rPr>
              <a:t>, </a:t>
            </a:r>
            <a:r>
              <a:rPr lang="en-IN" sz="1600" dirty="0" err="1">
                <a:latin typeface="Times New Roman"/>
                <a:ea typeface="Times New Roman"/>
                <a:cs typeface="Times New Roman"/>
                <a:sym typeface="Times New Roman"/>
              </a:rPr>
              <a:t>OpenCV</a:t>
            </a:r>
            <a:endParaRPr lang="en-IN" sz="1600" dirty="0">
              <a:latin typeface="Times New Roman"/>
              <a:ea typeface="Times New Roman"/>
              <a:cs typeface="Times New Roman"/>
              <a:sym typeface="Times New Roman"/>
            </a:endParaRPr>
          </a:p>
          <a:p>
            <a:pPr marL="1143000" lvl="2" indent="-228600">
              <a:buSzPts val="2000"/>
            </a:pPr>
            <a:r>
              <a:rPr lang="en-IN" sz="1600" dirty="0">
                <a:latin typeface="Times New Roman"/>
                <a:ea typeface="Times New Roman"/>
                <a:cs typeface="Times New Roman"/>
                <a:sym typeface="Times New Roman"/>
              </a:rPr>
              <a:t>Deep Learning: </a:t>
            </a:r>
            <a:r>
              <a:rPr lang="en-IN" sz="1600" dirty="0" err="1">
                <a:latin typeface="Times New Roman"/>
                <a:ea typeface="Times New Roman"/>
                <a:cs typeface="Times New Roman"/>
                <a:sym typeface="Times New Roman"/>
              </a:rPr>
              <a:t>TensorFlow</a:t>
            </a:r>
            <a:r>
              <a:rPr lang="en-IN" sz="1600" dirty="0">
                <a:latin typeface="Times New Roman"/>
                <a:ea typeface="Times New Roman"/>
                <a:cs typeface="Times New Roman"/>
                <a:sym typeface="Times New Roman"/>
              </a:rPr>
              <a:t>/</a:t>
            </a:r>
            <a:r>
              <a:rPr lang="en-IN" sz="1600" dirty="0" err="1">
                <a:latin typeface="Times New Roman"/>
                <a:ea typeface="Times New Roman"/>
                <a:cs typeface="Times New Roman"/>
                <a:sym typeface="Times New Roman"/>
              </a:rPr>
              <a:t>Keras</a:t>
            </a:r>
            <a:r>
              <a:rPr lang="en-IN" sz="1600" dirty="0">
                <a:latin typeface="Times New Roman"/>
                <a:ea typeface="Times New Roman"/>
                <a:cs typeface="Times New Roman"/>
                <a:sym typeface="Times New Roman"/>
              </a:rPr>
              <a:t> or </a:t>
            </a:r>
            <a:r>
              <a:rPr lang="en-IN" sz="1600" dirty="0" err="1">
                <a:latin typeface="Times New Roman"/>
                <a:ea typeface="Times New Roman"/>
                <a:cs typeface="Times New Roman"/>
                <a:sym typeface="Times New Roman"/>
              </a:rPr>
              <a:t>PyTorch</a:t>
            </a:r>
            <a:endParaRPr lang="en-IN" sz="1600" dirty="0">
              <a:latin typeface="Times New Roman"/>
              <a:ea typeface="Times New Roman"/>
              <a:cs typeface="Times New Roman"/>
              <a:sym typeface="Times New Roman"/>
            </a:endParaRPr>
          </a:p>
          <a:p>
            <a:pPr marL="1143000" lvl="2" indent="-228600">
              <a:buSzPts val="2000"/>
            </a:pPr>
            <a:r>
              <a:rPr lang="en-IN" sz="1600" dirty="0">
                <a:latin typeface="Times New Roman"/>
                <a:ea typeface="Times New Roman"/>
                <a:cs typeface="Times New Roman"/>
                <a:sym typeface="Times New Roman"/>
              </a:rPr>
              <a:t>XAI Libraries</a:t>
            </a:r>
            <a:endParaRPr lang="en-IN" sz="1600" dirty="0"/>
          </a:p>
          <a:p>
            <a:pPr marL="1143000" lvl="2" indent="-228600">
              <a:buSzPts val="2000"/>
            </a:pPr>
            <a:r>
              <a:rPr lang="en-IN" sz="1600" dirty="0">
                <a:latin typeface="Times New Roman"/>
                <a:ea typeface="Times New Roman"/>
                <a:cs typeface="Times New Roman"/>
                <a:sym typeface="Times New Roman"/>
              </a:rPr>
              <a:t>Visualization: </a:t>
            </a:r>
            <a:r>
              <a:rPr lang="en-IN" sz="1600" dirty="0" err="1">
                <a:latin typeface="Times New Roman"/>
                <a:ea typeface="Times New Roman"/>
                <a:cs typeface="Times New Roman"/>
                <a:sym typeface="Times New Roman"/>
              </a:rPr>
              <a:t>Matplotlib</a:t>
            </a:r>
            <a:r>
              <a:rPr lang="en-IN" sz="1600" dirty="0">
                <a:latin typeface="Times New Roman"/>
                <a:ea typeface="Times New Roman"/>
                <a:cs typeface="Times New Roman"/>
                <a:sym typeface="Times New Roman"/>
              </a:rPr>
              <a:t>, </a:t>
            </a:r>
            <a:r>
              <a:rPr lang="en-IN" sz="1600" dirty="0" err="1">
                <a:latin typeface="Times New Roman"/>
                <a:ea typeface="Times New Roman"/>
                <a:cs typeface="Times New Roman"/>
                <a:sym typeface="Times New Roman"/>
              </a:rPr>
              <a:t>Seaborn</a:t>
            </a:r>
            <a:r>
              <a:rPr lang="en-IN" sz="1600" dirty="0">
                <a:latin typeface="Times New Roman"/>
                <a:ea typeface="Times New Roman"/>
                <a:cs typeface="Times New Roman"/>
                <a:sym typeface="Times New Roman"/>
              </a:rPr>
              <a:t>, </a:t>
            </a:r>
            <a:r>
              <a:rPr lang="en-IN" sz="1600" dirty="0" err="1">
                <a:latin typeface="Times New Roman"/>
                <a:ea typeface="Times New Roman"/>
                <a:cs typeface="Times New Roman"/>
                <a:sym typeface="Times New Roman"/>
              </a:rPr>
              <a:t>Plotly</a:t>
            </a:r>
            <a:r>
              <a:rPr lang="en-IN" sz="1600" dirty="0">
                <a:latin typeface="Times New Roman"/>
                <a:ea typeface="Times New Roman"/>
                <a:cs typeface="Times New Roman"/>
                <a:sym typeface="Times New Roman"/>
              </a:rPr>
              <a:t> (for interactive explanation maps</a:t>
            </a:r>
            <a:r>
              <a:rPr lang="en-IN" sz="1600" dirty="0" smtClean="0">
                <a:latin typeface="Times New Roman"/>
                <a:ea typeface="Times New Roman"/>
                <a:cs typeface="Times New Roman"/>
                <a:sym typeface="Times New Roman"/>
              </a:rPr>
              <a:t>)</a:t>
            </a:r>
            <a:endParaRPr lang="en-IN" sz="1600" dirty="0">
              <a:latin typeface="Times New Roman"/>
              <a:ea typeface="Times New Roman"/>
              <a:cs typeface="Times New Roman"/>
              <a:sym typeface="Times New Roman"/>
            </a:endParaRPr>
          </a:p>
          <a:p>
            <a:pPr marL="0" lvl="0" indent="0">
              <a:buSzPts val="2000"/>
              <a:buNone/>
            </a:pPr>
            <a:r>
              <a:rPr lang="en-IN" sz="1600" b="1" dirty="0">
                <a:latin typeface="Times New Roman"/>
                <a:ea typeface="Times New Roman"/>
                <a:cs typeface="Times New Roman"/>
                <a:sym typeface="Times New Roman"/>
              </a:rPr>
              <a:t>HARDWARE </a:t>
            </a:r>
            <a:r>
              <a:rPr lang="en-IN" sz="1600" b="1" dirty="0" smtClean="0">
                <a:latin typeface="Times New Roman"/>
                <a:ea typeface="Times New Roman"/>
                <a:cs typeface="Times New Roman"/>
                <a:sym typeface="Times New Roman"/>
              </a:rPr>
              <a:t>REQUIREMENTS:</a:t>
            </a:r>
            <a:endParaRPr lang="en-IN" sz="1600" dirty="0">
              <a:latin typeface="Times New Roman"/>
              <a:ea typeface="Times New Roman"/>
              <a:cs typeface="Times New Roman"/>
              <a:sym typeface="Times New Roman"/>
            </a:endParaRPr>
          </a:p>
          <a:p>
            <a:pPr marL="685800" lvl="1" indent="-228600">
              <a:buSzPts val="2000"/>
            </a:pPr>
            <a:r>
              <a:rPr lang="en-IN" sz="1600" b="1" dirty="0">
                <a:latin typeface="Times New Roman"/>
                <a:ea typeface="Times New Roman"/>
                <a:cs typeface="Times New Roman"/>
                <a:sym typeface="Times New Roman"/>
              </a:rPr>
              <a:t>GPU:</a:t>
            </a:r>
            <a:r>
              <a:rPr lang="en-IN" sz="1600" dirty="0">
                <a:latin typeface="Times New Roman"/>
                <a:ea typeface="Times New Roman"/>
                <a:cs typeface="Times New Roman"/>
                <a:sym typeface="Times New Roman"/>
              </a:rPr>
              <a:t> High-performance GPU</a:t>
            </a:r>
            <a:endParaRPr lang="en-IN" sz="1600" dirty="0"/>
          </a:p>
          <a:p>
            <a:pPr marL="685800" lvl="1" indent="-228600">
              <a:buSzPts val="2000"/>
            </a:pPr>
            <a:r>
              <a:rPr lang="en-IN" sz="1600" b="1" dirty="0">
                <a:latin typeface="Times New Roman"/>
                <a:ea typeface="Times New Roman"/>
                <a:cs typeface="Times New Roman"/>
                <a:sym typeface="Times New Roman"/>
              </a:rPr>
              <a:t>RAM:</a:t>
            </a:r>
            <a:r>
              <a:rPr lang="en-IN" sz="1600" dirty="0">
                <a:latin typeface="Times New Roman"/>
                <a:ea typeface="Times New Roman"/>
                <a:cs typeface="Times New Roman"/>
                <a:sym typeface="Times New Roman"/>
              </a:rPr>
              <a:t> Minimum 16 GB </a:t>
            </a:r>
            <a:endParaRPr lang="en-IN" sz="1600" dirty="0"/>
          </a:p>
          <a:p>
            <a:pPr marL="685800" lvl="1" indent="-228600">
              <a:buSzPts val="2000"/>
            </a:pPr>
            <a:r>
              <a:rPr lang="en-IN" sz="1600" b="1" dirty="0">
                <a:latin typeface="Times New Roman"/>
                <a:ea typeface="Times New Roman"/>
                <a:cs typeface="Times New Roman"/>
                <a:sym typeface="Times New Roman"/>
              </a:rPr>
              <a:t>Storage:</a:t>
            </a:r>
            <a:r>
              <a:rPr lang="en-IN" sz="1600" dirty="0">
                <a:latin typeface="Times New Roman"/>
                <a:ea typeface="Times New Roman"/>
                <a:cs typeface="Times New Roman"/>
                <a:sym typeface="Times New Roman"/>
              </a:rPr>
              <a:t> At least 20 GB free </a:t>
            </a:r>
            <a:endParaRPr lang="en-IN" sz="1600" dirty="0"/>
          </a:p>
          <a:p>
            <a:pPr marL="457200" lvl="1" indent="0" algn="just" rtl="0">
              <a:lnSpc>
                <a:spcPct val="90000"/>
              </a:lnSpc>
              <a:spcBef>
                <a:spcPts val="0"/>
              </a:spcBef>
              <a:spcAft>
                <a:spcPts val="0"/>
              </a:spcAft>
              <a:buClr>
                <a:schemeClr val="dk1"/>
              </a:buClr>
              <a:buSzPts val="2000"/>
              <a:buNone/>
            </a:pPr>
            <a:endParaRPr sz="1600" dirty="0" smtClean="0">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800"/>
              <a:buFont typeface="Calibri"/>
              <a:buNone/>
            </a:pPr>
            <a:endParaRPr sz="1800" dirty="0">
              <a:latin typeface="Arial"/>
              <a:ea typeface="Arial"/>
              <a:cs typeface="Arial"/>
              <a:sym typeface="Arial"/>
            </a:endParaRPr>
          </a:p>
          <a:p>
            <a:pPr marL="0" lvl="0" indent="0" algn="just" rtl="0">
              <a:lnSpc>
                <a:spcPct val="90000"/>
              </a:lnSpc>
              <a:spcBef>
                <a:spcPts val="1000"/>
              </a:spcBef>
              <a:spcAft>
                <a:spcPts val="0"/>
              </a:spcAft>
              <a:buClr>
                <a:schemeClr val="dk1"/>
              </a:buClr>
              <a:buSzPts val="2000"/>
              <a:buNone/>
            </a:pPr>
            <a:endParaRPr sz="2000" dirty="0">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2000"/>
              <a:buNone/>
            </a:pPr>
            <a:endParaRPr sz="2000" dirty="0">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2000"/>
              <a:buNone/>
            </a:pPr>
            <a:endParaRPr sz="2000" dirty="0">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1000"/>
              <a:buNone/>
            </a:pPr>
            <a:endParaRPr sz="1000" dirty="0">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2000"/>
              <a:buNone/>
            </a:pPr>
            <a:endParaRPr sz="2000" dirty="0">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2000"/>
              <a:buNone/>
            </a:pPr>
            <a:endParaRPr sz="2000" dirty="0">
              <a:latin typeface="Times New Roman"/>
              <a:ea typeface="Times New Roman"/>
              <a:cs typeface="Times New Roman"/>
              <a:sym typeface="Times New Roman"/>
            </a:endParaRPr>
          </a:p>
        </p:txBody>
      </p:sp>
      <p:sp>
        <p:nvSpPr>
          <p:cNvPr id="144" name="Google Shape;144;p9"/>
          <p:cNvSpPr/>
          <p:nvPr/>
        </p:nvSpPr>
        <p:spPr>
          <a:xfrm>
            <a:off x="1011382" y="2281444"/>
            <a:ext cx="264816" cy="369332"/>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1"/>
          <p:cNvSpPr txBox="1">
            <a:spLocks noGrp="1"/>
          </p:cNvSpPr>
          <p:nvPr>
            <p:ph type="title"/>
          </p:nvPr>
        </p:nvSpPr>
        <p:spPr>
          <a:xfrm>
            <a:off x="539206" y="-310513"/>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Times New Roman"/>
              <a:buNone/>
            </a:pPr>
            <a:r>
              <a:rPr lang="en-IN" sz="3200" b="1" dirty="0" smtClean="0">
                <a:latin typeface="Times New Roman"/>
                <a:ea typeface="Times New Roman"/>
                <a:cs typeface="Times New Roman"/>
                <a:sym typeface="Times New Roman"/>
              </a:rPr>
              <a:t>ALGORITHMS USED</a:t>
            </a:r>
            <a:endParaRPr sz="3200" dirty="0"/>
          </a:p>
        </p:txBody>
      </p:sp>
      <p:sp>
        <p:nvSpPr>
          <p:cNvPr id="3" name="Rectangle 1"/>
          <p:cNvSpPr>
            <a:spLocks noChangeArrowheads="1"/>
          </p:cNvSpPr>
          <p:nvPr/>
        </p:nvSpPr>
        <p:spPr bwMode="auto">
          <a:xfrm>
            <a:off x="906302" y="638992"/>
            <a:ext cx="10568204"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Multiple deep learning models were implemented for cancer detection: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CNN (Baseline Model)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Vision Transformer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ViT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Swin</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Transformer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EfficientNet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(B0 &amp; B4)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DenseNet121 </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These models capture: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Local features → CNN,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EfficientNet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DenseNet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Global context →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ViT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Swin</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Transformer </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Goal: Perform comparative analysis to identify the best model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
          <p:cNvSpPr>
            <a:spLocks noChangeArrowheads="1"/>
          </p:cNvSpPr>
          <p:nvPr/>
        </p:nvSpPr>
        <p:spPr bwMode="auto">
          <a:xfrm>
            <a:off x="729981" y="201764"/>
            <a:ext cx="9998250"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VISION TRANSFORMER (VIT)</a:t>
            </a:r>
          </a:p>
          <a:p>
            <a:pPr lvl="1" algn="just" eaLnBrk="0" fontAlgn="base" hangingPunct="0">
              <a:lnSpc>
                <a:spcPct val="150000"/>
              </a:lnSpc>
              <a:spcBef>
                <a:spcPct val="0"/>
              </a:spcBef>
              <a:spcAft>
                <a:spcPct val="0"/>
              </a:spcAft>
              <a:buClrTx/>
              <a:buFontTx/>
              <a:buChar char="•"/>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Input: Image patches (16×16) </a:t>
            </a:r>
          </a:p>
          <a:p>
            <a:pPr lvl="1" algn="just" eaLnBrk="0" fontAlgn="base" hangingPunct="0">
              <a:lnSpc>
                <a:spcPct val="150000"/>
              </a:lnSpc>
              <a:spcBef>
                <a:spcPct val="0"/>
              </a:spcBef>
              <a:spcAft>
                <a:spcPct val="0"/>
              </a:spcAft>
              <a:buClrTx/>
              <a:buFontTx/>
              <a:buChar char="•"/>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Key Steps: </a:t>
            </a:r>
          </a:p>
          <a:p>
            <a:pPr marL="457200" lvl="2"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The input image is divided into smaller patches, which are flattened and converted into </a:t>
            </a:r>
            <a:r>
              <a:rPr lang="en-US" sz="1800" dirty="0" err="1">
                <a:latin typeface="Times New Roman" panose="02020603050405020304" pitchFamily="18" charset="0"/>
                <a:cs typeface="Times New Roman" panose="02020603050405020304" pitchFamily="18" charset="0"/>
              </a:rPr>
              <a:t>embeddings</a:t>
            </a:r>
            <a:r>
              <a:rPr lang="en-US" sz="1800" dirty="0">
                <a:latin typeface="Times New Roman" panose="02020603050405020304" pitchFamily="18" charset="0"/>
                <a:cs typeface="Times New Roman" panose="02020603050405020304" pitchFamily="18" charset="0"/>
              </a:rPr>
              <a:t>.</a:t>
            </a:r>
            <a:endPar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lvl="2"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Positional encoding is added to preserve spatial information of patches</a:t>
            </a:r>
            <a:r>
              <a:rPr lang="en-US" sz="1800" dirty="0" smtClean="0">
                <a:latin typeface="Times New Roman" panose="02020603050405020304" pitchFamily="18" charset="0"/>
                <a:cs typeface="Times New Roman" panose="02020603050405020304" pitchFamily="18" charset="0"/>
              </a:rPr>
              <a:t>.</a:t>
            </a:r>
          </a:p>
          <a:p>
            <a:pPr marL="457200" lvl="2"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Multi-head self-attention is applied to capture global relationships across all patches.</a:t>
            </a:r>
            <a:endPar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lvl="2"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The encoded features are passed through transformer layers and a classification head.</a:t>
            </a:r>
            <a:endPar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buClrTx/>
              <a:buFontTx/>
              <a:buChar char="•"/>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Output: Cancer / Non-Cancer classification</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Rectangle 8"/>
          <p:cNvSpPr>
            <a:spLocks noChangeArrowheads="1"/>
          </p:cNvSpPr>
          <p:nvPr/>
        </p:nvSpPr>
        <p:spPr bwMode="auto">
          <a:xfrm flipH="1">
            <a:off x="729981" y="3586940"/>
            <a:ext cx="9652101" cy="361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SWIN TRANSFORMER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Input: Image (divided into windows)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Key Steps: </a:t>
            </a:r>
          </a:p>
          <a:p>
            <a:pPr marL="457200" lvl="1"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The image is partitioned into fixed-size windows for localized attention computation.</a:t>
            </a: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457200" lvl="1"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Shifted window mechanism is applied to enable cross-window interaction.</a:t>
            </a:r>
            <a:endPar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lvl="1"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Hierarchical feature maps are generated by progressively merging patches</a:t>
            </a:r>
            <a:r>
              <a:rPr lang="en-US" sz="1800" dirty="0" smtClean="0">
                <a:latin typeface="Times New Roman" panose="02020603050405020304" pitchFamily="18" charset="0"/>
                <a:cs typeface="Times New Roman" panose="02020603050405020304" pitchFamily="18" charset="0"/>
              </a:rPr>
              <a:t>.</a:t>
            </a:r>
          </a:p>
          <a:p>
            <a:pPr marL="457200" lvl="1"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The extracted features are passed through classification layers for prediction.</a:t>
            </a:r>
            <a:endPar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Output: Classification result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33878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647363" y="0"/>
            <a:ext cx="11029444" cy="358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EFFICIENTNET (B0 &amp; B4)</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Input: Image (224×224×3)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Key Steps: </a:t>
            </a:r>
          </a:p>
          <a:p>
            <a:pPr marL="457200" lvl="1"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The model extracts features using </a:t>
            </a:r>
            <a:r>
              <a:rPr lang="en-US" sz="1800" dirty="0" err="1">
                <a:latin typeface="Times New Roman" panose="02020603050405020304" pitchFamily="18" charset="0"/>
                <a:cs typeface="Times New Roman" panose="02020603050405020304" pitchFamily="18" charset="0"/>
              </a:rPr>
              <a:t>MBConv</a:t>
            </a:r>
            <a:r>
              <a:rPr lang="en-US" sz="1800" dirty="0">
                <a:latin typeface="Times New Roman" panose="02020603050405020304" pitchFamily="18" charset="0"/>
                <a:cs typeface="Times New Roman" panose="02020603050405020304" pitchFamily="18" charset="0"/>
              </a:rPr>
              <a:t> blocks designed for efficient computation</a:t>
            </a:r>
            <a:r>
              <a:rPr lang="en-US" sz="1800" dirty="0" smtClean="0">
                <a:latin typeface="Times New Roman" panose="02020603050405020304" pitchFamily="18" charset="0"/>
                <a:cs typeface="Times New Roman" panose="02020603050405020304" pitchFamily="18" charset="0"/>
              </a:rPr>
              <a:t>.</a:t>
            </a:r>
          </a:p>
          <a:p>
            <a:pPr marL="457200" lvl="1"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Compound scaling is applied to balance depth, width, and resolution of the network</a:t>
            </a:r>
            <a:r>
              <a:rPr lang="en-US" sz="1800" dirty="0" smtClean="0">
                <a:latin typeface="Times New Roman" panose="02020603050405020304" pitchFamily="18" charset="0"/>
                <a:cs typeface="Times New Roman" panose="02020603050405020304" pitchFamily="18" charset="0"/>
              </a:rPr>
              <a:t>.</a:t>
            </a:r>
          </a:p>
          <a:p>
            <a:pPr marL="457200" lvl="1"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Global Average Pooling is used to reduce feature maps into a single vector</a:t>
            </a:r>
            <a:r>
              <a:rPr lang="en-US" sz="1800" dirty="0" smtClean="0">
                <a:latin typeface="Times New Roman" panose="02020603050405020304" pitchFamily="18" charset="0"/>
                <a:cs typeface="Times New Roman" panose="02020603050405020304" pitchFamily="18" charset="0"/>
              </a:rPr>
              <a:t>.</a:t>
            </a:r>
          </a:p>
          <a:p>
            <a:pPr marL="457200" lvl="1"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The final dense layer performs binary </a:t>
            </a:r>
            <a:r>
              <a:rPr lang="en-US" sz="1800" dirty="0" smtClean="0">
                <a:latin typeface="Times New Roman" panose="02020603050405020304" pitchFamily="18" charset="0"/>
                <a:cs typeface="Times New Roman" panose="02020603050405020304" pitchFamily="18" charset="0"/>
              </a:rPr>
              <a:t>classification.</a:t>
            </a:r>
            <a:endPar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Output: Cancer / Non-Cancer classification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Rectangle 6"/>
          <p:cNvSpPr>
            <a:spLocks noChangeArrowheads="1"/>
          </p:cNvSpPr>
          <p:nvPr/>
        </p:nvSpPr>
        <p:spPr bwMode="auto">
          <a:xfrm>
            <a:off x="647363" y="3246666"/>
            <a:ext cx="8431901" cy="4001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DENSENET121</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Input: Image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Key Steps: </a:t>
            </a:r>
          </a:p>
          <a:p>
            <a:pPr marL="457200" lvl="1"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Each layer receives inputs from all previous layers, enabling feature reuse</a:t>
            </a:r>
            <a:r>
              <a:rPr lang="en-US" sz="1800" dirty="0" smtClean="0">
                <a:latin typeface="Times New Roman" panose="02020603050405020304" pitchFamily="18" charset="0"/>
                <a:cs typeface="Times New Roman" panose="02020603050405020304" pitchFamily="18" charset="0"/>
              </a:rPr>
              <a:t>.</a:t>
            </a:r>
          </a:p>
          <a:p>
            <a:pPr marL="457200" lvl="1"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Dense blocks help in capturing fine-grained and complex features</a:t>
            </a:r>
            <a:r>
              <a:rPr lang="en-US" sz="1800" dirty="0" smtClean="0">
                <a:latin typeface="Times New Roman" panose="02020603050405020304" pitchFamily="18" charset="0"/>
                <a:cs typeface="Times New Roman" panose="02020603050405020304" pitchFamily="18" charset="0"/>
              </a:rPr>
              <a:t>.</a:t>
            </a:r>
          </a:p>
          <a:p>
            <a:pPr marL="457200" lvl="1"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Transition layers reduce feature map size and improve efficiency</a:t>
            </a:r>
            <a:r>
              <a:rPr lang="en-US" sz="1800" dirty="0" smtClean="0">
                <a:latin typeface="Times New Roman" panose="02020603050405020304" pitchFamily="18" charset="0"/>
                <a:cs typeface="Times New Roman" panose="02020603050405020304" pitchFamily="18" charset="0"/>
              </a:rPr>
              <a:t>.</a:t>
            </a:r>
          </a:p>
          <a:p>
            <a:pPr marL="457200" lvl="1"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Global pooling and fully connected layers produce the final prediction.</a:t>
            </a: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just" defTabSz="914400" rtl="0" eaLnBrk="0" fontAlgn="base" latinLnBrk="0" hangingPunct="0">
              <a:lnSpc>
                <a:spcPct val="150000"/>
              </a:lnSpc>
              <a:spcBef>
                <a:spcPct val="0"/>
              </a:spcBef>
              <a:spcAft>
                <a:spcPct val="0"/>
              </a:spcAft>
              <a:buClrTx/>
              <a:buSzTx/>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Output: Classification result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12721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8"/>
          <p:cNvSpPr txBox="1">
            <a:spLocks noGrp="1"/>
          </p:cNvSpPr>
          <p:nvPr>
            <p:ph type="title"/>
          </p:nvPr>
        </p:nvSpPr>
        <p:spPr>
          <a:xfrm>
            <a:off x="225137" y="0"/>
            <a:ext cx="10063556" cy="84812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Times New Roman"/>
              <a:buNone/>
            </a:pPr>
            <a:r>
              <a:rPr lang="en-IN" sz="3200" b="1" dirty="0">
                <a:latin typeface="Times New Roman"/>
                <a:ea typeface="Times New Roman"/>
                <a:cs typeface="Times New Roman"/>
                <a:sym typeface="Times New Roman"/>
              </a:rPr>
              <a:t>ARCHITECTURE DIAGRAM</a:t>
            </a:r>
            <a:endParaRPr sz="3200" dirty="0"/>
          </a:p>
        </p:txBody>
      </p:sp>
      <p:pic>
        <p:nvPicPr>
          <p:cNvPr id="192" name="Google Shape;192;p18"/>
          <p:cNvPicPr preferRelativeResize="0"/>
          <p:nvPr/>
        </p:nvPicPr>
        <p:blipFill rotWithShape="1">
          <a:blip r:embed="rId3">
            <a:alphaModFix/>
          </a:blip>
          <a:srcRect/>
          <a:stretch/>
        </p:blipFill>
        <p:spPr>
          <a:xfrm>
            <a:off x="302873" y="1036864"/>
            <a:ext cx="11708152" cy="5216979"/>
          </a:xfrm>
          <a:prstGeom prst="rect">
            <a:avLst/>
          </a:prstGeom>
          <a:noFill/>
          <a:ln>
            <a:noFill/>
          </a:ln>
        </p:spPr>
      </p:pic>
      <p:pic>
        <p:nvPicPr>
          <p:cNvPr id="193" name="Google Shape;193;p18"/>
          <p:cNvPicPr preferRelativeResize="0"/>
          <p:nvPr/>
        </p:nvPicPr>
        <p:blipFill rotWithShape="1">
          <a:blip r:embed="rId3">
            <a:alphaModFix/>
          </a:blip>
          <a:srcRect/>
          <a:stretch/>
        </p:blipFill>
        <p:spPr>
          <a:xfrm>
            <a:off x="302873" y="1036864"/>
            <a:ext cx="11708152" cy="5216979"/>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1"/>
          <p:cNvSpPr txBox="1">
            <a:spLocks noGrp="1"/>
          </p:cNvSpPr>
          <p:nvPr>
            <p:ph type="title"/>
          </p:nvPr>
        </p:nvSpPr>
        <p:spPr>
          <a:xfrm>
            <a:off x="539206" y="0"/>
            <a:ext cx="10515600" cy="1325563"/>
          </a:xfrm>
          <a:prstGeom prst="rect">
            <a:avLst/>
          </a:prstGeom>
          <a:noFill/>
          <a:ln>
            <a:noFill/>
          </a:ln>
        </p:spPr>
        <p:txBody>
          <a:bodyPr spcFirstLastPara="1" wrap="square" lIns="91425" tIns="45700" rIns="91425" bIns="45700" anchor="ctr" anchorCtr="0">
            <a:normAutofit/>
          </a:bodyPr>
          <a:lstStyle/>
          <a:p>
            <a:pPr algn="ctr">
              <a:buSzPts val="2800"/>
            </a:pPr>
            <a:r>
              <a:rPr lang="en-US" sz="3200" b="1" dirty="0" smtClean="0">
                <a:latin typeface="Times New Roman" panose="02020603050405020304" pitchFamily="18" charset="0"/>
                <a:ea typeface="Times New Roman"/>
                <a:cs typeface="Times New Roman" panose="02020603050405020304" pitchFamily="18" charset="0"/>
                <a:sym typeface="Times New Roman"/>
              </a:rPr>
              <a:t>IMPLEMENTATION STEPS AND EXECUTION</a:t>
            </a:r>
            <a:endParaRPr lang="en-US" sz="3200" b="1" dirty="0"/>
          </a:p>
        </p:txBody>
      </p:sp>
      <p:sp>
        <p:nvSpPr>
          <p:cNvPr id="2" name="Rectangle 1"/>
          <p:cNvSpPr/>
          <p:nvPr/>
        </p:nvSpPr>
        <p:spPr>
          <a:xfrm>
            <a:off x="882033" y="3617130"/>
            <a:ext cx="6171922" cy="954107"/>
          </a:xfrm>
          <a:prstGeom prst="rect">
            <a:avLst/>
          </a:prstGeom>
        </p:spPr>
        <p:txBody>
          <a:bodyPr wrap="square">
            <a:spAutoFit/>
          </a:bodyPr>
          <a:lstStyle/>
          <a:p>
            <a:endParaRPr lang="en-IN" dirty="0"/>
          </a:p>
          <a:p>
            <a:endParaRPr lang="en-IN" dirty="0" smtClean="0"/>
          </a:p>
          <a:p>
            <a:endParaRPr lang="en-IN" dirty="0"/>
          </a:p>
          <a:p>
            <a:endParaRPr lang="en-IN" dirty="0"/>
          </a:p>
        </p:txBody>
      </p:sp>
      <p:sp>
        <p:nvSpPr>
          <p:cNvPr id="3" name="Rectangle 1"/>
          <p:cNvSpPr>
            <a:spLocks noChangeArrowheads="1"/>
          </p:cNvSpPr>
          <p:nvPr/>
        </p:nvSpPr>
        <p:spPr bwMode="auto">
          <a:xfrm>
            <a:off x="451003" y="1092936"/>
            <a:ext cx="11193435"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buClrTx/>
            </a:pPr>
            <a:r>
              <a:rPr lang="en-IN" sz="1800" dirty="0" smtClean="0">
                <a:latin typeface="Times New Roman" panose="02020603050405020304" pitchFamily="18" charset="0"/>
                <a:cs typeface="Times New Roman" panose="02020603050405020304" pitchFamily="18" charset="0"/>
              </a:rPr>
              <a:t>IMPLEMENTATION STEPS:</a:t>
            </a:r>
          </a:p>
          <a:p>
            <a:pPr lvl="0" algn="just" eaLnBrk="0" fontAlgn="base" hangingPunct="0">
              <a:lnSpc>
                <a:spcPct val="150000"/>
              </a:lnSpc>
              <a:spcBef>
                <a:spcPct val="0"/>
              </a:spcBef>
              <a:spcAft>
                <a:spcPct val="0"/>
              </a:spcAft>
              <a:buClrTx/>
            </a:pPr>
            <a:endPar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ClrTx/>
            </a:pPr>
            <a:r>
              <a:rPr lang="en-IN" sz="1800" dirty="0" smtClean="0">
                <a:latin typeface="Times New Roman" panose="02020603050405020304" pitchFamily="18" charset="0"/>
                <a:cs typeface="Times New Roman" panose="02020603050405020304" pitchFamily="18" charset="0"/>
              </a:rPr>
              <a:t>STEP-1 : </a:t>
            </a: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PCam</a:t>
            </a: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dataset is loaded and prepared for training </a:t>
            </a:r>
          </a:p>
          <a:p>
            <a:pPr algn="just" eaLnBrk="0" fontAlgn="base" hangingPunct="0">
              <a:lnSpc>
                <a:spcPct val="150000"/>
              </a:lnSpc>
              <a:spcBef>
                <a:spcPct val="0"/>
              </a:spcBef>
              <a:spcAft>
                <a:spcPct val="0"/>
              </a:spcAft>
              <a:buClrTx/>
            </a:pPr>
            <a:endParaRPr lang="en-IN" sz="1800" dirty="0" smtClean="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ClrTx/>
            </a:pPr>
            <a:r>
              <a:rPr lang="en-IN" sz="1800" dirty="0" smtClean="0">
                <a:latin typeface="Times New Roman" panose="02020603050405020304" pitchFamily="18" charset="0"/>
                <a:cs typeface="Times New Roman" panose="02020603050405020304" pitchFamily="18" charset="0"/>
              </a:rPr>
              <a:t>STEP-2 : </a:t>
            </a: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Images are preprocessed by resizing (224×224) and normalizing pixel values [0,1] </a:t>
            </a:r>
          </a:p>
          <a:p>
            <a:pPr algn="just" eaLnBrk="0" fontAlgn="base" hangingPunct="0">
              <a:lnSpc>
                <a:spcPct val="150000"/>
              </a:lnSpc>
              <a:spcBef>
                <a:spcPct val="0"/>
              </a:spcBef>
              <a:spcAft>
                <a:spcPct val="0"/>
              </a:spcAft>
              <a:buClrTx/>
            </a:pPr>
            <a:endParaRPr lang="en-IN" sz="1800" dirty="0" smtClean="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ClrTx/>
            </a:pPr>
            <a:r>
              <a:rPr lang="en-IN" sz="1800" dirty="0" smtClean="0">
                <a:latin typeface="Times New Roman" panose="02020603050405020304" pitchFamily="18" charset="0"/>
                <a:cs typeface="Times New Roman" panose="02020603050405020304" pitchFamily="18" charset="0"/>
              </a:rPr>
              <a:t>STEP-3 : </a:t>
            </a: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is organized into training, validation, and testing sets </a:t>
            </a:r>
          </a:p>
          <a:p>
            <a:pPr algn="just" eaLnBrk="0" fontAlgn="base" hangingPunct="0">
              <a:lnSpc>
                <a:spcPct val="150000"/>
              </a:lnSpc>
              <a:spcBef>
                <a:spcPct val="0"/>
              </a:spcBef>
              <a:spcAft>
                <a:spcPct val="0"/>
              </a:spcAft>
              <a:buClrTx/>
            </a:pPr>
            <a:endParaRPr lang="en-IN" sz="1800" dirty="0" smtClean="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ClrTx/>
            </a:pPr>
            <a:r>
              <a:rPr lang="en-IN" sz="1800" dirty="0" smtClean="0">
                <a:latin typeface="Times New Roman" panose="02020603050405020304" pitchFamily="18" charset="0"/>
                <a:cs typeface="Times New Roman" panose="02020603050405020304" pitchFamily="18" charset="0"/>
              </a:rPr>
              <a:t>STEP-</a:t>
            </a:r>
            <a:r>
              <a:rPr lang="en-US" sz="1800" spc="-20" dirty="0" smtClean="0">
                <a:latin typeface="Times New Roman" panose="02020603050405020304" pitchFamily="18" charset="0"/>
                <a:cs typeface="Times New Roman" panose="02020603050405020304" pitchFamily="18" charset="0"/>
              </a:rPr>
              <a:t>4 : </a:t>
            </a: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Deep learning models EfficientNet-B0, EfficientNet-B4, and DenseNet121 are implemented </a:t>
            </a:r>
          </a:p>
          <a:p>
            <a:pPr algn="just" eaLnBrk="0" fontAlgn="base" hangingPunct="0">
              <a:lnSpc>
                <a:spcPct val="150000"/>
              </a:lnSpc>
              <a:spcBef>
                <a:spcPct val="0"/>
              </a:spcBef>
              <a:spcAft>
                <a:spcPct val="0"/>
              </a:spcAft>
              <a:buClrTx/>
            </a:pPr>
            <a:endParaRPr lang="en-IN" sz="1800" dirty="0" smtClean="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ClrTx/>
            </a:pPr>
            <a:r>
              <a:rPr lang="en-IN" sz="1800" dirty="0" smtClean="0">
                <a:latin typeface="Times New Roman" panose="02020603050405020304" pitchFamily="18" charset="0"/>
                <a:cs typeface="Times New Roman" panose="02020603050405020304" pitchFamily="18" charset="0"/>
              </a:rPr>
              <a:t>STEP-</a:t>
            </a:r>
            <a:r>
              <a:rPr lang="en-US" sz="1800" spc="-20" dirty="0" smtClean="0">
                <a:latin typeface="Times New Roman" panose="02020603050405020304" pitchFamily="18" charset="0"/>
                <a:cs typeface="Times New Roman" panose="02020603050405020304" pitchFamily="18" charset="0"/>
              </a:rPr>
              <a:t>5 : </a:t>
            </a: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Models are compiled using Adam optimizer and binary cross-entropy loss </a:t>
            </a:r>
          </a:p>
          <a:p>
            <a:pPr algn="just" eaLnBrk="0" fontAlgn="base" hangingPunct="0">
              <a:lnSpc>
                <a:spcPct val="150000"/>
              </a:lnSpc>
              <a:spcBef>
                <a:spcPct val="0"/>
              </a:spcBef>
              <a:spcAft>
                <a:spcPct val="0"/>
              </a:spcAft>
              <a:buClrTx/>
            </a:pPr>
            <a:endParaRPr lang="en-IN" sz="1800" dirty="0" smtClean="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ClrTx/>
            </a:pPr>
            <a:r>
              <a:rPr lang="en-IN" sz="1800" dirty="0" smtClean="0">
                <a:latin typeface="Times New Roman" panose="02020603050405020304" pitchFamily="18" charset="0"/>
                <a:cs typeface="Times New Roman" panose="02020603050405020304" pitchFamily="18" charset="0"/>
              </a:rPr>
              <a:t>STEP-6 : </a:t>
            </a: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Training is performed using a GPU-enabled environment for efficient computation </a:t>
            </a:r>
          </a:p>
        </p:txBody>
      </p:sp>
    </p:spTree>
    <p:extLst>
      <p:ext uri="{BB962C8B-B14F-4D97-AF65-F5344CB8AC3E}">
        <p14:creationId xmlns:p14="http://schemas.microsoft.com/office/powerpoint/2010/main" val="40048368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3" name="Rectangle 1"/>
          <p:cNvSpPr>
            <a:spLocks noGrp="1" noChangeArrowheads="1"/>
          </p:cNvSpPr>
          <p:nvPr>
            <p:ph type="title"/>
          </p:nvPr>
        </p:nvSpPr>
        <p:spPr bwMode="auto">
          <a:xfrm>
            <a:off x="822015" y="898720"/>
            <a:ext cx="924163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buClrTx/>
              <a:buSzTx/>
            </a:pPr>
            <a:r>
              <a:rPr lang="en-IN" sz="2000" dirty="0" smtClean="0">
                <a:latin typeface="Times New Roman" panose="02020603050405020304" pitchFamily="18" charset="0"/>
                <a:cs typeface="Times New Roman" panose="02020603050405020304" pitchFamily="18" charset="0"/>
              </a:rPr>
              <a:t>EXECUTION &amp; EVALUATION</a:t>
            </a:r>
            <a:endPar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Models are trained over multiple epochs with monitoring of accuracy and loss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Performance is validated using the validation dataset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Final evaluation is done on the test dataset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Evaluation metrics include: </a:t>
            </a:r>
          </a:p>
          <a:p>
            <a:pPr marL="0" marR="0" lvl="0" indent="0" algn="just" defTabSz="914400" rtl="0" eaLnBrk="0" fontAlgn="base" latinLnBrk="0" hangingPunct="0">
              <a:lnSpc>
                <a:spcPct val="150000"/>
              </a:lnSpc>
              <a:spcBef>
                <a:spcPct val="0"/>
              </a:spcBef>
              <a:spcAft>
                <a:spcPct val="0"/>
              </a:spcAft>
              <a:buClrTx/>
              <a:buSzTx/>
              <a:tabLst/>
            </a:pPr>
            <a:r>
              <a:rPr lang="en-US" altLang="en-US" sz="2000" dirty="0">
                <a:solidFill>
                  <a:schemeClr val="tx1"/>
                </a:solidFill>
                <a:latin typeface="Times New Roman" panose="02020603050405020304" pitchFamily="18" charset="0"/>
                <a:cs typeface="Times New Roman" panose="02020603050405020304" pitchFamily="18" charset="0"/>
              </a:rPr>
              <a:t>	</a:t>
            </a: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Accuracy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Precision, Recall, F1-score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AUC (Area Under Curve)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Results are visualized using accuracy and loss graphs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predictions are analyzed to compare performance of </a:t>
            </a:r>
            <a:r>
              <a:rPr kumimoji="0" lang="en-US" altLang="en-US" sz="200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EfficientNet</a:t>
            </a: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DenseNet</a:t>
            </a: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654832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9" name="Google Shape;199;p19"/>
          <p:cNvSpPr txBox="1">
            <a:spLocks noGrp="1"/>
          </p:cNvSpPr>
          <p:nvPr>
            <p:ph type="ctrTitle"/>
          </p:nvPr>
        </p:nvSpPr>
        <p:spPr>
          <a:xfrm>
            <a:off x="1132018" y="149986"/>
            <a:ext cx="9207642" cy="56896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2800"/>
              <a:buFont typeface="Times New Roman"/>
              <a:buNone/>
            </a:pPr>
            <a:r>
              <a:rPr lang="en-IN" sz="3200" b="1" dirty="0" smtClean="0">
                <a:latin typeface="Times New Roman"/>
                <a:ea typeface="Times New Roman"/>
                <a:cs typeface="Times New Roman"/>
                <a:sym typeface="Times New Roman"/>
              </a:rPr>
              <a:t>RESULTS </a:t>
            </a:r>
            <a:endParaRPr sz="3200" dirty="0"/>
          </a:p>
        </p:txBody>
      </p:sp>
      <p:pic>
        <p:nvPicPr>
          <p:cNvPr id="11" name="Picture 10"/>
          <p:cNvPicPr>
            <a:picLocks noChangeAspect="1"/>
          </p:cNvPicPr>
          <p:nvPr/>
        </p:nvPicPr>
        <p:blipFill rotWithShape="1">
          <a:blip r:embed="rId3">
            <a:extLst>
              <a:ext uri="{28A0092B-C50C-407E-A947-70E740481C1C}">
                <a14:useLocalDpi xmlns:a14="http://schemas.microsoft.com/office/drawing/2010/main" val="0"/>
              </a:ext>
            </a:extLst>
          </a:blip>
          <a:srcRect l="3215" t="5145" r="3090"/>
          <a:stretch/>
        </p:blipFill>
        <p:spPr>
          <a:xfrm>
            <a:off x="4137780" y="2759384"/>
            <a:ext cx="7644224" cy="3923820"/>
          </a:xfrm>
          <a:prstGeom prst="rect">
            <a:avLst/>
          </a:prstGeom>
        </p:spPr>
      </p:pic>
      <p:pic>
        <p:nvPicPr>
          <p:cNvPr id="9" name="Picture 8"/>
          <p:cNvPicPr>
            <a:picLocks noChangeAspect="1"/>
          </p:cNvPicPr>
          <p:nvPr/>
        </p:nvPicPr>
        <p:blipFill>
          <a:blip r:embed="rId4"/>
          <a:stretch>
            <a:fillRect/>
          </a:stretch>
        </p:blipFill>
        <p:spPr>
          <a:xfrm>
            <a:off x="68412" y="718947"/>
            <a:ext cx="3912072" cy="3974749"/>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32289" y="762908"/>
            <a:ext cx="9095448" cy="5179455"/>
          </a:xfrm>
          <a:prstGeom prst="rect">
            <a:avLst/>
          </a:prstGeom>
        </p:spPr>
      </p:pic>
    </p:spTree>
    <p:extLst>
      <p:ext uri="{BB962C8B-B14F-4D97-AF65-F5344CB8AC3E}">
        <p14:creationId xmlns:p14="http://schemas.microsoft.com/office/powerpoint/2010/main" val="5258888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21089"/>
            <a:ext cx="12113776" cy="584775"/>
          </a:xfrm>
          <a:prstGeom prst="rect">
            <a:avLst/>
          </a:prstGeom>
        </p:spPr>
        <p:txBody>
          <a:bodyPr wrap="square">
            <a:spAutoFit/>
          </a:bodyPr>
          <a:lstStyle/>
          <a:p>
            <a:pPr algn="ctr"/>
            <a:r>
              <a:rPr lang="en-IN" sz="3200" b="1" dirty="0">
                <a:latin typeface="Times New Roman"/>
                <a:ea typeface="Times New Roman"/>
                <a:cs typeface="Times New Roman"/>
                <a:sym typeface="Times New Roman"/>
              </a:rPr>
              <a:t>RESULTS ANALYSIS</a:t>
            </a:r>
            <a:endParaRPr lang="en-IN" sz="3200" dirty="0"/>
          </a:p>
        </p:txBody>
      </p:sp>
      <p:pic>
        <p:nvPicPr>
          <p:cNvPr id="3" name="Picture 2"/>
          <p:cNvPicPr>
            <a:picLocks noChangeAspect="1"/>
          </p:cNvPicPr>
          <p:nvPr/>
        </p:nvPicPr>
        <p:blipFill>
          <a:blip r:embed="rId2"/>
          <a:stretch>
            <a:fillRect/>
          </a:stretch>
        </p:blipFill>
        <p:spPr>
          <a:xfrm>
            <a:off x="631724" y="1058860"/>
            <a:ext cx="5524500" cy="2428875"/>
          </a:xfrm>
          <a:prstGeom prst="rect">
            <a:avLst/>
          </a:prstGeom>
        </p:spPr>
      </p:pic>
      <p:pic>
        <p:nvPicPr>
          <p:cNvPr id="8" name="Picture 7"/>
          <p:cNvPicPr>
            <a:picLocks noChangeAspect="1"/>
          </p:cNvPicPr>
          <p:nvPr/>
        </p:nvPicPr>
        <p:blipFill>
          <a:blip r:embed="rId3"/>
          <a:stretch>
            <a:fillRect/>
          </a:stretch>
        </p:blipFill>
        <p:spPr>
          <a:xfrm>
            <a:off x="7173280" y="1058860"/>
            <a:ext cx="2724150" cy="2238375"/>
          </a:xfrm>
          <a:prstGeom prst="rect">
            <a:avLst/>
          </a:prstGeom>
        </p:spPr>
      </p:pic>
      <p:pic>
        <p:nvPicPr>
          <p:cNvPr id="10" name="Picture 9"/>
          <p:cNvPicPr>
            <a:picLocks noChangeAspect="1"/>
          </p:cNvPicPr>
          <p:nvPr/>
        </p:nvPicPr>
        <p:blipFill rotWithShape="1">
          <a:blip r:embed="rId4"/>
          <a:srcRect l="2092" t="2310" r="2686" b="3786"/>
          <a:stretch/>
        </p:blipFill>
        <p:spPr>
          <a:xfrm>
            <a:off x="595890" y="3699156"/>
            <a:ext cx="3459379" cy="2568641"/>
          </a:xfrm>
          <a:prstGeom prst="rect">
            <a:avLst/>
          </a:prstGeom>
        </p:spPr>
      </p:pic>
      <p:pic>
        <p:nvPicPr>
          <p:cNvPr id="11" name="Picture 10"/>
          <p:cNvPicPr>
            <a:picLocks noChangeAspect="1"/>
          </p:cNvPicPr>
          <p:nvPr/>
        </p:nvPicPr>
        <p:blipFill>
          <a:blip r:embed="rId5"/>
          <a:stretch>
            <a:fillRect/>
          </a:stretch>
        </p:blipFill>
        <p:spPr>
          <a:xfrm>
            <a:off x="4661010" y="3699156"/>
            <a:ext cx="6995511" cy="2770186"/>
          </a:xfrm>
          <a:prstGeom prst="rect">
            <a:avLst/>
          </a:prstGeom>
        </p:spPr>
      </p:pic>
      <p:sp>
        <p:nvSpPr>
          <p:cNvPr id="12" name="TextBox 11"/>
          <p:cNvSpPr txBox="1"/>
          <p:nvPr/>
        </p:nvSpPr>
        <p:spPr>
          <a:xfrm>
            <a:off x="7173280" y="6315453"/>
            <a:ext cx="2451887"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43536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l="1285" t="2790" r="1814" b="2988"/>
          <a:stretch/>
        </p:blipFill>
        <p:spPr>
          <a:xfrm>
            <a:off x="410576" y="262245"/>
            <a:ext cx="4559923" cy="1989256"/>
          </a:xfrm>
          <a:prstGeom prst="rect">
            <a:avLst/>
          </a:prstGeom>
        </p:spPr>
      </p:pic>
      <p:pic>
        <p:nvPicPr>
          <p:cNvPr id="6" name="Picture 5"/>
          <p:cNvPicPr>
            <a:picLocks noChangeAspect="1"/>
          </p:cNvPicPr>
          <p:nvPr/>
        </p:nvPicPr>
        <p:blipFill>
          <a:blip r:embed="rId3"/>
          <a:stretch>
            <a:fillRect/>
          </a:stretch>
        </p:blipFill>
        <p:spPr>
          <a:xfrm>
            <a:off x="379459" y="2443385"/>
            <a:ext cx="4591040" cy="2095360"/>
          </a:xfrm>
          <a:prstGeom prst="rect">
            <a:avLst/>
          </a:prstGeom>
        </p:spPr>
      </p:pic>
      <p:pic>
        <p:nvPicPr>
          <p:cNvPr id="7" name="Picture 6"/>
          <p:cNvPicPr>
            <a:picLocks noChangeAspect="1"/>
          </p:cNvPicPr>
          <p:nvPr/>
        </p:nvPicPr>
        <p:blipFill>
          <a:blip r:embed="rId4"/>
          <a:stretch>
            <a:fillRect/>
          </a:stretch>
        </p:blipFill>
        <p:spPr>
          <a:xfrm>
            <a:off x="379459" y="4730629"/>
            <a:ext cx="4694248" cy="2127370"/>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2656653864"/>
              </p:ext>
            </p:extLst>
          </p:nvPr>
        </p:nvGraphicFramePr>
        <p:xfrm>
          <a:off x="5717455" y="1944003"/>
          <a:ext cx="6196330" cy="3939540"/>
        </p:xfrm>
        <a:graphic>
          <a:graphicData uri="http://schemas.openxmlformats.org/drawingml/2006/table">
            <a:tbl>
              <a:tblPr firstRow="1" firstCol="1" lastRow="1" lastCol="1" bandRow="1" bandCol="1">
                <a:tableStyleId>{D21998D0-8782-49B7-B685-5BC57A70C0FD}</a:tableStyleId>
              </a:tblPr>
              <a:tblGrid>
                <a:gridCol w="2139950">
                  <a:extLst>
                    <a:ext uri="{9D8B030D-6E8A-4147-A177-3AD203B41FA5}">
                      <a16:colId xmlns:a16="http://schemas.microsoft.com/office/drawing/2014/main" val="4124668066"/>
                    </a:ext>
                  </a:extLst>
                </a:gridCol>
                <a:gridCol w="899160">
                  <a:extLst>
                    <a:ext uri="{9D8B030D-6E8A-4147-A177-3AD203B41FA5}">
                      <a16:colId xmlns:a16="http://schemas.microsoft.com/office/drawing/2014/main" val="3234786122"/>
                    </a:ext>
                  </a:extLst>
                </a:gridCol>
                <a:gridCol w="900430">
                  <a:extLst>
                    <a:ext uri="{9D8B030D-6E8A-4147-A177-3AD203B41FA5}">
                      <a16:colId xmlns:a16="http://schemas.microsoft.com/office/drawing/2014/main" val="312932340"/>
                    </a:ext>
                  </a:extLst>
                </a:gridCol>
                <a:gridCol w="809625">
                  <a:extLst>
                    <a:ext uri="{9D8B030D-6E8A-4147-A177-3AD203B41FA5}">
                      <a16:colId xmlns:a16="http://schemas.microsoft.com/office/drawing/2014/main" val="263884273"/>
                    </a:ext>
                  </a:extLst>
                </a:gridCol>
                <a:gridCol w="755650">
                  <a:extLst>
                    <a:ext uri="{9D8B030D-6E8A-4147-A177-3AD203B41FA5}">
                      <a16:colId xmlns:a16="http://schemas.microsoft.com/office/drawing/2014/main" val="3699973672"/>
                    </a:ext>
                  </a:extLst>
                </a:gridCol>
                <a:gridCol w="691515">
                  <a:extLst>
                    <a:ext uri="{9D8B030D-6E8A-4147-A177-3AD203B41FA5}">
                      <a16:colId xmlns:a16="http://schemas.microsoft.com/office/drawing/2014/main" val="3866272715"/>
                    </a:ext>
                  </a:extLst>
                </a:gridCol>
              </a:tblGrid>
              <a:tr h="561975">
                <a:tc>
                  <a:txBody>
                    <a:bodyPr/>
                    <a:lstStyle/>
                    <a:p>
                      <a:pPr marL="67945">
                        <a:spcBef>
                          <a:spcPts val="675"/>
                        </a:spcBef>
                        <a:spcAft>
                          <a:spcPts val="0"/>
                        </a:spcAft>
                      </a:pPr>
                      <a:r>
                        <a:rPr lang="en-US" sz="1400" spc="-10" dirty="0">
                          <a:effectLst/>
                          <a:latin typeface="Times New Roman" panose="02020603050405020304" pitchFamily="18" charset="0"/>
                          <a:cs typeface="Times New Roman" panose="02020603050405020304" pitchFamily="18" charset="0"/>
                        </a:rPr>
                        <a:t>Algorithm</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spcBef>
                          <a:spcPts val="675"/>
                        </a:spcBef>
                        <a:spcAft>
                          <a:spcPts val="0"/>
                        </a:spcAft>
                      </a:pPr>
                      <a:r>
                        <a:rPr lang="en-US" sz="1400" spc="-10">
                          <a:effectLst/>
                          <a:latin typeface="Times New Roman" panose="02020603050405020304" pitchFamily="18" charset="0"/>
                          <a:cs typeface="Times New Roman" panose="02020603050405020304" pitchFamily="18" charset="0"/>
                        </a:rPr>
                        <a:t>Precision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10">
                          <a:effectLst/>
                          <a:latin typeface="Times New Roman" panose="02020603050405020304" pitchFamily="18" charset="0"/>
                          <a:cs typeface="Times New Roman" panose="02020603050405020304" pitchFamily="18" charset="0"/>
                        </a:rPr>
                        <a:t>Recall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10">
                          <a:effectLst/>
                          <a:latin typeface="Times New Roman" panose="02020603050405020304" pitchFamily="18" charset="0"/>
                          <a:cs typeface="Times New Roman" panose="02020603050405020304" pitchFamily="18" charset="0"/>
                        </a:rPr>
                        <a:t>F1-Score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10">
                          <a:effectLst/>
                          <a:latin typeface="Times New Roman" panose="02020603050405020304" pitchFamily="18" charset="0"/>
                          <a:cs typeface="Times New Roman" panose="02020603050405020304" pitchFamily="18" charset="0"/>
                        </a:rPr>
                        <a:t>Accuracy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spcBef>
                          <a:spcPts val="675"/>
                        </a:spcBef>
                        <a:spcAft>
                          <a:spcPts val="0"/>
                        </a:spcAft>
                      </a:pPr>
                      <a:r>
                        <a:rPr lang="en-US" sz="1400" spc="-25">
                          <a:effectLst/>
                          <a:latin typeface="Times New Roman" panose="02020603050405020304" pitchFamily="18" charset="0"/>
                          <a:cs typeface="Times New Roman" panose="02020603050405020304" pitchFamily="18" charset="0"/>
                        </a:rPr>
                        <a:t>AUC</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590243532"/>
                  </a:ext>
                </a:extLst>
              </a:tr>
              <a:tr h="333375">
                <a:tc>
                  <a:txBody>
                    <a:bodyPr/>
                    <a:lstStyle/>
                    <a:p>
                      <a:pPr marL="273685">
                        <a:spcBef>
                          <a:spcPts val="675"/>
                        </a:spcBef>
                        <a:spcAft>
                          <a:spcPts val="0"/>
                        </a:spcAft>
                      </a:pPr>
                      <a:r>
                        <a:rPr lang="en-US" sz="1400">
                          <a:effectLst/>
                          <a:latin typeface="Times New Roman" panose="02020603050405020304" pitchFamily="18" charset="0"/>
                          <a:cs typeface="Times New Roman" panose="02020603050405020304" pitchFamily="18" charset="0"/>
                        </a:rPr>
                        <a:t>Vision</a:t>
                      </a:r>
                      <a:r>
                        <a:rPr lang="en-US" sz="1400" spc="-10">
                          <a:effectLst/>
                          <a:latin typeface="Times New Roman" panose="02020603050405020304" pitchFamily="18" charset="0"/>
                          <a:cs typeface="Times New Roman" panose="02020603050405020304" pitchFamily="18" charset="0"/>
                        </a:rPr>
                        <a:t> </a:t>
                      </a:r>
                      <a:r>
                        <a:rPr lang="en-US" sz="1400">
                          <a:effectLst/>
                          <a:latin typeface="Times New Roman" panose="02020603050405020304" pitchFamily="18" charset="0"/>
                          <a:cs typeface="Times New Roman" panose="02020603050405020304" pitchFamily="18" charset="0"/>
                        </a:rPr>
                        <a:t>Transformer</a:t>
                      </a:r>
                      <a:r>
                        <a:rPr lang="en-US" sz="1400" spc="-5">
                          <a:effectLst/>
                          <a:latin typeface="Times New Roman" panose="02020603050405020304" pitchFamily="18" charset="0"/>
                          <a:cs typeface="Times New Roman" panose="02020603050405020304" pitchFamily="18" charset="0"/>
                        </a:rPr>
                        <a:t> </a:t>
                      </a:r>
                      <a:r>
                        <a:rPr lang="en-US" sz="1400" spc="-20">
                          <a:effectLst/>
                          <a:latin typeface="Times New Roman" panose="02020603050405020304" pitchFamily="18" charset="0"/>
                          <a:cs typeface="Times New Roman" panose="02020603050405020304" pitchFamily="18" charset="0"/>
                        </a:rPr>
                        <a:t>(ViT)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spcBef>
                          <a:spcPts val="675"/>
                        </a:spcBef>
                        <a:spcAft>
                          <a:spcPts val="0"/>
                        </a:spcAft>
                      </a:pPr>
                      <a:r>
                        <a:rPr lang="en-US" sz="1400" spc="-20">
                          <a:effectLst/>
                          <a:latin typeface="Times New Roman" panose="02020603050405020304" pitchFamily="18" charset="0"/>
                          <a:cs typeface="Times New Roman" panose="02020603050405020304" pitchFamily="18" charset="0"/>
                        </a:rPr>
                        <a:t>0.91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a:effectLst/>
                          <a:latin typeface="Times New Roman" panose="02020603050405020304" pitchFamily="18" charset="0"/>
                          <a:cs typeface="Times New Roman" panose="02020603050405020304" pitchFamily="18" charset="0"/>
                        </a:rPr>
                        <a:t>0.91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a:effectLst/>
                          <a:latin typeface="Times New Roman" panose="02020603050405020304" pitchFamily="18" charset="0"/>
                          <a:cs typeface="Times New Roman" panose="02020603050405020304" pitchFamily="18" charset="0"/>
                        </a:rPr>
                        <a:t>0.91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5">
                          <a:effectLst/>
                          <a:latin typeface="Times New Roman" panose="02020603050405020304" pitchFamily="18" charset="0"/>
                          <a:cs typeface="Times New Roman" panose="02020603050405020304" pitchFamily="18" charset="0"/>
                        </a:rPr>
                        <a:t>91%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spcBef>
                          <a:spcPts val="675"/>
                        </a:spcBef>
                        <a:spcAft>
                          <a:spcPts val="0"/>
                        </a:spcAft>
                      </a:pPr>
                      <a:r>
                        <a:rPr lang="en-US" sz="1400" spc="-20">
                          <a:effectLst/>
                          <a:latin typeface="Times New Roman" panose="02020603050405020304" pitchFamily="18" charset="0"/>
                          <a:cs typeface="Times New Roman" panose="02020603050405020304" pitchFamily="18" charset="0"/>
                        </a:rPr>
                        <a:t>0.96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415399436"/>
                  </a:ext>
                </a:extLst>
              </a:tr>
              <a:tr h="561975">
                <a:tc>
                  <a:txBody>
                    <a:bodyPr/>
                    <a:lstStyle/>
                    <a:p>
                      <a:pPr marL="857250" indent="-736600">
                        <a:spcBef>
                          <a:spcPts val="675"/>
                        </a:spcBef>
                        <a:spcAft>
                          <a:spcPts val="0"/>
                        </a:spcAft>
                      </a:pPr>
                      <a:r>
                        <a:rPr lang="en-US" sz="1400" dirty="0">
                          <a:effectLst/>
                          <a:latin typeface="Times New Roman" panose="02020603050405020304" pitchFamily="18" charset="0"/>
                          <a:cs typeface="Times New Roman" panose="02020603050405020304" pitchFamily="18" charset="0"/>
                        </a:rPr>
                        <a:t>Convolutional</a:t>
                      </a:r>
                      <a:r>
                        <a:rPr lang="en-US" sz="1400" spc="-75" dirty="0">
                          <a:effectLst/>
                          <a:latin typeface="Times New Roman" panose="02020603050405020304" pitchFamily="18" charset="0"/>
                          <a:cs typeface="Times New Roman" panose="02020603050405020304" pitchFamily="18" charset="0"/>
                        </a:rPr>
                        <a:t> </a:t>
                      </a:r>
                      <a:r>
                        <a:rPr lang="en-US" sz="1400" dirty="0">
                          <a:effectLst/>
                          <a:latin typeface="Times New Roman" panose="02020603050405020304" pitchFamily="18" charset="0"/>
                          <a:cs typeface="Times New Roman" panose="02020603050405020304" pitchFamily="18" charset="0"/>
                        </a:rPr>
                        <a:t>Neural</a:t>
                      </a:r>
                      <a:r>
                        <a:rPr lang="en-US" sz="1400" spc="-75" dirty="0">
                          <a:effectLst/>
                          <a:latin typeface="Times New Roman" panose="02020603050405020304" pitchFamily="18" charset="0"/>
                          <a:cs typeface="Times New Roman" panose="02020603050405020304" pitchFamily="18" charset="0"/>
                        </a:rPr>
                        <a:t> </a:t>
                      </a:r>
                      <a:r>
                        <a:rPr lang="en-US" sz="1400" dirty="0">
                          <a:effectLst/>
                          <a:latin typeface="Times New Roman" panose="02020603050405020304" pitchFamily="18" charset="0"/>
                          <a:cs typeface="Times New Roman" panose="02020603050405020304" pitchFamily="18" charset="0"/>
                        </a:rPr>
                        <a:t>Network </a:t>
                      </a:r>
                      <a:r>
                        <a:rPr lang="en-US" sz="1400" spc="-10" dirty="0">
                          <a:effectLst/>
                          <a:latin typeface="Times New Roman" panose="02020603050405020304" pitchFamily="18" charset="0"/>
                          <a:cs typeface="Times New Roman" panose="02020603050405020304" pitchFamily="18" charset="0"/>
                        </a:rPr>
                        <a:t>(CNN)</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spcBef>
                          <a:spcPts val="675"/>
                        </a:spcBef>
                        <a:spcAft>
                          <a:spcPts val="0"/>
                        </a:spcAft>
                      </a:pPr>
                      <a:r>
                        <a:rPr lang="en-US" sz="1400" spc="-20">
                          <a:effectLst/>
                          <a:latin typeface="Times New Roman" panose="02020603050405020304" pitchFamily="18" charset="0"/>
                          <a:cs typeface="Times New Roman" panose="02020603050405020304" pitchFamily="18" charset="0"/>
                        </a:rPr>
                        <a:t>0.78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a:effectLst/>
                          <a:latin typeface="Times New Roman" panose="02020603050405020304" pitchFamily="18" charset="0"/>
                          <a:cs typeface="Times New Roman" panose="02020603050405020304" pitchFamily="18" charset="0"/>
                        </a:rPr>
                        <a:t>0.77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dirty="0">
                          <a:effectLst/>
                          <a:latin typeface="Times New Roman" panose="02020603050405020304" pitchFamily="18" charset="0"/>
                          <a:cs typeface="Times New Roman" panose="02020603050405020304" pitchFamily="18" charset="0"/>
                        </a:rPr>
                        <a:t>0.77</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5">
                          <a:effectLst/>
                          <a:latin typeface="Times New Roman" panose="02020603050405020304" pitchFamily="18" charset="0"/>
                          <a:cs typeface="Times New Roman" panose="02020603050405020304" pitchFamily="18" charset="0"/>
                        </a:rPr>
                        <a:t>77%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spcBef>
                          <a:spcPts val="675"/>
                        </a:spcBef>
                        <a:spcAft>
                          <a:spcPts val="0"/>
                        </a:spcAft>
                      </a:pPr>
                      <a:r>
                        <a:rPr lang="en-US" sz="1400" spc="-20">
                          <a:effectLst/>
                          <a:latin typeface="Times New Roman" panose="02020603050405020304" pitchFamily="18" charset="0"/>
                          <a:cs typeface="Times New Roman" panose="02020603050405020304" pitchFamily="18" charset="0"/>
                        </a:rPr>
                        <a:t>0.85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896921239"/>
                  </a:ext>
                </a:extLst>
              </a:tr>
              <a:tr h="333375">
                <a:tc>
                  <a:txBody>
                    <a:bodyPr/>
                    <a:lstStyle/>
                    <a:p>
                      <a:pPr marL="513080">
                        <a:spcBef>
                          <a:spcPts val="675"/>
                        </a:spcBef>
                        <a:spcAft>
                          <a:spcPts val="0"/>
                        </a:spcAft>
                      </a:pPr>
                      <a:r>
                        <a:rPr lang="en-US" sz="1400">
                          <a:effectLst/>
                          <a:latin typeface="Times New Roman" panose="02020603050405020304" pitchFamily="18" charset="0"/>
                          <a:cs typeface="Times New Roman" panose="02020603050405020304" pitchFamily="18" charset="0"/>
                        </a:rPr>
                        <a:t>Swin </a:t>
                      </a:r>
                      <a:r>
                        <a:rPr lang="en-US" sz="1400" spc="-10">
                          <a:effectLst/>
                          <a:latin typeface="Times New Roman" panose="02020603050405020304" pitchFamily="18" charset="0"/>
                          <a:cs typeface="Times New Roman" panose="02020603050405020304" pitchFamily="18" charset="0"/>
                        </a:rPr>
                        <a:t>Transformer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spcBef>
                          <a:spcPts val="675"/>
                        </a:spcBef>
                        <a:spcAft>
                          <a:spcPts val="0"/>
                        </a:spcAft>
                      </a:pPr>
                      <a:r>
                        <a:rPr lang="en-US" sz="1400" spc="-20">
                          <a:effectLst/>
                          <a:latin typeface="Times New Roman" panose="02020603050405020304" pitchFamily="18" charset="0"/>
                          <a:cs typeface="Times New Roman" panose="02020603050405020304" pitchFamily="18" charset="0"/>
                        </a:rPr>
                        <a:t>0.89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a:effectLst/>
                          <a:latin typeface="Times New Roman" panose="02020603050405020304" pitchFamily="18" charset="0"/>
                          <a:cs typeface="Times New Roman" panose="02020603050405020304" pitchFamily="18" charset="0"/>
                        </a:rPr>
                        <a:t>0.88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a:effectLst/>
                          <a:latin typeface="Times New Roman" panose="02020603050405020304" pitchFamily="18" charset="0"/>
                          <a:cs typeface="Times New Roman" panose="02020603050405020304" pitchFamily="18" charset="0"/>
                        </a:rPr>
                        <a:t>0.88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5">
                          <a:effectLst/>
                          <a:latin typeface="Times New Roman" panose="02020603050405020304" pitchFamily="18" charset="0"/>
                          <a:cs typeface="Times New Roman" panose="02020603050405020304" pitchFamily="18" charset="0"/>
                        </a:rPr>
                        <a:t>88%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spcBef>
                          <a:spcPts val="675"/>
                        </a:spcBef>
                        <a:spcAft>
                          <a:spcPts val="0"/>
                        </a:spcAft>
                      </a:pPr>
                      <a:r>
                        <a:rPr lang="en-US" sz="1400" spc="-20">
                          <a:effectLst/>
                          <a:latin typeface="Times New Roman" panose="02020603050405020304" pitchFamily="18" charset="0"/>
                          <a:cs typeface="Times New Roman" panose="02020603050405020304" pitchFamily="18" charset="0"/>
                        </a:rPr>
                        <a:t>0.94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791262162"/>
                  </a:ext>
                </a:extLst>
              </a:tr>
              <a:tr h="340995">
                <a:tc>
                  <a:txBody>
                    <a:bodyPr/>
                    <a:lstStyle/>
                    <a:p>
                      <a:pPr marL="578485">
                        <a:spcBef>
                          <a:spcPts val="675"/>
                        </a:spcBef>
                        <a:spcAft>
                          <a:spcPts val="0"/>
                        </a:spcAft>
                      </a:pPr>
                      <a:r>
                        <a:rPr lang="en-US" sz="1400" spc="-10">
                          <a:effectLst/>
                          <a:latin typeface="Times New Roman" panose="02020603050405020304" pitchFamily="18" charset="0"/>
                          <a:cs typeface="Times New Roman" panose="02020603050405020304" pitchFamily="18" charset="0"/>
                        </a:rPr>
                        <a:t>EfficientNet-</a:t>
                      </a:r>
                      <a:r>
                        <a:rPr lang="en-US" sz="1400" spc="-25">
                          <a:effectLst/>
                          <a:latin typeface="Times New Roman" panose="02020603050405020304" pitchFamily="18" charset="0"/>
                          <a:cs typeface="Times New Roman" panose="02020603050405020304" pitchFamily="18" charset="0"/>
                        </a:rPr>
                        <a:t>B0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spcBef>
                          <a:spcPts val="675"/>
                        </a:spcBef>
                        <a:spcAft>
                          <a:spcPts val="0"/>
                        </a:spcAft>
                      </a:pPr>
                      <a:r>
                        <a:rPr lang="en-US" sz="1400" spc="-20">
                          <a:effectLst/>
                          <a:latin typeface="Times New Roman" panose="02020603050405020304" pitchFamily="18" charset="0"/>
                          <a:cs typeface="Times New Roman" panose="02020603050405020304" pitchFamily="18" charset="0"/>
                        </a:rPr>
                        <a:t>0.76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a:effectLst/>
                          <a:latin typeface="Times New Roman" panose="02020603050405020304" pitchFamily="18" charset="0"/>
                          <a:cs typeface="Times New Roman" panose="02020603050405020304" pitchFamily="18" charset="0"/>
                        </a:rPr>
                        <a:t>0.75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a:effectLst/>
                          <a:latin typeface="Times New Roman" panose="02020603050405020304" pitchFamily="18" charset="0"/>
                          <a:cs typeface="Times New Roman" panose="02020603050405020304" pitchFamily="18" charset="0"/>
                        </a:rPr>
                        <a:t>0.74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5">
                          <a:effectLst/>
                          <a:latin typeface="Times New Roman" panose="02020603050405020304" pitchFamily="18" charset="0"/>
                          <a:cs typeface="Times New Roman" panose="02020603050405020304" pitchFamily="18" charset="0"/>
                        </a:rPr>
                        <a:t>75%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spcBef>
                          <a:spcPts val="675"/>
                        </a:spcBef>
                        <a:spcAft>
                          <a:spcPts val="0"/>
                        </a:spcAft>
                      </a:pPr>
                      <a:r>
                        <a:rPr lang="en-US" sz="1400" spc="-20">
                          <a:effectLst/>
                          <a:latin typeface="Times New Roman" panose="02020603050405020304" pitchFamily="18" charset="0"/>
                          <a:cs typeface="Times New Roman" panose="02020603050405020304" pitchFamily="18" charset="0"/>
                        </a:rPr>
                        <a:t>0.83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441670432"/>
                  </a:ext>
                </a:extLst>
              </a:tr>
              <a:tr h="333375">
                <a:tc>
                  <a:txBody>
                    <a:bodyPr/>
                    <a:lstStyle/>
                    <a:p>
                      <a:pPr marL="578485">
                        <a:spcBef>
                          <a:spcPts val="675"/>
                        </a:spcBef>
                        <a:spcAft>
                          <a:spcPts val="0"/>
                        </a:spcAft>
                      </a:pPr>
                      <a:r>
                        <a:rPr lang="en-US" sz="1400" spc="-10">
                          <a:effectLst/>
                          <a:latin typeface="Times New Roman" panose="02020603050405020304" pitchFamily="18" charset="0"/>
                          <a:cs typeface="Times New Roman" panose="02020603050405020304" pitchFamily="18" charset="0"/>
                        </a:rPr>
                        <a:t>EfficientNet-</a:t>
                      </a:r>
                      <a:r>
                        <a:rPr lang="en-US" sz="1400" spc="-25">
                          <a:effectLst/>
                          <a:latin typeface="Times New Roman" panose="02020603050405020304" pitchFamily="18" charset="0"/>
                          <a:cs typeface="Times New Roman" panose="02020603050405020304" pitchFamily="18" charset="0"/>
                        </a:rPr>
                        <a:t>B4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spcBef>
                          <a:spcPts val="675"/>
                        </a:spcBef>
                        <a:spcAft>
                          <a:spcPts val="0"/>
                        </a:spcAft>
                      </a:pPr>
                      <a:r>
                        <a:rPr lang="en-US" sz="1400" spc="-20">
                          <a:effectLst/>
                          <a:latin typeface="Times New Roman" panose="02020603050405020304" pitchFamily="18" charset="0"/>
                          <a:cs typeface="Times New Roman" panose="02020603050405020304" pitchFamily="18" charset="0"/>
                        </a:rPr>
                        <a:t>0.78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a:effectLst/>
                          <a:latin typeface="Times New Roman" panose="02020603050405020304" pitchFamily="18" charset="0"/>
                          <a:cs typeface="Times New Roman" panose="02020603050405020304" pitchFamily="18" charset="0"/>
                        </a:rPr>
                        <a:t>0.77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a:effectLst/>
                          <a:latin typeface="Times New Roman" panose="02020603050405020304" pitchFamily="18" charset="0"/>
                          <a:cs typeface="Times New Roman" panose="02020603050405020304" pitchFamily="18" charset="0"/>
                        </a:rPr>
                        <a:t>0.77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5">
                          <a:effectLst/>
                          <a:latin typeface="Times New Roman" panose="02020603050405020304" pitchFamily="18" charset="0"/>
                          <a:cs typeface="Times New Roman" panose="02020603050405020304" pitchFamily="18" charset="0"/>
                        </a:rPr>
                        <a:t>77%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spcBef>
                          <a:spcPts val="675"/>
                        </a:spcBef>
                        <a:spcAft>
                          <a:spcPts val="0"/>
                        </a:spcAft>
                      </a:pPr>
                      <a:r>
                        <a:rPr lang="en-US" sz="1400" spc="-20">
                          <a:effectLst/>
                          <a:latin typeface="Times New Roman" panose="02020603050405020304" pitchFamily="18" charset="0"/>
                          <a:cs typeface="Times New Roman" panose="02020603050405020304" pitchFamily="18" charset="0"/>
                        </a:rPr>
                        <a:t>0.86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291569098"/>
                  </a:ext>
                </a:extLst>
              </a:tr>
              <a:tr h="333375">
                <a:tc>
                  <a:txBody>
                    <a:bodyPr/>
                    <a:lstStyle/>
                    <a:p>
                      <a:pPr marL="654685">
                        <a:spcBef>
                          <a:spcPts val="675"/>
                        </a:spcBef>
                        <a:spcAft>
                          <a:spcPts val="0"/>
                        </a:spcAft>
                      </a:pPr>
                      <a:r>
                        <a:rPr lang="en-US" sz="1400" spc="-10">
                          <a:effectLst/>
                          <a:latin typeface="Times New Roman" panose="02020603050405020304" pitchFamily="18" charset="0"/>
                          <a:cs typeface="Times New Roman" panose="02020603050405020304" pitchFamily="18" charset="0"/>
                        </a:rPr>
                        <a:t>DenseNet121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spcBef>
                          <a:spcPts val="675"/>
                        </a:spcBef>
                        <a:spcAft>
                          <a:spcPts val="0"/>
                        </a:spcAft>
                      </a:pPr>
                      <a:r>
                        <a:rPr lang="en-US" sz="1400" spc="-20">
                          <a:effectLst/>
                          <a:latin typeface="Times New Roman" panose="02020603050405020304" pitchFamily="18" charset="0"/>
                          <a:cs typeface="Times New Roman" panose="02020603050405020304" pitchFamily="18" charset="0"/>
                        </a:rPr>
                        <a:t>0.85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a:effectLst/>
                          <a:latin typeface="Times New Roman" panose="02020603050405020304" pitchFamily="18" charset="0"/>
                          <a:cs typeface="Times New Roman" panose="02020603050405020304" pitchFamily="18" charset="0"/>
                        </a:rPr>
                        <a:t>0.84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dirty="0">
                          <a:effectLst/>
                          <a:latin typeface="Times New Roman" panose="02020603050405020304" pitchFamily="18" charset="0"/>
                          <a:cs typeface="Times New Roman" panose="02020603050405020304" pitchFamily="18" charset="0"/>
                        </a:rPr>
                        <a:t>0.84</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5">
                          <a:effectLst/>
                          <a:latin typeface="Times New Roman" panose="02020603050405020304" pitchFamily="18" charset="0"/>
                          <a:cs typeface="Times New Roman" panose="02020603050405020304" pitchFamily="18" charset="0"/>
                        </a:rPr>
                        <a:t>84%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spcBef>
                          <a:spcPts val="675"/>
                        </a:spcBef>
                        <a:spcAft>
                          <a:spcPts val="0"/>
                        </a:spcAft>
                      </a:pPr>
                      <a:r>
                        <a:rPr lang="en-US" sz="1400" spc="-20">
                          <a:effectLst/>
                          <a:latin typeface="Times New Roman" panose="02020603050405020304" pitchFamily="18" charset="0"/>
                          <a:cs typeface="Times New Roman" panose="02020603050405020304" pitchFamily="18" charset="0"/>
                        </a:rPr>
                        <a:t>0.92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412334866"/>
                  </a:ext>
                </a:extLst>
              </a:tr>
              <a:tr h="340995">
                <a:tc>
                  <a:txBody>
                    <a:bodyPr/>
                    <a:lstStyle/>
                    <a:p>
                      <a:pPr marL="387985">
                        <a:spcBef>
                          <a:spcPts val="675"/>
                        </a:spcBef>
                        <a:spcAft>
                          <a:spcPts val="0"/>
                        </a:spcAft>
                      </a:pPr>
                      <a:r>
                        <a:rPr lang="en-US" sz="1400">
                          <a:effectLst/>
                          <a:latin typeface="Times New Roman" panose="02020603050405020304" pitchFamily="18" charset="0"/>
                          <a:cs typeface="Times New Roman" panose="02020603050405020304" pitchFamily="18" charset="0"/>
                        </a:rPr>
                        <a:t>Ensemble</a:t>
                      </a:r>
                      <a:r>
                        <a:rPr lang="en-US" sz="1400" spc="-10">
                          <a:effectLst/>
                          <a:latin typeface="Times New Roman" panose="02020603050405020304" pitchFamily="18" charset="0"/>
                          <a:cs typeface="Times New Roman" panose="02020603050405020304" pitchFamily="18" charset="0"/>
                        </a:rPr>
                        <a:t> </a:t>
                      </a:r>
                      <a:r>
                        <a:rPr lang="en-US" sz="1400">
                          <a:effectLst/>
                          <a:latin typeface="Times New Roman" panose="02020603050405020304" pitchFamily="18" charset="0"/>
                          <a:cs typeface="Times New Roman" panose="02020603050405020304" pitchFamily="18" charset="0"/>
                        </a:rPr>
                        <a:t>ML </a:t>
                      </a:r>
                      <a:r>
                        <a:rPr lang="en-US" sz="1400" spc="-10">
                          <a:effectLst/>
                          <a:latin typeface="Times New Roman" panose="02020603050405020304" pitchFamily="18" charset="0"/>
                          <a:cs typeface="Times New Roman" panose="02020603050405020304" pitchFamily="18" charset="0"/>
                        </a:rPr>
                        <a:t>Models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spcBef>
                          <a:spcPts val="675"/>
                        </a:spcBef>
                        <a:spcAft>
                          <a:spcPts val="0"/>
                        </a:spcAft>
                      </a:pPr>
                      <a:r>
                        <a:rPr lang="en-US" sz="1400" spc="-20">
                          <a:effectLst/>
                          <a:latin typeface="Times New Roman" panose="02020603050405020304" pitchFamily="18" charset="0"/>
                          <a:cs typeface="Times New Roman" panose="02020603050405020304" pitchFamily="18" charset="0"/>
                        </a:rPr>
                        <a:t>0.96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a:effectLst/>
                          <a:latin typeface="Times New Roman" panose="02020603050405020304" pitchFamily="18" charset="0"/>
                          <a:cs typeface="Times New Roman" panose="02020603050405020304" pitchFamily="18" charset="0"/>
                        </a:rPr>
                        <a:t>0.96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0">
                          <a:effectLst/>
                          <a:latin typeface="Times New Roman" panose="02020603050405020304" pitchFamily="18" charset="0"/>
                          <a:cs typeface="Times New Roman" panose="02020603050405020304" pitchFamily="18" charset="0"/>
                        </a:rPr>
                        <a:t>0.96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75"/>
                        </a:spcBef>
                        <a:spcAft>
                          <a:spcPts val="0"/>
                        </a:spcAft>
                      </a:pPr>
                      <a:r>
                        <a:rPr lang="en-US" sz="1400" spc="-25">
                          <a:effectLst/>
                          <a:latin typeface="Times New Roman" panose="02020603050405020304" pitchFamily="18" charset="0"/>
                          <a:cs typeface="Times New Roman" panose="02020603050405020304" pitchFamily="18" charset="0"/>
                        </a:rPr>
                        <a:t>96%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spcBef>
                          <a:spcPts val="675"/>
                        </a:spcBef>
                        <a:spcAft>
                          <a:spcPts val="0"/>
                        </a:spcAft>
                      </a:pPr>
                      <a:r>
                        <a:rPr lang="en-US" sz="1400" spc="-20">
                          <a:effectLst/>
                          <a:latin typeface="Times New Roman" panose="02020603050405020304" pitchFamily="18" charset="0"/>
                          <a:cs typeface="Times New Roman" panose="02020603050405020304" pitchFamily="18" charset="0"/>
                        </a:rPr>
                        <a:t>0.98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729736513"/>
                  </a:ext>
                </a:extLst>
              </a:tr>
              <a:tr h="554355">
                <a:tc>
                  <a:txBody>
                    <a:bodyPr/>
                    <a:lstStyle/>
                    <a:p>
                      <a:pPr marL="353060" marR="346075" indent="193040">
                        <a:lnSpc>
                          <a:spcPts val="2050"/>
                        </a:lnSpc>
                        <a:spcBef>
                          <a:spcPts val="20"/>
                        </a:spcBef>
                        <a:spcAft>
                          <a:spcPts val="0"/>
                        </a:spcAft>
                      </a:pPr>
                      <a:r>
                        <a:rPr lang="en-US" sz="1400">
                          <a:effectLst/>
                          <a:latin typeface="Times New Roman" panose="02020603050405020304" pitchFamily="18" charset="0"/>
                          <a:cs typeface="Times New Roman" panose="02020603050405020304" pitchFamily="18" charset="0"/>
                        </a:rPr>
                        <a:t>Boosting Models (XGBoost,</a:t>
                      </a:r>
                      <a:r>
                        <a:rPr lang="en-US" sz="1400" spc="-75">
                          <a:effectLst/>
                          <a:latin typeface="Times New Roman" panose="02020603050405020304" pitchFamily="18" charset="0"/>
                          <a:cs typeface="Times New Roman" panose="02020603050405020304" pitchFamily="18" charset="0"/>
                        </a:rPr>
                        <a:t> </a:t>
                      </a:r>
                      <a:r>
                        <a:rPr lang="en-US" sz="1400">
                          <a:effectLst/>
                          <a:latin typeface="Times New Roman" panose="02020603050405020304" pitchFamily="18" charset="0"/>
                          <a:cs typeface="Times New Roman" panose="02020603050405020304" pitchFamily="18" charset="0"/>
                        </a:rPr>
                        <a:t>LightGBM)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spcBef>
                          <a:spcPts val="690"/>
                        </a:spcBef>
                        <a:spcAft>
                          <a:spcPts val="0"/>
                        </a:spcAft>
                      </a:pPr>
                      <a:r>
                        <a:rPr lang="en-US" sz="1400" spc="-20">
                          <a:effectLst/>
                          <a:latin typeface="Times New Roman" panose="02020603050405020304" pitchFamily="18" charset="0"/>
                          <a:cs typeface="Times New Roman" panose="02020603050405020304" pitchFamily="18" charset="0"/>
                        </a:rPr>
                        <a:t>0.95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90"/>
                        </a:spcBef>
                        <a:spcAft>
                          <a:spcPts val="0"/>
                        </a:spcAft>
                      </a:pPr>
                      <a:r>
                        <a:rPr lang="en-US" sz="1400" spc="-20">
                          <a:effectLst/>
                          <a:latin typeface="Times New Roman" panose="02020603050405020304" pitchFamily="18" charset="0"/>
                          <a:cs typeface="Times New Roman" panose="02020603050405020304" pitchFamily="18" charset="0"/>
                        </a:rPr>
                        <a:t>0.95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90"/>
                        </a:spcBef>
                        <a:spcAft>
                          <a:spcPts val="0"/>
                        </a:spcAft>
                      </a:pPr>
                      <a:r>
                        <a:rPr lang="en-US" sz="1400" spc="-20" dirty="0">
                          <a:effectLst/>
                          <a:latin typeface="Times New Roman" panose="02020603050405020304" pitchFamily="18" charset="0"/>
                          <a:cs typeface="Times New Roman" panose="02020603050405020304" pitchFamily="18" charset="0"/>
                        </a:rPr>
                        <a:t>0.95</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spcBef>
                          <a:spcPts val="690"/>
                        </a:spcBef>
                        <a:spcAft>
                          <a:spcPts val="0"/>
                        </a:spcAft>
                      </a:pPr>
                      <a:r>
                        <a:rPr lang="en-US" sz="1400" spc="-25">
                          <a:effectLst/>
                          <a:latin typeface="Times New Roman" panose="02020603050405020304" pitchFamily="18" charset="0"/>
                          <a:cs typeface="Times New Roman" panose="02020603050405020304" pitchFamily="18" charset="0"/>
                        </a:rPr>
                        <a:t>95%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spcBef>
                          <a:spcPts val="690"/>
                        </a:spcBef>
                        <a:spcAft>
                          <a:spcPts val="0"/>
                        </a:spcAft>
                      </a:pPr>
                      <a:r>
                        <a:rPr lang="en-US" sz="1400" spc="-20" dirty="0">
                          <a:effectLst/>
                          <a:latin typeface="Times New Roman" panose="02020603050405020304" pitchFamily="18" charset="0"/>
                          <a:cs typeface="Times New Roman" panose="02020603050405020304" pitchFamily="18" charset="0"/>
                        </a:rPr>
                        <a:t>0.97</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66087319"/>
                  </a:ext>
                </a:extLst>
              </a:tr>
            </a:tbl>
          </a:graphicData>
        </a:graphic>
      </p:graphicFrame>
      <p:sp>
        <p:nvSpPr>
          <p:cNvPr id="9" name="Rectangle 1"/>
          <p:cNvSpPr>
            <a:spLocks noChangeArrowheads="1"/>
          </p:cNvSpPr>
          <p:nvPr/>
        </p:nvSpPr>
        <p:spPr bwMode="auto">
          <a:xfrm>
            <a:off x="6041137" y="973971"/>
            <a:ext cx="526213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93675"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193675" algn="l" defTabSz="914400" rtl="0" eaLnBrk="0" fontAlgn="base" latinLnBrk="0" hangingPunct="0">
              <a:lnSpc>
                <a:spcPct val="100000"/>
              </a:lnSpc>
              <a:spcBef>
                <a:spcPct val="0"/>
              </a:spcBef>
              <a:spcAft>
                <a:spcPct val="0"/>
              </a:spcAft>
              <a:buClrTx/>
              <a:buSzTx/>
              <a:buFontTx/>
              <a:buNone/>
              <a:tabLst/>
            </a:pPr>
            <a:r>
              <a:rPr lang="en-US" altLang="en-US" dirty="0">
                <a:latin typeface="Times New Roman" panose="02020603050405020304" pitchFamily="18" charset="0"/>
                <a:ea typeface="Times New Roman" panose="02020603050405020304" pitchFamily="18" charset="0"/>
                <a:cs typeface="Times New Roman" panose="02020603050405020304" pitchFamily="18" charset="0"/>
              </a:rPr>
              <a:t>S</a:t>
            </a:r>
            <a:r>
              <a:rPr kumimoji="0" lang="en-US" alt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hows the comparison of different deep learning algorithms based                   </a:t>
            </a:r>
          </a:p>
          <a:p>
            <a:pPr marL="0" marR="0" lvl="0" indent="193675"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on their accuracy along with references from related research works.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193675"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39833492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945807" y="181484"/>
            <a:ext cx="9537300" cy="840000"/>
          </a:xfrm>
          <a:prstGeom prst="rect">
            <a:avLst/>
          </a:prstGeom>
          <a:noFill/>
          <a:ln>
            <a:noFill/>
          </a:ln>
        </p:spPr>
        <p:txBody>
          <a:bodyPr spcFirstLastPara="1" wrap="square" lIns="91425" tIns="45700" rIns="91425" bIns="45700" anchor="ctr" anchorCtr="0">
            <a:noAutofit/>
          </a:bodyPr>
          <a:lstStyle/>
          <a:p>
            <a:pPr algn="ctr">
              <a:buSzPts val="2800"/>
            </a:pPr>
            <a:r>
              <a:rPr lang="en-US" sz="3200" b="1" dirty="0" smtClean="0">
                <a:latin typeface="Times New Roman" panose="02020603050405020304" pitchFamily="18" charset="0"/>
                <a:cs typeface="Times New Roman" panose="02020603050405020304" pitchFamily="18" charset="0"/>
              </a:rPr>
              <a:t>CONCLUSION &amp; FUTURE WORK</a:t>
            </a:r>
            <a:br>
              <a:rPr lang="en-US" sz="3200" b="1" dirty="0" smtClean="0">
                <a:latin typeface="Times New Roman" panose="02020603050405020304" pitchFamily="18" charset="0"/>
                <a:cs typeface="Times New Roman" panose="02020603050405020304" pitchFamily="18" charset="0"/>
              </a:rPr>
            </a:br>
            <a:endParaRPr lang="en-US" sz="3200" b="1" dirty="0">
              <a:latin typeface="Times New Roman"/>
              <a:ea typeface="Times New Roman"/>
              <a:cs typeface="Times New Roman"/>
              <a:sym typeface="Times New Roman"/>
            </a:endParaRPr>
          </a:p>
        </p:txBody>
      </p:sp>
      <p:sp>
        <p:nvSpPr>
          <p:cNvPr id="4" name="Rectangle 2"/>
          <p:cNvSpPr>
            <a:spLocks noChangeArrowheads="1"/>
          </p:cNvSpPr>
          <p:nvPr/>
        </p:nvSpPr>
        <p:spPr bwMode="auto">
          <a:xfrm>
            <a:off x="339864" y="693232"/>
            <a:ext cx="11482599" cy="6786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buClrTx/>
            </a:pPr>
            <a:r>
              <a:rPr lang="en-IN" sz="2000" dirty="0" smtClean="0">
                <a:latin typeface="Times New Roman" panose="02020603050405020304" pitchFamily="18" charset="0"/>
                <a:cs typeface="Times New Roman" panose="02020603050405020304" pitchFamily="18" charset="0"/>
              </a:rPr>
              <a:t>CONCLUSION</a:t>
            </a:r>
            <a:endPar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 deep learning framework was developed for metastatic cancer detection using histopathology images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EfficientNet-B0, EfficientNet-B4, and DenseNet121 were implemented and compared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DenseNet121 achieved the best performance, effectively capturing complex tissue patterns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EfficientNet</a:t>
            </a: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models provided good accuracy with better computational efficiency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system demonstrates that deep learning can support accurate and reliable cancer diagnosis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Helps reduce manual effort and diagnostic variability in clinical analysis </a:t>
            </a:r>
          </a:p>
          <a:p>
            <a:pPr marL="0" marR="0" lvl="0" indent="0" algn="just" defTabSz="914400" rtl="0" eaLnBrk="0" fontAlgn="base" latinLnBrk="0" hangingPunct="0">
              <a:lnSpc>
                <a:spcPct val="150000"/>
              </a:lnSpc>
              <a:spcBef>
                <a:spcPct val="0"/>
              </a:spcBef>
              <a:spcAft>
                <a:spcPct val="0"/>
              </a:spcAft>
              <a:buClrTx/>
              <a:buSzTx/>
              <a:buFontTx/>
              <a:buChar char="•"/>
              <a:tabLst/>
            </a:pPr>
            <a:endParaRPr lang="en-US" altLang="en-US" sz="1800" dirty="0" smtClean="0">
              <a:solidFill>
                <a:schemeClr val="tx1"/>
              </a:solidFill>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ClrTx/>
            </a:pPr>
            <a:r>
              <a:rPr lang="en-IN" sz="1800" dirty="0" smtClean="0">
                <a:latin typeface="Times New Roman" panose="02020603050405020304" pitchFamily="18" charset="0"/>
                <a:cs typeface="Times New Roman" panose="02020603050405020304" pitchFamily="18" charset="0"/>
              </a:rPr>
              <a:t>FUTURE WORK</a:t>
            </a:r>
          </a:p>
          <a:p>
            <a:pPr lvl="0"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Extend the system to multi-class classification for detecting cancer stages or subtypes</a:t>
            </a:r>
            <a:r>
              <a:rPr lang="en-US" altLang="en-US" sz="1800" dirty="0" smtClean="0">
                <a:solidFill>
                  <a:schemeClr val="tx1"/>
                </a:solidFill>
                <a:latin typeface="Times New Roman" panose="02020603050405020304" pitchFamily="18" charset="0"/>
                <a:cs typeface="Times New Roman" panose="02020603050405020304" pitchFamily="18" charset="0"/>
              </a:rPr>
              <a:t> </a:t>
            </a:r>
            <a:endParaRPr lang="en-US" altLang="en-US" sz="18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ClrTx/>
              <a:buFontTx/>
              <a:buChar char="•"/>
            </a:pPr>
            <a:r>
              <a:rPr lang="en-IN" sz="1800" dirty="0">
                <a:latin typeface="Times New Roman" panose="02020603050405020304" pitchFamily="18" charset="0"/>
                <a:cs typeface="Times New Roman" panose="02020603050405020304" pitchFamily="18" charset="0"/>
              </a:rPr>
              <a:t>Integrate Explainable AI (Grad-CAM, SHAP) for better model interpretability</a:t>
            </a:r>
            <a:endParaRPr lang="en-US" altLang="en-US" sz="18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Train models on larger and more diverse datasets to improve generalization</a:t>
            </a:r>
            <a:endParaRPr lang="en-US" altLang="en-US" sz="18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Develop hybrid models combining CNN and advanced architectures</a:t>
            </a:r>
            <a:r>
              <a:rPr lang="en-US" altLang="en-US" sz="1800" dirty="0" smtClean="0">
                <a:solidFill>
                  <a:schemeClr val="tx1"/>
                </a:solidFill>
                <a:latin typeface="Times New Roman" panose="02020603050405020304" pitchFamily="18" charset="0"/>
                <a:cs typeface="Times New Roman" panose="02020603050405020304" pitchFamily="18" charset="0"/>
              </a:rPr>
              <a:t> </a:t>
            </a:r>
            <a:endParaRPr lang="en-US" altLang="en-US" sz="18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ClrTx/>
              <a:buFontTx/>
              <a:buChar char="•"/>
            </a:pPr>
            <a:r>
              <a:rPr lang="en-US" altLang="en-US" sz="1800" dirty="0" smtClean="0">
                <a:solidFill>
                  <a:schemeClr val="tx1"/>
                </a:solidFill>
                <a:latin typeface="Times New Roman" panose="02020603050405020304" pitchFamily="18" charset="0"/>
                <a:cs typeface="Times New Roman" panose="02020603050405020304" pitchFamily="18" charset="0"/>
              </a:rPr>
              <a:t>D</a:t>
            </a:r>
            <a:r>
              <a:rPr lang="en-US" sz="1800" dirty="0">
                <a:latin typeface="Times New Roman" panose="02020603050405020304" pitchFamily="18" charset="0"/>
                <a:cs typeface="Times New Roman" panose="02020603050405020304" pitchFamily="18" charset="0"/>
              </a:rPr>
              <a:t>eploy the system as a real-time clinical decision support </a:t>
            </a:r>
            <a:r>
              <a:rPr lang="en-US" sz="1800" dirty="0" smtClean="0">
                <a:latin typeface="Times New Roman" panose="02020603050405020304" pitchFamily="18" charset="0"/>
                <a:cs typeface="Times New Roman" panose="02020603050405020304" pitchFamily="18" charset="0"/>
              </a:rPr>
              <a:t>tool</a:t>
            </a:r>
            <a:r>
              <a:rPr lang="en-US" sz="1800" dirty="0" smtClean="0">
                <a:solidFill>
                  <a:schemeClr val="tx1"/>
                </a:solidFill>
                <a:latin typeface="Times New Roman" panose="02020603050405020304" pitchFamily="18" charset="0"/>
                <a:cs typeface="Times New Roman" panose="02020603050405020304" pitchFamily="18" charset="0"/>
              </a:rPr>
              <a:t>.</a:t>
            </a:r>
            <a:r>
              <a:rPr lang="en-US" altLang="en-US" sz="1800" dirty="0" smtClean="0">
                <a:solidFill>
                  <a:schemeClr val="tx1"/>
                </a:solidFill>
                <a:latin typeface="Times New Roman" panose="02020603050405020304" pitchFamily="18" charset="0"/>
                <a:cs typeface="Times New Roman" panose="02020603050405020304" pitchFamily="18" charset="0"/>
              </a:rPr>
              <a:t> </a:t>
            </a:r>
            <a:endParaRPr lang="en-US" altLang="en-US" sz="18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ClrTx/>
            </a:pPr>
            <a:endParaRPr lang="en-IN" sz="1800" dirty="0" smtClean="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ClrTx/>
            </a:pPr>
            <a:endParaRPr kumimoji="0" lang="en-US" alt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66281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4"/>
          <p:cNvSpPr txBox="1">
            <a:spLocks noGrp="1"/>
          </p:cNvSpPr>
          <p:nvPr>
            <p:ph type="title"/>
          </p:nvPr>
        </p:nvSpPr>
        <p:spPr>
          <a:xfrm>
            <a:off x="240833" y="-157571"/>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Times New Roman"/>
              <a:buNone/>
            </a:pPr>
            <a:r>
              <a:rPr lang="en-IN" sz="3200" b="1" dirty="0">
                <a:latin typeface="Times New Roman"/>
                <a:ea typeface="Times New Roman"/>
                <a:cs typeface="Times New Roman"/>
                <a:sym typeface="Times New Roman"/>
              </a:rPr>
              <a:t>REFERENCES</a:t>
            </a:r>
            <a:endParaRPr sz="3200" b="1" dirty="0">
              <a:latin typeface="Times New Roman"/>
              <a:ea typeface="Times New Roman"/>
              <a:cs typeface="Times New Roman"/>
              <a:sym typeface="Times New Roman"/>
            </a:endParaRPr>
          </a:p>
        </p:txBody>
      </p:sp>
      <p:sp>
        <p:nvSpPr>
          <p:cNvPr id="237" name="Google Shape;237;p24"/>
          <p:cNvSpPr txBox="1">
            <a:spLocks noGrp="1"/>
          </p:cNvSpPr>
          <p:nvPr>
            <p:ph type="body" idx="1"/>
          </p:nvPr>
        </p:nvSpPr>
        <p:spPr>
          <a:xfrm>
            <a:off x="240833" y="1018501"/>
            <a:ext cx="11585097" cy="6001603"/>
          </a:xfrm>
          <a:prstGeom prst="rect">
            <a:avLst/>
          </a:prstGeom>
          <a:noFill/>
          <a:ln>
            <a:noFill/>
          </a:ln>
        </p:spPr>
        <p:txBody>
          <a:bodyPr spcFirstLastPara="1" wrap="square" lIns="91425" tIns="45700" rIns="91425" bIns="45700" anchor="ctr" anchorCtr="0">
            <a:spAutoFit/>
          </a:bodyPr>
          <a:lstStyle/>
          <a:p>
            <a:pPr marL="0" lvl="0" indent="0" algn="just">
              <a:lnSpc>
                <a:spcPct val="150000"/>
              </a:lnSpc>
              <a:spcBef>
                <a:spcPts val="0"/>
              </a:spcBef>
              <a:buClr>
                <a:srgbClr val="222222"/>
              </a:buClr>
              <a:buSzPts val="1500"/>
              <a:buNone/>
            </a:pP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[1</a:t>
            </a:r>
            <a:r>
              <a:rPr lang="en-IN" sz="1600" dirty="0" smtClean="0">
                <a:solidFill>
                  <a:srgbClr val="222222"/>
                </a:solidFill>
                <a:latin typeface="Times New Roman" panose="02020603050405020304" pitchFamily="18" charset="0"/>
                <a:ea typeface="Times New Roman"/>
                <a:cs typeface="Times New Roman" panose="02020603050405020304" pitchFamily="18" charset="0"/>
                <a:sym typeface="Times New Roman"/>
              </a:rPr>
              <a:t>] </a:t>
            </a:r>
            <a:r>
              <a:rPr lang="en-US" sz="1600" dirty="0">
                <a:latin typeface="Times New Roman" panose="02020603050405020304" pitchFamily="18" charset="0"/>
                <a:cs typeface="Times New Roman" panose="02020603050405020304" pitchFamily="18" charset="0"/>
              </a:rPr>
              <a:t>Jiang, B., </a:t>
            </a:r>
            <a:r>
              <a:rPr lang="en-US" sz="1600" dirty="0" err="1">
                <a:latin typeface="Times New Roman" panose="02020603050405020304" pitchFamily="18" charset="0"/>
                <a:cs typeface="Times New Roman" panose="02020603050405020304" pitchFamily="18" charset="0"/>
              </a:rPr>
              <a:t>Bao</a:t>
            </a:r>
            <a:r>
              <a:rPr lang="en-US" sz="1600" dirty="0">
                <a:latin typeface="Times New Roman" panose="02020603050405020304" pitchFamily="18" charset="0"/>
                <a:cs typeface="Times New Roman" panose="02020603050405020304" pitchFamily="18" charset="0"/>
              </a:rPr>
              <a:t>, L., He, S., Chen, X., </a:t>
            </a:r>
            <a:r>
              <a:rPr lang="en-US" sz="1600" dirty="0" err="1">
                <a:latin typeface="Times New Roman" panose="02020603050405020304" pitchFamily="18" charset="0"/>
                <a:cs typeface="Times New Roman" panose="02020603050405020304" pitchFamily="18" charset="0"/>
              </a:rPr>
              <a:t>Jin</a:t>
            </a:r>
            <a:r>
              <a:rPr lang="en-US" sz="1600" dirty="0">
                <a:latin typeface="Times New Roman" panose="02020603050405020304" pitchFamily="18" charset="0"/>
                <a:cs typeface="Times New Roman" panose="02020603050405020304" pitchFamily="18" charset="0"/>
              </a:rPr>
              <a:t>, Z., &amp; Ye, Y. (2024). Deep learning applications in breast cancer histopathological imaging: diagnosis, treatment, and prognosis. </a:t>
            </a:r>
            <a:r>
              <a:rPr lang="en-US" sz="1600" i="1" dirty="0">
                <a:latin typeface="Times New Roman" panose="02020603050405020304" pitchFamily="18" charset="0"/>
                <a:cs typeface="Times New Roman" panose="02020603050405020304" pitchFamily="18" charset="0"/>
              </a:rPr>
              <a:t>Breast Cancer Research</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26</a:t>
            </a:r>
            <a:r>
              <a:rPr lang="en-US" sz="1600" dirty="0">
                <a:latin typeface="Times New Roman" panose="02020603050405020304" pitchFamily="18" charset="0"/>
                <a:cs typeface="Times New Roman" panose="02020603050405020304" pitchFamily="18" charset="0"/>
              </a:rPr>
              <a:t>(1), 137</a:t>
            </a:r>
            <a:r>
              <a:rPr lang="en-US" sz="1600" dirty="0" smtClean="0">
                <a:latin typeface="Times New Roman" panose="02020603050405020304" pitchFamily="18" charset="0"/>
                <a:cs typeface="Times New Roman" panose="02020603050405020304" pitchFamily="18" charset="0"/>
              </a:rPr>
              <a:t>.</a:t>
            </a:r>
          </a:p>
          <a:p>
            <a:pPr marL="0" lvl="0" indent="0" algn="just">
              <a:lnSpc>
                <a:spcPct val="150000"/>
              </a:lnSpc>
              <a:spcBef>
                <a:spcPts val="0"/>
              </a:spcBef>
              <a:buClr>
                <a:srgbClr val="222222"/>
              </a:buClr>
              <a:buSzPts val="1500"/>
              <a:buNone/>
            </a:pPr>
            <a:endParaRPr sz="160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0"/>
              </a:spcBef>
              <a:spcAft>
                <a:spcPts val="0"/>
              </a:spcAft>
              <a:buClr>
                <a:srgbClr val="222222"/>
              </a:buClr>
              <a:buSzPts val="1500"/>
              <a:buNone/>
            </a:pP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[2] </a:t>
            </a:r>
            <a:r>
              <a:rPr lang="en-IN" sz="1600" dirty="0">
                <a:latin typeface="Times New Roman" panose="02020603050405020304" pitchFamily="18" charset="0"/>
                <a:ea typeface="Times New Roman"/>
                <a:cs typeface="Times New Roman" panose="02020603050405020304" pitchFamily="18" charset="0"/>
                <a:sym typeface="Times New Roman"/>
              </a:rPr>
              <a:t>Wang, H., Wei, L., Liu, B., Li, J., Li, J., Fang, J., &amp; Mooney, C. (2025). Transformer-Based Explainable Model for Breast Cancer Lesion Segmentation. </a:t>
            </a:r>
            <a:r>
              <a:rPr lang="en-IN" sz="1600" i="1" dirty="0">
                <a:latin typeface="Times New Roman" panose="02020603050405020304" pitchFamily="18" charset="0"/>
                <a:ea typeface="Times New Roman"/>
                <a:cs typeface="Times New Roman" panose="02020603050405020304" pitchFamily="18" charset="0"/>
                <a:sym typeface="Times New Roman"/>
              </a:rPr>
              <a:t>Applied Sciences</a:t>
            </a:r>
            <a:r>
              <a:rPr lang="en-IN" sz="1600" dirty="0">
                <a:latin typeface="Times New Roman" panose="02020603050405020304" pitchFamily="18" charset="0"/>
                <a:ea typeface="Times New Roman"/>
                <a:cs typeface="Times New Roman" panose="02020603050405020304" pitchFamily="18" charset="0"/>
                <a:sym typeface="Times New Roman"/>
              </a:rPr>
              <a:t>, </a:t>
            </a:r>
            <a:r>
              <a:rPr lang="en-IN" sz="1600" i="1" dirty="0">
                <a:latin typeface="Times New Roman" panose="02020603050405020304" pitchFamily="18" charset="0"/>
                <a:ea typeface="Times New Roman"/>
                <a:cs typeface="Times New Roman" panose="02020603050405020304" pitchFamily="18" charset="0"/>
                <a:sym typeface="Times New Roman"/>
              </a:rPr>
              <a:t>15</a:t>
            </a:r>
            <a:r>
              <a:rPr lang="en-IN" sz="1600" dirty="0">
                <a:latin typeface="Times New Roman" panose="02020603050405020304" pitchFamily="18" charset="0"/>
                <a:ea typeface="Times New Roman"/>
                <a:cs typeface="Times New Roman" panose="02020603050405020304" pitchFamily="18" charset="0"/>
                <a:sym typeface="Times New Roman"/>
              </a:rPr>
              <a:t>(3), 1295.</a:t>
            </a:r>
            <a:endParaRPr sz="160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0"/>
              </a:spcBef>
              <a:spcAft>
                <a:spcPts val="0"/>
              </a:spcAft>
              <a:buClr>
                <a:schemeClr val="dk1"/>
              </a:buClr>
              <a:buSzPts val="1500"/>
              <a:buNone/>
            </a:pPr>
            <a:endParaRPr sz="160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0"/>
              </a:spcBef>
              <a:spcAft>
                <a:spcPts val="0"/>
              </a:spcAft>
              <a:buClr>
                <a:srgbClr val="222222"/>
              </a:buClr>
              <a:buSzPts val="1500"/>
              <a:buNone/>
            </a:pP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[3]</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a:cs typeface="Times New Roman" panose="02020603050405020304" pitchFamily="18" charset="0"/>
                <a:sym typeface="Times New Roman"/>
              </a:rPr>
              <a:t>Sobhana</a:t>
            </a:r>
            <a:r>
              <a:rPr lang="en-IN" sz="1600" dirty="0">
                <a:latin typeface="Times New Roman" panose="02020603050405020304" pitchFamily="18" charset="0"/>
                <a:ea typeface="Times New Roman"/>
                <a:cs typeface="Times New Roman" panose="02020603050405020304" pitchFamily="18" charset="0"/>
                <a:sym typeface="Times New Roman"/>
              </a:rPr>
              <a:t>, M., </a:t>
            </a:r>
            <a:r>
              <a:rPr lang="en-IN" sz="1600" dirty="0" err="1">
                <a:latin typeface="Times New Roman" panose="02020603050405020304" pitchFamily="18" charset="0"/>
                <a:ea typeface="Times New Roman"/>
                <a:cs typeface="Times New Roman" panose="02020603050405020304" pitchFamily="18" charset="0"/>
                <a:sym typeface="Times New Roman"/>
              </a:rPr>
              <a:t>Palaketi</a:t>
            </a:r>
            <a:r>
              <a:rPr lang="en-IN" sz="1600" dirty="0">
                <a:latin typeface="Times New Roman" panose="02020603050405020304" pitchFamily="18" charset="0"/>
                <a:ea typeface="Times New Roman"/>
                <a:cs typeface="Times New Roman" panose="02020603050405020304" pitchFamily="18" charset="0"/>
                <a:sym typeface="Times New Roman"/>
              </a:rPr>
              <a:t>, A. K., &amp; </a:t>
            </a:r>
            <a:r>
              <a:rPr lang="en-IN" sz="1600" dirty="0" err="1">
                <a:latin typeface="Times New Roman" panose="02020603050405020304" pitchFamily="18" charset="0"/>
                <a:ea typeface="Times New Roman"/>
                <a:cs typeface="Times New Roman" panose="02020603050405020304" pitchFamily="18" charset="0"/>
                <a:sym typeface="Times New Roman"/>
              </a:rPr>
              <a:t>Nalabothu</a:t>
            </a:r>
            <a:r>
              <a:rPr lang="en-IN" sz="1600" dirty="0">
                <a:latin typeface="Times New Roman" panose="02020603050405020304" pitchFamily="18" charset="0"/>
                <a:ea typeface="Times New Roman"/>
                <a:cs typeface="Times New Roman" panose="02020603050405020304" pitchFamily="18" charset="0"/>
                <a:sym typeface="Times New Roman"/>
              </a:rPr>
              <a:t>, R. (2024, March). Breast cancer prediction by </a:t>
            </a:r>
            <a:r>
              <a:rPr lang="en-IN" sz="1600" dirty="0" err="1">
                <a:latin typeface="Times New Roman" panose="02020603050405020304" pitchFamily="18" charset="0"/>
                <a:ea typeface="Times New Roman"/>
                <a:cs typeface="Times New Roman" panose="02020603050405020304" pitchFamily="18" charset="0"/>
                <a:sym typeface="Times New Roman"/>
              </a:rPr>
              <a:t>ensembling</a:t>
            </a:r>
            <a:r>
              <a:rPr lang="en-IN" sz="1600" dirty="0">
                <a:latin typeface="Times New Roman" panose="02020603050405020304" pitchFamily="18" charset="0"/>
                <a:ea typeface="Times New Roman"/>
                <a:cs typeface="Times New Roman" panose="02020603050405020304" pitchFamily="18" charset="0"/>
                <a:sym typeface="Times New Roman"/>
              </a:rPr>
              <a:t> machine learning algorithms and explainable AI. In </a:t>
            </a:r>
            <a:r>
              <a:rPr lang="en-IN" sz="1600" i="1" dirty="0">
                <a:latin typeface="Times New Roman" panose="02020603050405020304" pitchFamily="18" charset="0"/>
                <a:ea typeface="Times New Roman"/>
                <a:cs typeface="Times New Roman" panose="02020603050405020304" pitchFamily="18" charset="0"/>
                <a:sym typeface="Times New Roman"/>
              </a:rPr>
              <a:t>2024 3rd International Conference for Innovation in Technology (INOCON)</a:t>
            </a:r>
            <a:r>
              <a:rPr lang="en-IN" sz="1600" dirty="0">
                <a:latin typeface="Times New Roman" panose="02020603050405020304" pitchFamily="18" charset="0"/>
                <a:ea typeface="Times New Roman"/>
                <a:cs typeface="Times New Roman" panose="02020603050405020304" pitchFamily="18" charset="0"/>
                <a:sym typeface="Times New Roman"/>
              </a:rPr>
              <a:t> (pp. 1-6). IEEE.</a:t>
            </a:r>
            <a:endParaRPr sz="1600" dirty="0">
              <a:latin typeface="Times New Roman" panose="02020603050405020304" pitchFamily="18" charset="0"/>
              <a:cs typeface="Times New Roman" panose="02020603050405020304" pitchFamily="18" charset="0"/>
            </a:endParaRPr>
          </a:p>
          <a:p>
            <a:pPr marL="0" lvl="0" indent="0" algn="just" rtl="0">
              <a:lnSpc>
                <a:spcPct val="150000"/>
              </a:lnSpc>
              <a:spcBef>
                <a:spcPts val="0"/>
              </a:spcBef>
              <a:spcAft>
                <a:spcPts val="0"/>
              </a:spcAft>
              <a:buClr>
                <a:schemeClr val="dk1"/>
              </a:buClr>
              <a:buSzPts val="1500"/>
              <a:buNone/>
            </a:pPr>
            <a:endParaRPr sz="160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0"/>
              </a:spcBef>
              <a:spcAft>
                <a:spcPts val="0"/>
              </a:spcAft>
              <a:buClr>
                <a:srgbClr val="222222"/>
              </a:buClr>
              <a:buSzPts val="1500"/>
              <a:buNone/>
            </a:pP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[4]</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a:cs typeface="Times New Roman" panose="02020603050405020304" pitchFamily="18" charset="0"/>
                <a:sym typeface="Times New Roman"/>
              </a:rPr>
              <a:t>Khedr</a:t>
            </a:r>
            <a:r>
              <a:rPr lang="en-IN" sz="1600" dirty="0">
                <a:latin typeface="Times New Roman" panose="02020603050405020304" pitchFamily="18" charset="0"/>
                <a:ea typeface="Times New Roman"/>
                <a:cs typeface="Times New Roman" panose="02020603050405020304" pitchFamily="18" charset="0"/>
                <a:sym typeface="Times New Roman"/>
              </a:rPr>
              <a:t>, O. S., </a:t>
            </a:r>
            <a:r>
              <a:rPr lang="en-IN" sz="1600" dirty="0" err="1">
                <a:latin typeface="Times New Roman" panose="02020603050405020304" pitchFamily="18" charset="0"/>
                <a:ea typeface="Times New Roman"/>
                <a:cs typeface="Times New Roman" panose="02020603050405020304" pitchFamily="18" charset="0"/>
                <a:sym typeface="Times New Roman"/>
              </a:rPr>
              <a:t>Wahed</a:t>
            </a:r>
            <a:r>
              <a:rPr lang="en-IN" sz="1600" dirty="0">
                <a:latin typeface="Times New Roman" panose="02020603050405020304" pitchFamily="18" charset="0"/>
                <a:ea typeface="Times New Roman"/>
                <a:cs typeface="Times New Roman" panose="02020603050405020304" pitchFamily="18" charset="0"/>
                <a:sym typeface="Times New Roman"/>
              </a:rPr>
              <a:t>, M. E., Al-Attar, A. S. R., &amp; Abdel-</a:t>
            </a:r>
            <a:r>
              <a:rPr lang="en-IN" sz="1600" dirty="0" err="1">
                <a:latin typeface="Times New Roman" panose="02020603050405020304" pitchFamily="18" charset="0"/>
                <a:ea typeface="Times New Roman"/>
                <a:cs typeface="Times New Roman" panose="02020603050405020304" pitchFamily="18" charset="0"/>
                <a:sym typeface="Times New Roman"/>
              </a:rPr>
              <a:t>Rehim</a:t>
            </a:r>
            <a:r>
              <a:rPr lang="en-IN" sz="1600" dirty="0">
                <a:latin typeface="Times New Roman" panose="02020603050405020304" pitchFamily="18" charset="0"/>
                <a:ea typeface="Times New Roman"/>
                <a:cs typeface="Times New Roman" panose="02020603050405020304" pitchFamily="18" charset="0"/>
                <a:sym typeface="Times New Roman"/>
              </a:rPr>
              <a:t>, E. A. (2023). The classification of the bladder cancer based on Vision Transformers (</a:t>
            </a:r>
            <a:r>
              <a:rPr lang="en-IN" sz="1600" dirty="0" err="1">
                <a:latin typeface="Times New Roman" panose="02020603050405020304" pitchFamily="18" charset="0"/>
                <a:ea typeface="Times New Roman"/>
                <a:cs typeface="Times New Roman" panose="02020603050405020304" pitchFamily="18" charset="0"/>
                <a:sym typeface="Times New Roman"/>
              </a:rPr>
              <a:t>ViT</a:t>
            </a:r>
            <a:r>
              <a:rPr lang="en-IN" sz="1600" dirty="0">
                <a:latin typeface="Times New Roman" panose="02020603050405020304" pitchFamily="18" charset="0"/>
                <a:ea typeface="Times New Roman"/>
                <a:cs typeface="Times New Roman" panose="02020603050405020304" pitchFamily="18" charset="0"/>
                <a:sym typeface="Times New Roman"/>
              </a:rPr>
              <a:t>). </a:t>
            </a:r>
            <a:r>
              <a:rPr lang="en-IN" sz="1600" i="1" dirty="0">
                <a:latin typeface="Times New Roman" panose="02020603050405020304" pitchFamily="18" charset="0"/>
                <a:ea typeface="Times New Roman"/>
                <a:cs typeface="Times New Roman" panose="02020603050405020304" pitchFamily="18" charset="0"/>
                <a:sym typeface="Times New Roman"/>
              </a:rPr>
              <a:t>Scientific Reports</a:t>
            </a:r>
            <a:r>
              <a:rPr lang="en-IN" sz="1600" dirty="0">
                <a:latin typeface="Times New Roman" panose="02020603050405020304" pitchFamily="18" charset="0"/>
                <a:ea typeface="Times New Roman"/>
                <a:cs typeface="Times New Roman" panose="02020603050405020304" pitchFamily="18" charset="0"/>
                <a:sym typeface="Times New Roman"/>
              </a:rPr>
              <a:t>, </a:t>
            </a:r>
            <a:r>
              <a:rPr lang="en-IN" sz="1600" i="1" dirty="0">
                <a:latin typeface="Times New Roman" panose="02020603050405020304" pitchFamily="18" charset="0"/>
                <a:ea typeface="Times New Roman"/>
                <a:cs typeface="Times New Roman" panose="02020603050405020304" pitchFamily="18" charset="0"/>
                <a:sym typeface="Times New Roman"/>
              </a:rPr>
              <a:t>13</a:t>
            </a:r>
            <a:r>
              <a:rPr lang="en-IN" sz="1600" dirty="0">
                <a:latin typeface="Times New Roman" panose="02020603050405020304" pitchFamily="18" charset="0"/>
                <a:ea typeface="Times New Roman"/>
                <a:cs typeface="Times New Roman" panose="02020603050405020304" pitchFamily="18" charset="0"/>
                <a:sym typeface="Times New Roman"/>
              </a:rPr>
              <a:t>(1), 20639.</a:t>
            </a:r>
            <a:endParaRPr sz="160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0"/>
              </a:spcBef>
              <a:spcAft>
                <a:spcPts val="0"/>
              </a:spcAft>
              <a:buClr>
                <a:schemeClr val="dk1"/>
              </a:buClr>
              <a:buSzPts val="1500"/>
              <a:buNone/>
            </a:pPr>
            <a:endParaRPr sz="160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0"/>
              </a:spcBef>
              <a:spcAft>
                <a:spcPts val="0"/>
              </a:spcAft>
              <a:buClr>
                <a:srgbClr val="222222"/>
              </a:buClr>
              <a:buSzPts val="1500"/>
              <a:buNone/>
            </a:pP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[5]</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a:cs typeface="Times New Roman" panose="02020603050405020304" pitchFamily="18" charset="0"/>
                <a:sym typeface="Times New Roman"/>
              </a:rPr>
              <a:t>Mokta</a:t>
            </a:r>
            <a:r>
              <a:rPr lang="en-IN" sz="1600" dirty="0">
                <a:latin typeface="Times New Roman" panose="02020603050405020304" pitchFamily="18" charset="0"/>
                <a:ea typeface="Times New Roman"/>
                <a:cs typeface="Times New Roman" panose="02020603050405020304" pitchFamily="18" charset="0"/>
                <a:sym typeface="Times New Roman"/>
              </a:rPr>
              <a:t>, I. J., &amp; </a:t>
            </a:r>
            <a:r>
              <a:rPr lang="en-IN" sz="1600" dirty="0" err="1">
                <a:latin typeface="Times New Roman" panose="02020603050405020304" pitchFamily="18" charset="0"/>
                <a:ea typeface="Times New Roman"/>
                <a:cs typeface="Times New Roman" panose="02020603050405020304" pitchFamily="18" charset="0"/>
                <a:sym typeface="Times New Roman"/>
              </a:rPr>
              <a:t>Soumma</a:t>
            </a:r>
            <a:r>
              <a:rPr lang="en-IN" sz="1600" dirty="0">
                <a:latin typeface="Times New Roman" panose="02020603050405020304" pitchFamily="18" charset="0"/>
                <a:ea typeface="Times New Roman"/>
                <a:cs typeface="Times New Roman" panose="02020603050405020304" pitchFamily="18" charset="0"/>
                <a:sym typeface="Times New Roman"/>
              </a:rPr>
              <a:t>, S. B. (2025, March). An Explainable Artificial Intelligence Model to Detect Breast Cancer. In </a:t>
            </a:r>
            <a:r>
              <a:rPr lang="en-IN" sz="1600" i="1" dirty="0">
                <a:latin typeface="Times New Roman" panose="02020603050405020304" pitchFamily="18" charset="0"/>
                <a:ea typeface="Times New Roman"/>
                <a:cs typeface="Times New Roman" panose="02020603050405020304" pitchFamily="18" charset="0"/>
                <a:sym typeface="Times New Roman"/>
              </a:rPr>
              <a:t>2025 International Conference on Advanced Computing Technologies (</a:t>
            </a:r>
            <a:r>
              <a:rPr lang="en-IN" sz="1600" i="1" dirty="0" err="1">
                <a:latin typeface="Times New Roman" panose="02020603050405020304" pitchFamily="18" charset="0"/>
                <a:ea typeface="Times New Roman"/>
                <a:cs typeface="Times New Roman" panose="02020603050405020304" pitchFamily="18" charset="0"/>
                <a:sym typeface="Times New Roman"/>
              </a:rPr>
              <a:t>ICoACT</a:t>
            </a:r>
            <a:r>
              <a:rPr lang="en-IN" sz="1600" i="1" dirty="0">
                <a:latin typeface="Times New Roman" panose="02020603050405020304" pitchFamily="18" charset="0"/>
                <a:ea typeface="Times New Roman"/>
                <a:cs typeface="Times New Roman" panose="02020603050405020304" pitchFamily="18" charset="0"/>
                <a:sym typeface="Times New Roman"/>
              </a:rPr>
              <a:t>)</a:t>
            </a:r>
            <a:r>
              <a:rPr lang="en-IN" sz="1600" dirty="0">
                <a:latin typeface="Times New Roman" panose="02020603050405020304" pitchFamily="18" charset="0"/>
                <a:ea typeface="Times New Roman"/>
                <a:cs typeface="Times New Roman" panose="02020603050405020304" pitchFamily="18" charset="0"/>
                <a:sym typeface="Times New Roman"/>
              </a:rPr>
              <a:t> (pp. 01-05). IEEE</a:t>
            </a:r>
            <a:r>
              <a:rPr lang="en-IN" sz="1600" dirty="0" smtClean="0">
                <a:latin typeface="Times New Roman" panose="02020603050405020304" pitchFamily="18" charset="0"/>
                <a:ea typeface="Times New Roman"/>
                <a:cs typeface="Times New Roman" panose="02020603050405020304" pitchFamily="18" charset="0"/>
                <a:sym typeface="Times New Roman"/>
              </a:rPr>
              <a:t>.</a:t>
            </a:r>
            <a:endParaRPr sz="1600" dirty="0">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0"/>
              </a:spcBef>
              <a:spcAft>
                <a:spcPts val="0"/>
              </a:spcAft>
              <a:buClr>
                <a:schemeClr val="dk1"/>
              </a:buClr>
              <a:buSzPts val="1500"/>
              <a:buNone/>
            </a:pPr>
            <a:endParaRPr sz="16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0"/>
              </a:spcBef>
              <a:spcAft>
                <a:spcPts val="0"/>
              </a:spcAft>
              <a:buClr>
                <a:schemeClr val="dk1"/>
              </a:buClr>
              <a:buSzPts val="1500"/>
              <a:buNone/>
            </a:pPr>
            <a:endParaRPr sz="1600" b="0" i="0" u="none" strike="noStrike" cap="none"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7" name="Google Shape;237;p24"/>
          <p:cNvSpPr txBox="1">
            <a:spLocks noGrp="1"/>
          </p:cNvSpPr>
          <p:nvPr>
            <p:ph type="body" idx="1"/>
          </p:nvPr>
        </p:nvSpPr>
        <p:spPr>
          <a:xfrm>
            <a:off x="323160" y="101481"/>
            <a:ext cx="11661144" cy="6772326"/>
          </a:xfrm>
          <a:prstGeom prst="rect">
            <a:avLst/>
          </a:prstGeom>
          <a:noFill/>
          <a:ln>
            <a:noFill/>
          </a:ln>
        </p:spPr>
        <p:txBody>
          <a:bodyPr spcFirstLastPara="1" wrap="square" lIns="91425" tIns="45700" rIns="91425" bIns="45700" anchor="ctr" anchorCtr="0">
            <a:spAutoFit/>
          </a:bodyPr>
          <a:lstStyle/>
          <a:p>
            <a:pPr marL="114300" indent="0" algn="just">
              <a:lnSpc>
                <a:spcPct val="150000"/>
              </a:lnSpc>
              <a:buNone/>
            </a:pP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[6] </a:t>
            </a:r>
            <a:r>
              <a:rPr lang="en-IN" sz="1600" dirty="0" err="1">
                <a:solidFill>
                  <a:srgbClr val="222222"/>
                </a:solidFill>
                <a:latin typeface="Times New Roman" panose="02020603050405020304" pitchFamily="18" charset="0"/>
                <a:ea typeface="Times New Roman"/>
                <a:cs typeface="Times New Roman" panose="02020603050405020304" pitchFamily="18" charset="0"/>
                <a:sym typeface="Times New Roman"/>
              </a:rPr>
              <a:t>Abbasniya</a:t>
            </a: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 M. R., </a:t>
            </a:r>
            <a:r>
              <a:rPr lang="en-IN" sz="1600" dirty="0" err="1">
                <a:solidFill>
                  <a:srgbClr val="222222"/>
                </a:solidFill>
                <a:latin typeface="Times New Roman" panose="02020603050405020304" pitchFamily="18" charset="0"/>
                <a:ea typeface="Times New Roman"/>
                <a:cs typeface="Times New Roman" panose="02020603050405020304" pitchFamily="18" charset="0"/>
                <a:sym typeface="Times New Roman"/>
              </a:rPr>
              <a:t>Sheikholeslamzadeh</a:t>
            </a: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 S. A., </a:t>
            </a:r>
            <a:r>
              <a:rPr lang="en-IN" sz="1600" dirty="0" err="1">
                <a:solidFill>
                  <a:srgbClr val="222222"/>
                </a:solidFill>
                <a:latin typeface="Times New Roman" panose="02020603050405020304" pitchFamily="18" charset="0"/>
                <a:ea typeface="Times New Roman"/>
                <a:cs typeface="Times New Roman" panose="02020603050405020304" pitchFamily="18" charset="0"/>
                <a:sym typeface="Times New Roman"/>
              </a:rPr>
              <a:t>Nasiri</a:t>
            </a: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 H., &amp; </a:t>
            </a:r>
            <a:r>
              <a:rPr lang="en-IN" sz="1600" dirty="0" err="1">
                <a:solidFill>
                  <a:srgbClr val="222222"/>
                </a:solidFill>
                <a:latin typeface="Times New Roman" panose="02020603050405020304" pitchFamily="18" charset="0"/>
                <a:ea typeface="Times New Roman"/>
                <a:cs typeface="Times New Roman" panose="02020603050405020304" pitchFamily="18" charset="0"/>
                <a:sym typeface="Times New Roman"/>
              </a:rPr>
              <a:t>Emami</a:t>
            </a: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 S. (2022). Classification of breast </a:t>
            </a:r>
            <a:r>
              <a:rPr lang="en-IN" sz="1600" dirty="0" err="1">
                <a:solidFill>
                  <a:srgbClr val="222222"/>
                </a:solidFill>
                <a:latin typeface="Times New Roman" panose="02020603050405020304" pitchFamily="18" charset="0"/>
                <a:ea typeface="Times New Roman"/>
                <a:cs typeface="Times New Roman" panose="02020603050405020304" pitchFamily="18" charset="0"/>
                <a:sym typeface="Times New Roman"/>
              </a:rPr>
              <a:t>tumors</a:t>
            </a: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 based on histopathology images using deep features and ensemble of gradient boosting methods. </a:t>
            </a:r>
            <a:r>
              <a:rPr lang="en-IN" sz="1600" i="1" dirty="0">
                <a:solidFill>
                  <a:srgbClr val="222222"/>
                </a:solidFill>
                <a:latin typeface="Times New Roman" panose="02020603050405020304" pitchFamily="18" charset="0"/>
                <a:ea typeface="Times New Roman"/>
                <a:cs typeface="Times New Roman" panose="02020603050405020304" pitchFamily="18" charset="0"/>
                <a:sym typeface="Times New Roman"/>
              </a:rPr>
              <a:t>Computers and Electrical Engineering</a:t>
            </a: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 </a:t>
            </a:r>
            <a:r>
              <a:rPr lang="en-IN" sz="1600" i="1" dirty="0">
                <a:solidFill>
                  <a:srgbClr val="222222"/>
                </a:solidFill>
                <a:latin typeface="Times New Roman" panose="02020603050405020304" pitchFamily="18" charset="0"/>
                <a:ea typeface="Times New Roman"/>
                <a:cs typeface="Times New Roman" panose="02020603050405020304" pitchFamily="18" charset="0"/>
                <a:sym typeface="Times New Roman"/>
              </a:rPr>
              <a:t>103</a:t>
            </a:r>
            <a:r>
              <a:rPr lang="en-IN" sz="1600" dirty="0">
                <a:solidFill>
                  <a:srgbClr val="222222"/>
                </a:solidFill>
                <a:latin typeface="Times New Roman" panose="02020603050405020304" pitchFamily="18" charset="0"/>
                <a:ea typeface="Times New Roman"/>
                <a:cs typeface="Times New Roman" panose="02020603050405020304" pitchFamily="18" charset="0"/>
                <a:sym typeface="Times New Roman"/>
              </a:rPr>
              <a:t>, 108382</a:t>
            </a:r>
            <a:r>
              <a:rPr lang="en-IN" sz="1600" dirty="0" smtClean="0">
                <a:solidFill>
                  <a:srgbClr val="222222"/>
                </a:solidFill>
                <a:latin typeface="Times New Roman" panose="02020603050405020304" pitchFamily="18" charset="0"/>
                <a:ea typeface="Times New Roman"/>
                <a:cs typeface="Times New Roman" panose="02020603050405020304" pitchFamily="18" charset="0"/>
                <a:sym typeface="Times New Roman"/>
              </a:rPr>
              <a:t>.</a:t>
            </a:r>
            <a:endParaRPr lang="en-US" sz="1600" dirty="0" smtClean="0">
              <a:latin typeface="Times New Roman" panose="02020603050405020304" pitchFamily="18" charset="0"/>
              <a:cs typeface="Times New Roman" panose="02020603050405020304" pitchFamily="18" charset="0"/>
            </a:endParaRPr>
          </a:p>
          <a:p>
            <a:pPr marL="114300" lvl="0" indent="0" algn="just">
              <a:lnSpc>
                <a:spcPct val="150000"/>
              </a:lnSpc>
              <a:buNone/>
            </a:pPr>
            <a:r>
              <a:rPr lang="en-US" sz="1600" dirty="0" smtClean="0">
                <a:latin typeface="Times New Roman" panose="02020603050405020304" pitchFamily="18" charset="0"/>
                <a:cs typeface="Times New Roman" panose="02020603050405020304" pitchFamily="18" charset="0"/>
              </a:rPr>
              <a:t>[7] </a:t>
            </a:r>
            <a:r>
              <a:rPr lang="en-US" sz="1600" dirty="0" err="1" smtClean="0">
                <a:latin typeface="Times New Roman" panose="02020603050405020304" pitchFamily="18" charset="0"/>
                <a:cs typeface="Times New Roman" panose="02020603050405020304" pitchFamily="18" charset="0"/>
              </a:rPr>
              <a:t>Arravalli</a:t>
            </a:r>
            <a:r>
              <a:rPr lang="en-US" sz="1600" dirty="0">
                <a:latin typeface="Times New Roman" panose="02020603050405020304" pitchFamily="18" charset="0"/>
                <a:cs typeface="Times New Roman" panose="02020603050405020304" pitchFamily="18" charset="0"/>
              </a:rPr>
              <a:t>, T., </a:t>
            </a:r>
            <a:r>
              <a:rPr lang="en-US" sz="1600" dirty="0" err="1">
                <a:latin typeface="Times New Roman" panose="02020603050405020304" pitchFamily="18" charset="0"/>
                <a:cs typeface="Times New Roman" panose="02020603050405020304" pitchFamily="18" charset="0"/>
              </a:rPr>
              <a:t>Chadaga</a:t>
            </a:r>
            <a:r>
              <a:rPr lang="en-US" sz="1600" dirty="0">
                <a:latin typeface="Times New Roman" panose="02020603050405020304" pitchFamily="18" charset="0"/>
                <a:cs typeface="Times New Roman" panose="02020603050405020304" pitchFamily="18" charset="0"/>
              </a:rPr>
              <a:t>, K., </a:t>
            </a:r>
            <a:r>
              <a:rPr lang="en-US" sz="1600" dirty="0" err="1">
                <a:latin typeface="Times New Roman" panose="02020603050405020304" pitchFamily="18" charset="0"/>
                <a:cs typeface="Times New Roman" panose="02020603050405020304" pitchFamily="18" charset="0"/>
              </a:rPr>
              <a:t>Muralikrishna</a:t>
            </a:r>
            <a:r>
              <a:rPr lang="en-US" sz="1600" dirty="0">
                <a:latin typeface="Times New Roman" panose="02020603050405020304" pitchFamily="18" charset="0"/>
                <a:cs typeface="Times New Roman" panose="02020603050405020304" pitchFamily="18" charset="0"/>
              </a:rPr>
              <a:t>, H., </a:t>
            </a:r>
            <a:r>
              <a:rPr lang="en-US" sz="1600" dirty="0" err="1">
                <a:latin typeface="Times New Roman" panose="02020603050405020304" pitchFamily="18" charset="0"/>
                <a:cs typeface="Times New Roman" panose="02020603050405020304" pitchFamily="18" charset="0"/>
              </a:rPr>
              <a:t>Sampathila</a:t>
            </a:r>
            <a:r>
              <a:rPr lang="en-US" sz="1600" dirty="0">
                <a:latin typeface="Times New Roman" panose="02020603050405020304" pitchFamily="18" charset="0"/>
                <a:cs typeface="Times New Roman" panose="02020603050405020304" pitchFamily="18" charset="0"/>
              </a:rPr>
              <a:t>, N., </a:t>
            </a:r>
            <a:r>
              <a:rPr lang="en-US" sz="1600" dirty="0" err="1">
                <a:latin typeface="Times New Roman" panose="02020603050405020304" pitchFamily="18" charset="0"/>
                <a:cs typeface="Times New Roman" panose="02020603050405020304" pitchFamily="18" charset="0"/>
              </a:rPr>
              <a:t>Cenitta</a:t>
            </a:r>
            <a:r>
              <a:rPr lang="en-US" sz="1600" dirty="0">
                <a:latin typeface="Times New Roman" panose="02020603050405020304" pitchFamily="18" charset="0"/>
                <a:cs typeface="Times New Roman" panose="02020603050405020304" pitchFamily="18" charset="0"/>
              </a:rPr>
              <a:t>, D., </a:t>
            </a:r>
            <a:r>
              <a:rPr lang="en-US" sz="1600" dirty="0" err="1">
                <a:latin typeface="Times New Roman" panose="02020603050405020304" pitchFamily="18" charset="0"/>
                <a:cs typeface="Times New Roman" panose="02020603050405020304" pitchFamily="18" charset="0"/>
              </a:rPr>
              <a:t>Chadaga</a:t>
            </a:r>
            <a:r>
              <a:rPr lang="en-US" sz="1600" dirty="0">
                <a:latin typeface="Times New Roman" panose="02020603050405020304" pitchFamily="18" charset="0"/>
                <a:cs typeface="Times New Roman" panose="02020603050405020304" pitchFamily="18" charset="0"/>
              </a:rPr>
              <a:t>, R., &amp; </a:t>
            </a:r>
            <a:r>
              <a:rPr lang="en-US" sz="1600" dirty="0" err="1">
                <a:latin typeface="Times New Roman" panose="02020603050405020304" pitchFamily="18" charset="0"/>
                <a:cs typeface="Times New Roman" panose="02020603050405020304" pitchFamily="18" charset="0"/>
              </a:rPr>
              <a:t>Swathi</a:t>
            </a:r>
            <a:r>
              <a:rPr lang="en-US" sz="1600" dirty="0">
                <a:latin typeface="Times New Roman" panose="02020603050405020304" pitchFamily="18" charset="0"/>
                <a:cs typeface="Times New Roman" panose="02020603050405020304" pitchFamily="18" charset="0"/>
              </a:rPr>
              <a:t>, K. S. (2025). Detection of breast cancer using machine learning and explainable artificial intelligence. </a:t>
            </a:r>
            <a:r>
              <a:rPr lang="en-US" sz="1600" i="1" dirty="0">
                <a:latin typeface="Times New Roman" panose="02020603050405020304" pitchFamily="18" charset="0"/>
                <a:cs typeface="Times New Roman" panose="02020603050405020304" pitchFamily="18" charset="0"/>
              </a:rPr>
              <a:t>Scientific Reports</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15</a:t>
            </a:r>
            <a:r>
              <a:rPr lang="en-US" sz="1600" dirty="0">
                <a:latin typeface="Times New Roman" panose="02020603050405020304" pitchFamily="18" charset="0"/>
                <a:cs typeface="Times New Roman" panose="02020603050405020304" pitchFamily="18" charset="0"/>
              </a:rPr>
              <a:t>(1), 26931.</a:t>
            </a:r>
            <a:endParaRPr lang="en-IN" sz="1600" dirty="0">
              <a:latin typeface="Times New Roman" panose="02020603050405020304" pitchFamily="18" charset="0"/>
              <a:cs typeface="Times New Roman" panose="02020603050405020304" pitchFamily="18" charset="0"/>
            </a:endParaRPr>
          </a:p>
          <a:p>
            <a:pPr marL="114300" lvl="0" indent="0" algn="just">
              <a:lnSpc>
                <a:spcPct val="150000"/>
              </a:lnSpc>
              <a:buNone/>
            </a:pPr>
            <a:r>
              <a:rPr lang="en-US" sz="1600" dirty="0" smtClean="0">
                <a:latin typeface="Times New Roman" panose="02020603050405020304" pitchFamily="18" charset="0"/>
                <a:cs typeface="Times New Roman" panose="02020603050405020304" pitchFamily="18" charset="0"/>
              </a:rPr>
              <a:t>[8] </a:t>
            </a:r>
            <a:r>
              <a:rPr lang="en-US" sz="1600" dirty="0" err="1" smtClean="0">
                <a:latin typeface="Times New Roman" panose="02020603050405020304" pitchFamily="18" charset="0"/>
                <a:cs typeface="Times New Roman" panose="02020603050405020304" pitchFamily="18" charset="0"/>
              </a:rPr>
              <a:t>Yagin</a:t>
            </a:r>
            <a:r>
              <a:rPr lang="en-US" sz="1600" dirty="0">
                <a:latin typeface="Times New Roman" panose="02020603050405020304" pitchFamily="18" charset="0"/>
                <a:cs typeface="Times New Roman" panose="02020603050405020304" pitchFamily="18" charset="0"/>
              </a:rPr>
              <a:t>, B., </a:t>
            </a:r>
            <a:r>
              <a:rPr lang="en-US" sz="1600" dirty="0" err="1">
                <a:latin typeface="Times New Roman" panose="02020603050405020304" pitchFamily="18" charset="0"/>
                <a:cs typeface="Times New Roman" panose="02020603050405020304" pitchFamily="18" charset="0"/>
              </a:rPr>
              <a:t>Yagin</a:t>
            </a:r>
            <a:r>
              <a:rPr lang="en-US" sz="1600" dirty="0">
                <a:latin typeface="Times New Roman" panose="02020603050405020304" pitchFamily="18" charset="0"/>
                <a:cs typeface="Times New Roman" panose="02020603050405020304" pitchFamily="18" charset="0"/>
              </a:rPr>
              <a:t>, F. H., </a:t>
            </a:r>
            <a:r>
              <a:rPr lang="en-US" sz="1600" dirty="0" err="1">
                <a:latin typeface="Times New Roman" panose="02020603050405020304" pitchFamily="18" charset="0"/>
                <a:cs typeface="Times New Roman" panose="02020603050405020304" pitchFamily="18" charset="0"/>
              </a:rPr>
              <a:t>Colak</a:t>
            </a:r>
            <a:r>
              <a:rPr lang="en-US" sz="1600" dirty="0">
                <a:latin typeface="Times New Roman" panose="02020603050405020304" pitchFamily="18" charset="0"/>
                <a:cs typeface="Times New Roman" panose="02020603050405020304" pitchFamily="18" charset="0"/>
              </a:rPr>
              <a:t>, C., </a:t>
            </a:r>
            <a:r>
              <a:rPr lang="en-US" sz="1600" dirty="0" err="1">
                <a:latin typeface="Times New Roman" panose="02020603050405020304" pitchFamily="18" charset="0"/>
                <a:cs typeface="Times New Roman" panose="02020603050405020304" pitchFamily="18" charset="0"/>
              </a:rPr>
              <a:t>Inceoglu</a:t>
            </a:r>
            <a:r>
              <a:rPr lang="en-US" sz="1600" dirty="0">
                <a:latin typeface="Times New Roman" panose="02020603050405020304" pitchFamily="18" charset="0"/>
                <a:cs typeface="Times New Roman" panose="02020603050405020304" pitchFamily="18" charset="0"/>
              </a:rPr>
              <a:t>, F., </a:t>
            </a:r>
            <a:r>
              <a:rPr lang="en-US" sz="1600" dirty="0" err="1">
                <a:latin typeface="Times New Roman" panose="02020603050405020304" pitchFamily="18" charset="0"/>
                <a:cs typeface="Times New Roman" panose="02020603050405020304" pitchFamily="18" charset="0"/>
              </a:rPr>
              <a:t>Kadry</a:t>
            </a:r>
            <a:r>
              <a:rPr lang="en-US" sz="1600" dirty="0">
                <a:latin typeface="Times New Roman" panose="02020603050405020304" pitchFamily="18" charset="0"/>
                <a:cs typeface="Times New Roman" panose="02020603050405020304" pitchFamily="18" charset="0"/>
              </a:rPr>
              <a:t>, S., &amp; Kim, J. (2023). Cancer metastasis prediction and genomic biomarker identification through machine learning and </a:t>
            </a:r>
            <a:r>
              <a:rPr lang="en-US" sz="1600" dirty="0" err="1">
                <a:latin typeface="Times New Roman" panose="02020603050405020304" pitchFamily="18" charset="0"/>
                <a:cs typeface="Times New Roman" panose="02020603050405020304" pitchFamily="18" charset="0"/>
              </a:rPr>
              <a:t>eXplainable</a:t>
            </a:r>
            <a:r>
              <a:rPr lang="en-US" sz="1600" dirty="0">
                <a:latin typeface="Times New Roman" panose="02020603050405020304" pitchFamily="18" charset="0"/>
                <a:cs typeface="Times New Roman" panose="02020603050405020304" pitchFamily="18" charset="0"/>
              </a:rPr>
              <a:t> artificial intelligence in breast cancer research. </a:t>
            </a:r>
            <a:r>
              <a:rPr lang="en-US" sz="1600" i="1" dirty="0">
                <a:latin typeface="Times New Roman" panose="02020603050405020304" pitchFamily="18" charset="0"/>
                <a:cs typeface="Times New Roman" panose="02020603050405020304" pitchFamily="18" charset="0"/>
              </a:rPr>
              <a:t>Diagnostics</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13</a:t>
            </a:r>
            <a:r>
              <a:rPr lang="en-US" sz="1600" dirty="0">
                <a:latin typeface="Times New Roman" panose="02020603050405020304" pitchFamily="18" charset="0"/>
                <a:cs typeface="Times New Roman" panose="02020603050405020304" pitchFamily="18" charset="0"/>
              </a:rPr>
              <a:t>(21), </a:t>
            </a:r>
            <a:r>
              <a:rPr lang="en-US" sz="1600" dirty="0" smtClean="0">
                <a:latin typeface="Times New Roman" panose="02020603050405020304" pitchFamily="18" charset="0"/>
                <a:cs typeface="Times New Roman" panose="02020603050405020304" pitchFamily="18" charset="0"/>
              </a:rPr>
              <a:t>3314.</a:t>
            </a:r>
            <a:endParaRPr lang="en-IN" sz="1600" dirty="0">
              <a:latin typeface="Times New Roman" panose="02020603050405020304" pitchFamily="18" charset="0"/>
              <a:cs typeface="Times New Roman" panose="02020603050405020304" pitchFamily="18" charset="0"/>
            </a:endParaRPr>
          </a:p>
          <a:p>
            <a:pPr marL="114300" lvl="0" indent="0" algn="just">
              <a:lnSpc>
                <a:spcPct val="150000"/>
              </a:lnSpc>
              <a:buNone/>
            </a:pPr>
            <a:r>
              <a:rPr lang="en-IN" sz="1600" dirty="0" smtClean="0">
                <a:latin typeface="Times New Roman" panose="02020603050405020304" pitchFamily="18" charset="0"/>
                <a:cs typeface="Times New Roman" panose="02020603050405020304" pitchFamily="18" charset="0"/>
              </a:rPr>
              <a:t>[9] </a:t>
            </a:r>
            <a:r>
              <a:rPr lang="en-US" sz="1600" dirty="0" err="1" smtClean="0">
                <a:latin typeface="Times New Roman" panose="02020603050405020304" pitchFamily="18" charset="0"/>
                <a:cs typeface="Times New Roman" panose="02020603050405020304" pitchFamily="18" charset="0"/>
              </a:rPr>
              <a:t>Nalela</a:t>
            </a:r>
            <a:r>
              <a:rPr lang="en-US" sz="1600" dirty="0">
                <a:latin typeface="Times New Roman" panose="02020603050405020304" pitchFamily="18" charset="0"/>
                <a:cs typeface="Times New Roman" panose="02020603050405020304" pitchFamily="18" charset="0"/>
              </a:rPr>
              <a:t>, P., Rao, D., &amp; Rao, P. (2025). Predicting Survivability of Cancer Patients with Metastatic Patterns Using Explainable AI. </a:t>
            </a:r>
            <a:r>
              <a:rPr lang="en-US" sz="1600" i="1" dirty="0" err="1">
                <a:latin typeface="Times New Roman" panose="02020603050405020304" pitchFamily="18" charset="0"/>
                <a:cs typeface="Times New Roman" panose="02020603050405020304" pitchFamily="18" charset="0"/>
              </a:rPr>
              <a:t>arXiv</a:t>
            </a:r>
            <a:r>
              <a:rPr lang="en-US" sz="1600" i="1" dirty="0">
                <a:latin typeface="Times New Roman" panose="02020603050405020304" pitchFamily="18" charset="0"/>
                <a:cs typeface="Times New Roman" panose="02020603050405020304" pitchFamily="18" charset="0"/>
              </a:rPr>
              <a:t> preprint arXiv:2504.06306</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114300" lvl="0" indent="0" algn="just">
              <a:lnSpc>
                <a:spcPct val="150000"/>
              </a:lnSpc>
              <a:buNone/>
            </a:pPr>
            <a:r>
              <a:rPr lang="en-US" sz="1600" dirty="0" smtClean="0">
                <a:latin typeface="Times New Roman" panose="02020603050405020304" pitchFamily="18" charset="0"/>
                <a:cs typeface="Times New Roman" panose="02020603050405020304" pitchFamily="18" charset="0"/>
              </a:rPr>
              <a:t>[10] </a:t>
            </a:r>
            <a:r>
              <a:rPr lang="en-US" sz="1600" dirty="0" err="1" smtClean="0">
                <a:latin typeface="Times New Roman" panose="02020603050405020304" pitchFamily="18" charset="0"/>
                <a:cs typeface="Times New Roman" panose="02020603050405020304" pitchFamily="18" charset="0"/>
              </a:rPr>
              <a:t>Štifanić</a:t>
            </a:r>
            <a:r>
              <a:rPr lang="en-US" sz="1600" dirty="0">
                <a:latin typeface="Times New Roman" panose="02020603050405020304" pitchFamily="18" charset="0"/>
                <a:cs typeface="Times New Roman" panose="02020603050405020304" pitchFamily="18" charset="0"/>
              </a:rPr>
              <a:t>, J., </a:t>
            </a:r>
            <a:r>
              <a:rPr lang="en-US" sz="1600" dirty="0" err="1">
                <a:latin typeface="Times New Roman" panose="02020603050405020304" pitchFamily="18" charset="0"/>
                <a:cs typeface="Times New Roman" panose="02020603050405020304" pitchFamily="18" charset="0"/>
              </a:rPr>
              <a:t>Štifanić</a:t>
            </a:r>
            <a:r>
              <a:rPr lang="en-US" sz="1600" dirty="0">
                <a:latin typeface="Times New Roman" panose="02020603050405020304" pitchFamily="18" charset="0"/>
                <a:cs typeface="Times New Roman" panose="02020603050405020304" pitchFamily="18" charset="0"/>
              </a:rPr>
              <a:t>, D., </a:t>
            </a:r>
            <a:r>
              <a:rPr lang="en-US" sz="1600" dirty="0" err="1">
                <a:latin typeface="Times New Roman" panose="02020603050405020304" pitchFamily="18" charset="0"/>
                <a:cs typeface="Times New Roman" panose="02020603050405020304" pitchFamily="18" charset="0"/>
              </a:rPr>
              <a:t>Anđelić</a:t>
            </a:r>
            <a:r>
              <a:rPr lang="en-US" sz="1600" dirty="0">
                <a:latin typeface="Times New Roman" panose="02020603050405020304" pitchFamily="18" charset="0"/>
                <a:cs typeface="Times New Roman" panose="02020603050405020304" pitchFamily="18" charset="0"/>
              </a:rPr>
              <a:t>, N., &amp; Car, Z. (2025). Explainable AI for oral cancer diagnosis: Multiclass classification of histopathology images and Grad-CAM visualization. </a:t>
            </a:r>
            <a:r>
              <a:rPr lang="en-US" sz="1600" i="1" dirty="0">
                <a:latin typeface="Times New Roman" panose="02020603050405020304" pitchFamily="18" charset="0"/>
                <a:cs typeface="Times New Roman" panose="02020603050405020304" pitchFamily="18" charset="0"/>
              </a:rPr>
              <a:t>Biology</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14</a:t>
            </a:r>
            <a:r>
              <a:rPr lang="en-US" sz="1600" dirty="0">
                <a:latin typeface="Times New Roman" panose="02020603050405020304" pitchFamily="18" charset="0"/>
                <a:cs typeface="Times New Roman" panose="02020603050405020304" pitchFamily="18" charset="0"/>
              </a:rPr>
              <a:t>(8), 909.</a:t>
            </a:r>
            <a:endParaRPr lang="en-IN" sz="1600" dirty="0">
              <a:latin typeface="Times New Roman" panose="02020603050405020304" pitchFamily="18" charset="0"/>
              <a:cs typeface="Times New Roman" panose="02020603050405020304" pitchFamily="18" charset="0"/>
            </a:endParaRPr>
          </a:p>
          <a:p>
            <a:pPr marL="114300" lvl="0" indent="0" algn="just">
              <a:lnSpc>
                <a:spcPct val="150000"/>
              </a:lnSpc>
              <a:buNone/>
            </a:pPr>
            <a:r>
              <a:rPr lang="en-US" sz="1600" dirty="0" smtClean="0">
                <a:latin typeface="Times New Roman" panose="02020603050405020304" pitchFamily="18" charset="0"/>
                <a:cs typeface="Times New Roman" panose="02020603050405020304" pitchFamily="18" charset="0"/>
              </a:rPr>
              <a:t>[11] </a:t>
            </a:r>
            <a:r>
              <a:rPr lang="en-US" sz="1600" dirty="0" err="1" smtClean="0">
                <a:latin typeface="Times New Roman" panose="02020603050405020304" pitchFamily="18" charset="0"/>
                <a:cs typeface="Times New Roman" panose="02020603050405020304" pitchFamily="18" charset="0"/>
              </a:rPr>
              <a:t>Springenberg</a:t>
            </a:r>
            <a:r>
              <a:rPr lang="en-US" sz="1600" dirty="0">
                <a:latin typeface="Times New Roman" panose="02020603050405020304" pitchFamily="18" charset="0"/>
                <a:cs typeface="Times New Roman" panose="02020603050405020304" pitchFamily="18" charset="0"/>
              </a:rPr>
              <a:t>, M., </a:t>
            </a:r>
            <a:r>
              <a:rPr lang="en-US" sz="1600" dirty="0" err="1">
                <a:latin typeface="Times New Roman" panose="02020603050405020304" pitchFamily="18" charset="0"/>
                <a:cs typeface="Times New Roman" panose="02020603050405020304" pitchFamily="18" charset="0"/>
              </a:rPr>
              <a:t>Frommholz</a:t>
            </a:r>
            <a:r>
              <a:rPr lang="en-US" sz="1600" dirty="0">
                <a:latin typeface="Times New Roman" panose="02020603050405020304" pitchFamily="18" charset="0"/>
                <a:cs typeface="Times New Roman" panose="02020603050405020304" pitchFamily="18" charset="0"/>
              </a:rPr>
              <a:t>, A., Wenzel, M., </a:t>
            </a:r>
            <a:r>
              <a:rPr lang="en-US" sz="1600" dirty="0" err="1">
                <a:latin typeface="Times New Roman" panose="02020603050405020304" pitchFamily="18" charset="0"/>
                <a:cs typeface="Times New Roman" panose="02020603050405020304" pitchFamily="18" charset="0"/>
              </a:rPr>
              <a:t>Weicken</a:t>
            </a:r>
            <a:r>
              <a:rPr lang="en-US" sz="1600" dirty="0">
                <a:latin typeface="Times New Roman" panose="02020603050405020304" pitchFamily="18" charset="0"/>
                <a:cs typeface="Times New Roman" panose="02020603050405020304" pitchFamily="18" charset="0"/>
              </a:rPr>
              <a:t>, E., Ma, J., &amp; </a:t>
            </a:r>
            <a:r>
              <a:rPr lang="en-US" sz="1600" dirty="0" err="1">
                <a:latin typeface="Times New Roman" panose="02020603050405020304" pitchFamily="18" charset="0"/>
                <a:cs typeface="Times New Roman" panose="02020603050405020304" pitchFamily="18" charset="0"/>
              </a:rPr>
              <a:t>Strodthoff</a:t>
            </a:r>
            <a:r>
              <a:rPr lang="en-US" sz="1600" dirty="0">
                <a:latin typeface="Times New Roman" panose="02020603050405020304" pitchFamily="18" charset="0"/>
                <a:cs typeface="Times New Roman" panose="02020603050405020304" pitchFamily="18" charset="0"/>
              </a:rPr>
              <a:t>, N. (2023). From modern CNNs to vision transformers: Assessing the performance, robustness, and classification strategies of deep learning models in histopathology. </a:t>
            </a:r>
            <a:r>
              <a:rPr lang="en-US" sz="1600" i="1" dirty="0">
                <a:latin typeface="Times New Roman" panose="02020603050405020304" pitchFamily="18" charset="0"/>
                <a:cs typeface="Times New Roman" panose="02020603050405020304" pitchFamily="18" charset="0"/>
              </a:rPr>
              <a:t>Medical image analysis</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87</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102809.</a:t>
            </a:r>
            <a:endParaRPr lang="en-IN" sz="1600" dirty="0">
              <a:latin typeface="Times New Roman" panose="02020603050405020304" pitchFamily="18" charset="0"/>
              <a:cs typeface="Times New Roman" panose="02020603050405020304" pitchFamily="18" charset="0"/>
            </a:endParaRPr>
          </a:p>
          <a:p>
            <a:pPr marL="114300" lvl="0" indent="0" algn="just">
              <a:lnSpc>
                <a:spcPct val="150000"/>
              </a:lnSpc>
              <a:buNone/>
            </a:pPr>
            <a:r>
              <a:rPr lang="en-US" sz="1600" dirty="0" smtClean="0">
                <a:latin typeface="Times New Roman" panose="02020603050405020304" pitchFamily="18" charset="0"/>
                <a:cs typeface="Times New Roman" panose="02020603050405020304" pitchFamily="18" charset="0"/>
              </a:rPr>
              <a:t>[12] </a:t>
            </a:r>
            <a:r>
              <a:rPr lang="en-US" sz="1600" dirty="0" err="1" smtClean="0">
                <a:latin typeface="Times New Roman" panose="02020603050405020304" pitchFamily="18" charset="0"/>
                <a:cs typeface="Times New Roman" panose="02020603050405020304" pitchFamily="18" charset="0"/>
              </a:rPr>
              <a:t>Durgam</a:t>
            </a:r>
            <a:r>
              <a:rPr lang="en-US" sz="1600" dirty="0">
                <a:latin typeface="Times New Roman" panose="02020603050405020304" pitchFamily="18" charset="0"/>
                <a:cs typeface="Times New Roman" panose="02020603050405020304" pitchFamily="18" charset="0"/>
              </a:rPr>
              <a:t>, R., </a:t>
            </a:r>
            <a:r>
              <a:rPr lang="en-US" sz="1600" dirty="0" err="1">
                <a:latin typeface="Times New Roman" panose="02020603050405020304" pitchFamily="18" charset="0"/>
                <a:cs typeface="Times New Roman" panose="02020603050405020304" pitchFamily="18" charset="0"/>
              </a:rPr>
              <a:t>Panduri</a:t>
            </a:r>
            <a:r>
              <a:rPr lang="en-US" sz="1600" dirty="0">
                <a:latin typeface="Times New Roman" panose="02020603050405020304" pitchFamily="18" charset="0"/>
                <a:cs typeface="Times New Roman" panose="02020603050405020304" pitchFamily="18" charset="0"/>
              </a:rPr>
              <a:t>, B., </a:t>
            </a:r>
            <a:r>
              <a:rPr lang="en-US" sz="1600" dirty="0" err="1">
                <a:latin typeface="Times New Roman" panose="02020603050405020304" pitchFamily="18" charset="0"/>
                <a:cs typeface="Times New Roman" panose="02020603050405020304" pitchFamily="18" charset="0"/>
              </a:rPr>
              <a:t>Balaji</a:t>
            </a:r>
            <a:r>
              <a:rPr lang="en-US" sz="1600" dirty="0">
                <a:latin typeface="Times New Roman" panose="02020603050405020304" pitchFamily="18" charset="0"/>
                <a:cs typeface="Times New Roman" panose="02020603050405020304" pitchFamily="18" charset="0"/>
              </a:rPr>
              <a:t>, V., </a:t>
            </a:r>
            <a:r>
              <a:rPr lang="en-US" sz="1600" dirty="0" err="1">
                <a:latin typeface="Times New Roman" panose="02020603050405020304" pitchFamily="18" charset="0"/>
                <a:cs typeface="Times New Roman" panose="02020603050405020304" pitchFamily="18" charset="0"/>
              </a:rPr>
              <a:t>Khadidos</a:t>
            </a:r>
            <a:r>
              <a:rPr lang="en-US" sz="1600" dirty="0">
                <a:latin typeface="Times New Roman" panose="02020603050405020304" pitchFamily="18" charset="0"/>
                <a:cs typeface="Times New Roman" panose="02020603050405020304" pitchFamily="18" charset="0"/>
              </a:rPr>
              <a:t>, A. O., </a:t>
            </a:r>
            <a:r>
              <a:rPr lang="en-US" sz="1600" dirty="0" err="1">
                <a:latin typeface="Times New Roman" panose="02020603050405020304" pitchFamily="18" charset="0"/>
                <a:cs typeface="Times New Roman" panose="02020603050405020304" pitchFamily="18" charset="0"/>
              </a:rPr>
              <a:t>Khadidos</a:t>
            </a:r>
            <a:r>
              <a:rPr lang="en-US" sz="1600" dirty="0">
                <a:latin typeface="Times New Roman" panose="02020603050405020304" pitchFamily="18" charset="0"/>
                <a:cs typeface="Times New Roman" panose="02020603050405020304" pitchFamily="18" charset="0"/>
              </a:rPr>
              <a:t>, A. O., &amp; </a:t>
            </a:r>
            <a:r>
              <a:rPr lang="en-US" sz="1600" dirty="0" err="1" smtClean="0">
                <a:latin typeface="Times New Roman" panose="02020603050405020304" pitchFamily="18" charset="0"/>
                <a:cs typeface="Times New Roman" panose="02020603050405020304" pitchFamily="18" charset="0"/>
              </a:rPr>
              <a:t>Selvarajan</a:t>
            </a:r>
            <a:r>
              <a:rPr lang="en-US" sz="1600" dirty="0" smtClean="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S</a:t>
            </a:r>
            <a:r>
              <a:rPr lang="en-US" sz="1600" dirty="0">
                <a:latin typeface="Times New Roman" panose="02020603050405020304" pitchFamily="18" charset="0"/>
                <a:cs typeface="Times New Roman" panose="02020603050405020304" pitchFamily="18" charset="0"/>
              </a:rPr>
              <a:t>. (2025). Enhancing lung cancer detection through integrated deep learning and transformer models. </a:t>
            </a:r>
            <a:r>
              <a:rPr lang="en-US" sz="1600" i="1" dirty="0">
                <a:latin typeface="Times New Roman" panose="02020603050405020304" pitchFamily="18" charset="0"/>
                <a:cs typeface="Times New Roman" panose="02020603050405020304" pitchFamily="18" charset="0"/>
              </a:rPr>
              <a:t>Scientific Reports</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15</a:t>
            </a:r>
            <a:r>
              <a:rPr lang="en-US" sz="1600" dirty="0">
                <a:latin typeface="Times New Roman" panose="02020603050405020304" pitchFamily="18" charset="0"/>
                <a:cs typeface="Times New Roman" panose="02020603050405020304" pitchFamily="18" charset="0"/>
              </a:rPr>
              <a:t>(1), </a:t>
            </a:r>
            <a:r>
              <a:rPr lang="en-US" sz="1600" dirty="0" smtClean="0">
                <a:latin typeface="Times New Roman" panose="02020603050405020304" pitchFamily="18" charset="0"/>
                <a:cs typeface="Times New Roman" panose="02020603050405020304" pitchFamily="18" charset="0"/>
              </a:rPr>
              <a:t>15614.</a:t>
            </a:r>
            <a:endParaRPr lang="en-IN" sz="1600" dirty="0">
              <a:latin typeface="Times New Roman" panose="02020603050405020304" pitchFamily="18" charset="0"/>
              <a:cs typeface="Times New Roman" panose="02020603050405020304" pitchFamily="18" charset="0"/>
            </a:endParaRPr>
          </a:p>
          <a:p>
            <a:pPr marL="0" lvl="0" indent="0" algn="just" rtl="0">
              <a:lnSpc>
                <a:spcPct val="150000"/>
              </a:lnSpc>
              <a:spcBef>
                <a:spcPts val="0"/>
              </a:spcBef>
              <a:spcAft>
                <a:spcPts val="0"/>
              </a:spcAft>
              <a:buClr>
                <a:schemeClr val="dk1"/>
              </a:buClr>
              <a:buSzPts val="1500"/>
              <a:buNone/>
            </a:pPr>
            <a:endParaRPr sz="1050" b="0" i="0" u="none" strike="noStrike" cap="none"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7360348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14300" indent="0"/>
            <a:r>
              <a:rPr lang="en-IN" sz="3200" b="1" dirty="0" smtClean="0">
                <a:latin typeface="Times New Roman" panose="02020603050405020304" pitchFamily="18" charset="0"/>
                <a:cs typeface="Times New Roman" panose="02020603050405020304" pitchFamily="18" charset="0"/>
              </a:rPr>
              <a:t>EFFICIENTNET</a:t>
            </a:r>
            <a:endParaRPr lang="en-IN" sz="3200" b="1" dirty="0">
              <a:latin typeface="Times New Roman" panose="02020603050405020304" pitchFamily="18" charset="0"/>
              <a:cs typeface="Times New Roman" panose="02020603050405020304" pitchFamily="18" charset="0"/>
            </a:endParaRPr>
          </a:p>
        </p:txBody>
      </p:sp>
      <p:pic>
        <p:nvPicPr>
          <p:cNvPr id="1030" name="Picture 6" descr="Architecture of EfficientNet-B0 with MBConv as Basic building blocks.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0899" y="1756569"/>
            <a:ext cx="8437328" cy="3944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94301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latin typeface="Times New Roman" panose="02020603050405020304" pitchFamily="18" charset="0"/>
                <a:cs typeface="Times New Roman" panose="02020603050405020304" pitchFamily="18" charset="0"/>
              </a:rPr>
              <a:t>DENSENET121</a:t>
            </a:r>
            <a:endParaRPr lang="en-IN" sz="4000" dirty="0"/>
          </a:p>
        </p:txBody>
      </p:sp>
      <p:pic>
        <p:nvPicPr>
          <p:cNvPr id="2054" name="Picture 6" descr="6: A schematic illustration of the DenseNet-121 architecture [82].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054" y="2164634"/>
            <a:ext cx="9682658" cy="2882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093544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499</TotalTime>
  <Words>2494</Words>
  <Application>Microsoft Office PowerPoint</Application>
  <PresentationFormat>Widescreen</PresentationFormat>
  <Paragraphs>321</Paragraphs>
  <Slides>23</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Times New Roman</vt:lpstr>
      <vt:lpstr>Tahoma</vt:lpstr>
      <vt:lpstr>Courier New</vt:lpstr>
      <vt:lpstr>Arial</vt:lpstr>
      <vt:lpstr>Calibri</vt:lpstr>
      <vt:lpstr>Office Theme</vt:lpstr>
      <vt:lpstr>PowerPoint Presentation</vt:lpstr>
      <vt:lpstr>AGENDA</vt:lpstr>
      <vt:lpstr>INTRODUCTION</vt:lpstr>
      <vt:lpstr>PROBLEM STATEMENT</vt:lpstr>
      <vt:lpstr>OBJECTIVES</vt:lpstr>
      <vt:lpstr>LITERATURE REVIEW</vt:lpstr>
      <vt:lpstr>LITERATURE SUMMARY</vt:lpstr>
      <vt:lpstr>DATASETS AND REQUIREMENTS</vt:lpstr>
      <vt:lpstr>ALGORITHMS USED</vt:lpstr>
      <vt:lpstr>PowerPoint Presentation</vt:lpstr>
      <vt:lpstr>PowerPoint Presentation</vt:lpstr>
      <vt:lpstr>ARCHITECTURE DIAGRAM</vt:lpstr>
      <vt:lpstr>IMPLEMENTATION STEPS AND EXECUTION</vt:lpstr>
      <vt:lpstr>EXECUTION &amp; EVALUATION Models are trained over multiple epochs with monitoring of accuracy and loss  Performance is validated using the validation dataset  Final evaluation is done on the test dataset  Evaluation metrics include:   Accuracy    Precision, Recall, F1-score    AUC (Area Under Curve)  Results are visualized using accuracy and loss graphs  Model predictions are analyzed to compare performance of EfficientNet and DenseNet </vt:lpstr>
      <vt:lpstr>RESULTS </vt:lpstr>
      <vt:lpstr>PowerPoint Presentation</vt:lpstr>
      <vt:lpstr>PowerPoint Presentation</vt:lpstr>
      <vt:lpstr>PowerPoint Presentation</vt:lpstr>
      <vt:lpstr>CONCLUSION &amp; FUTURE WORK </vt:lpstr>
      <vt:lpstr>REFERENCES</vt:lpstr>
      <vt:lpstr>PowerPoint Presentation</vt:lpstr>
      <vt:lpstr>EFFICIENTNET</vt:lpstr>
      <vt:lpstr>DENSENET121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Mahathi mahi</dc:creator>
  <cp:lastModifiedBy>Mahathi mahi</cp:lastModifiedBy>
  <cp:revision>86</cp:revision>
  <dcterms:created xsi:type="dcterms:W3CDTF">2026-02-23T15:58:50Z</dcterms:created>
  <dcterms:modified xsi:type="dcterms:W3CDTF">2026-04-20T01:05:37Z</dcterms:modified>
</cp:coreProperties>
</file>